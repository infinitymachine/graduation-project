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7"/>
    <p:sldId id="267" r:id="rId6"/>
    <p:sldId id="268" r:id="rId5"/>
    <p:sldId id="269" r:id="rId4"/>
    <p:sldId id="270" r:id="rId3"/>
    <p:sldId id="271" r:id="rId2"/>
    <p:sldId id="272" r:id="rId24"/>
    <p:sldId id="273" r:id="rId25"/>
    <p:sldId id="274" r:id="rId26"/>
    <p:sldId id="275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996C04FB-B610-42E7-9D3D-A4BAD372767A}">
          <p14:sldIdLst>
            <p14:sldId id="270"/>
            <p14:sldId id="271"/>
            <p14:sldId id="302"/>
            <p14:sldId id="327"/>
            <p14:sldId id="328"/>
            <p14:sldId id="329"/>
            <p14:sldId id="331"/>
            <p14:sldId id="341"/>
            <p14:sldId id="335"/>
            <p14:sldId id="342"/>
            <p14:sldId id="343"/>
            <p14:sldId id="344"/>
            <p14:sldId id="345"/>
            <p14:sldId id="340"/>
            <p14:sldId id="346"/>
            <p14:sldId id="32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28383"/>
    <a:srgbClr val="C0C0C0"/>
    <a:srgbClr val="A71E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480" autoAdjust="0"/>
    <p:restoredTop sz="86871" autoAdjust="0"/>
  </p:normalViewPr>
  <p:slideViewPr>
    <p:cSldViewPr snapToGrid="0" snapToObjects="1">
      <p:cViewPr varScale="1">
        <p:scale>
          <a:sx n="73" d="100"/>
          <a:sy n="73" d="100"/>
        </p:scale>
        <p:origin x="48" y="1476"/>
      </p:cViewPr>
      <p:guideLst/>
    </p:cSldViewPr>
  </p:slideViewPr>
  <p:outlineViewPr>
    <p:cViewPr>
      <p:scale>
        <a:sx n="33" d="100"/>
        <a:sy n="33" d="100"/>
      </p:scale>
      <p:origin x="-40" y="-2120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74" d="100"/>
          <a:sy n="74" d="100"/>
        </p:scale>
        <p:origin x="3480" y="6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6.xml"/><Relationship Id="rId3" Type="http://schemas.openxmlformats.org/officeDocument/2006/relationships/slide" Target="slides/slide15.xml"/><Relationship Id="rId4" Type="http://schemas.openxmlformats.org/officeDocument/2006/relationships/slide" Target="slides/slide14.xml"/><Relationship Id="rId5" Type="http://schemas.openxmlformats.org/officeDocument/2006/relationships/slide" Target="slides/slide13.xml"/><Relationship Id="rId6" Type="http://schemas.openxmlformats.org/officeDocument/2006/relationships/slide" Target="slides/slide12.xml"/><Relationship Id="rId7" Type="http://schemas.openxmlformats.org/officeDocument/2006/relationships/slide" Target="slides/slide1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06CF33-8FBF-4B4C-A62C-C7FCEE2F205E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B81D4-C81F-2846-A8B2-30C4B23FE64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D938DB-7AC2-8B49-96CB-F4713922A74B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18A80-324C-A94A-A288-E8B5ECC90687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内容占位符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914400" y="5301208"/>
            <a:ext cx="10363200" cy="69763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fld id="{935F4044-894B-B74C-BA70-A76DFBF02618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8" name="组合 7"/>
          <p:cNvGrpSpPr/>
          <p:nvPr/>
        </p:nvGrpSpPr>
        <p:grpSpPr>
          <a:xfrm>
            <a:off x="4532742" y="546392"/>
            <a:ext cx="3126515" cy="923330"/>
            <a:chOff x="159979" y="292937"/>
            <a:chExt cx="1955144" cy="577398"/>
          </a:xfrm>
        </p:grpSpPr>
        <p:pic>
          <p:nvPicPr>
            <p:cNvPr id="9" name="深圳大学"/>
            <p:cNvPicPr>
              <a:picLocks noChangeAspect="1"/>
            </p:cNvPicPr>
            <p:nvPr/>
          </p:nvPicPr>
          <p:blipFill>
            <a:blip r:embed="rId3" cstate="email"/>
            <a:stretch>
              <a:fillRect/>
            </a:stretch>
          </p:blipFill>
          <p:spPr>
            <a:xfrm>
              <a:off x="860396" y="292937"/>
              <a:ext cx="1254727" cy="577398"/>
            </a:xfrm>
            <a:prstGeom prst="rect">
              <a:avLst/>
            </a:prstGeom>
            <a:solidFill>
              <a:srgbClr val="950045"/>
            </a:solidFill>
            <a:effectLst>
              <a:softEdge rad="0"/>
            </a:effectLst>
          </p:spPr>
        </p:pic>
        <p:grpSp>
          <p:nvGrpSpPr>
            <p:cNvPr id="10" name="组合 9"/>
            <p:cNvGrpSpPr/>
            <p:nvPr/>
          </p:nvGrpSpPr>
          <p:grpSpPr>
            <a:xfrm>
              <a:off x="159979" y="299569"/>
              <a:ext cx="545640" cy="545388"/>
              <a:chOff x="1947444" y="-250327"/>
              <a:chExt cx="5162972" cy="5160570"/>
            </a:xfrm>
            <a:solidFill>
              <a:sysClr val="window" lastClr="FFFFFF"/>
            </a:solidFill>
          </p:grpSpPr>
          <p:sp>
            <p:nvSpPr>
              <p:cNvPr id="11" name="Freeform 5"/>
              <p:cNvSpPr/>
              <p:nvPr/>
            </p:nvSpPr>
            <p:spPr bwMode="auto">
              <a:xfrm>
                <a:off x="4714715" y="29267"/>
                <a:ext cx="449059" cy="487480"/>
              </a:xfrm>
              <a:custGeom>
                <a:avLst/>
                <a:gdLst>
                  <a:gd name="T0" fmla="*/ 59 w 79"/>
                  <a:gd name="T1" fmla="*/ 63 h 86"/>
                  <a:gd name="T2" fmla="*/ 28 w 79"/>
                  <a:gd name="T3" fmla="*/ 84 h 86"/>
                  <a:gd name="T4" fmla="*/ 2 w 79"/>
                  <a:gd name="T5" fmla="*/ 60 h 86"/>
                  <a:gd name="T6" fmla="*/ 10 w 79"/>
                  <a:gd name="T7" fmla="*/ 11 h 86"/>
                  <a:gd name="T8" fmla="*/ 1 w 79"/>
                  <a:gd name="T9" fmla="*/ 2 h 86"/>
                  <a:gd name="T10" fmla="*/ 4 w 79"/>
                  <a:gd name="T11" fmla="*/ 0 h 86"/>
                  <a:gd name="T12" fmla="*/ 19 w 79"/>
                  <a:gd name="T13" fmla="*/ 3 h 86"/>
                  <a:gd name="T14" fmla="*/ 35 w 79"/>
                  <a:gd name="T15" fmla="*/ 5 h 86"/>
                  <a:gd name="T16" fmla="*/ 37 w 79"/>
                  <a:gd name="T17" fmla="*/ 7 h 86"/>
                  <a:gd name="T18" fmla="*/ 26 w 79"/>
                  <a:gd name="T19" fmla="*/ 13 h 86"/>
                  <a:gd name="T20" fmla="*/ 19 w 79"/>
                  <a:gd name="T21" fmla="*/ 62 h 86"/>
                  <a:gd name="T22" fmla="*/ 33 w 79"/>
                  <a:gd name="T23" fmla="*/ 81 h 86"/>
                  <a:gd name="T24" fmla="*/ 56 w 79"/>
                  <a:gd name="T25" fmla="*/ 63 h 86"/>
                  <a:gd name="T26" fmla="*/ 61 w 79"/>
                  <a:gd name="T27" fmla="*/ 30 h 86"/>
                  <a:gd name="T28" fmla="*/ 55 w 79"/>
                  <a:gd name="T29" fmla="*/ 11 h 86"/>
                  <a:gd name="T30" fmla="*/ 52 w 79"/>
                  <a:gd name="T31" fmla="*/ 9 h 86"/>
                  <a:gd name="T32" fmla="*/ 54 w 79"/>
                  <a:gd name="T33" fmla="*/ 8 h 86"/>
                  <a:gd name="T34" fmla="*/ 66 w 79"/>
                  <a:gd name="T35" fmla="*/ 10 h 86"/>
                  <a:gd name="T36" fmla="*/ 77 w 79"/>
                  <a:gd name="T37" fmla="*/ 12 h 86"/>
                  <a:gd name="T38" fmla="*/ 79 w 79"/>
                  <a:gd name="T39" fmla="*/ 13 h 86"/>
                  <a:gd name="T40" fmla="*/ 75 w 79"/>
                  <a:gd name="T41" fmla="*/ 15 h 86"/>
                  <a:gd name="T42" fmla="*/ 64 w 79"/>
                  <a:gd name="T43" fmla="*/ 30 h 86"/>
                  <a:gd name="T44" fmla="*/ 59 w 79"/>
                  <a:gd name="T45" fmla="*/ 63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79" h="86">
                    <a:moveTo>
                      <a:pt x="59" y="63"/>
                    </a:moveTo>
                    <a:cubicBezTo>
                      <a:pt x="56" y="80"/>
                      <a:pt x="43" y="86"/>
                      <a:pt x="28" y="84"/>
                    </a:cubicBezTo>
                    <a:cubicBezTo>
                      <a:pt x="10" y="81"/>
                      <a:pt x="0" y="71"/>
                      <a:pt x="2" y="60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1" y="2"/>
                      <a:pt x="1" y="5"/>
                      <a:pt x="1" y="2"/>
                    </a:cubicBezTo>
                    <a:cubicBezTo>
                      <a:pt x="2" y="1"/>
                      <a:pt x="2" y="0"/>
                      <a:pt x="4" y="0"/>
                    </a:cubicBezTo>
                    <a:cubicBezTo>
                      <a:pt x="10" y="1"/>
                      <a:pt x="15" y="2"/>
                      <a:pt x="19" y="3"/>
                    </a:cubicBezTo>
                    <a:cubicBezTo>
                      <a:pt x="24" y="4"/>
                      <a:pt x="29" y="4"/>
                      <a:pt x="35" y="5"/>
                    </a:cubicBezTo>
                    <a:cubicBezTo>
                      <a:pt x="37" y="6"/>
                      <a:pt x="37" y="6"/>
                      <a:pt x="37" y="7"/>
                    </a:cubicBezTo>
                    <a:cubicBezTo>
                      <a:pt x="37" y="10"/>
                      <a:pt x="28" y="4"/>
                      <a:pt x="26" y="13"/>
                    </a:cubicBezTo>
                    <a:cubicBezTo>
                      <a:pt x="19" y="62"/>
                      <a:pt x="19" y="62"/>
                      <a:pt x="19" y="62"/>
                    </a:cubicBezTo>
                    <a:cubicBezTo>
                      <a:pt x="17" y="71"/>
                      <a:pt x="24" y="80"/>
                      <a:pt x="33" y="81"/>
                    </a:cubicBezTo>
                    <a:cubicBezTo>
                      <a:pt x="45" y="83"/>
                      <a:pt x="54" y="77"/>
                      <a:pt x="56" y="63"/>
                    </a:cubicBezTo>
                    <a:cubicBezTo>
                      <a:pt x="61" y="30"/>
                      <a:pt x="61" y="30"/>
                      <a:pt x="61" y="30"/>
                    </a:cubicBezTo>
                    <a:cubicBezTo>
                      <a:pt x="63" y="20"/>
                      <a:pt x="60" y="14"/>
                      <a:pt x="55" y="11"/>
                    </a:cubicBezTo>
                    <a:cubicBezTo>
                      <a:pt x="54" y="11"/>
                      <a:pt x="52" y="10"/>
                      <a:pt x="52" y="9"/>
                    </a:cubicBezTo>
                    <a:cubicBezTo>
                      <a:pt x="52" y="9"/>
                      <a:pt x="52" y="8"/>
                      <a:pt x="54" y="8"/>
                    </a:cubicBezTo>
                    <a:cubicBezTo>
                      <a:pt x="57" y="9"/>
                      <a:pt x="61" y="10"/>
                      <a:pt x="66" y="10"/>
                    </a:cubicBezTo>
                    <a:cubicBezTo>
                      <a:pt x="70" y="11"/>
                      <a:pt x="75" y="11"/>
                      <a:pt x="77" y="12"/>
                    </a:cubicBezTo>
                    <a:cubicBezTo>
                      <a:pt x="79" y="12"/>
                      <a:pt x="79" y="13"/>
                      <a:pt x="79" y="13"/>
                    </a:cubicBezTo>
                    <a:cubicBezTo>
                      <a:pt x="79" y="14"/>
                      <a:pt x="77" y="14"/>
                      <a:pt x="75" y="15"/>
                    </a:cubicBezTo>
                    <a:cubicBezTo>
                      <a:pt x="70" y="15"/>
                      <a:pt x="65" y="20"/>
                      <a:pt x="64" y="30"/>
                    </a:cubicBezTo>
                    <a:lnTo>
                      <a:pt x="59" y="6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12" name="Freeform 6"/>
              <p:cNvSpPr/>
              <p:nvPr/>
            </p:nvSpPr>
            <p:spPr bwMode="auto">
              <a:xfrm>
                <a:off x="5118147" y="137330"/>
                <a:ext cx="609952" cy="573930"/>
              </a:xfrm>
              <a:custGeom>
                <a:avLst/>
                <a:gdLst>
                  <a:gd name="T0" fmla="*/ 21 w 107"/>
                  <a:gd name="T1" fmla="*/ 61 h 101"/>
                  <a:gd name="T2" fmla="*/ 22 w 107"/>
                  <a:gd name="T3" fmla="*/ 76 h 101"/>
                  <a:gd name="T4" fmla="*/ 27 w 107"/>
                  <a:gd name="T5" fmla="*/ 81 h 101"/>
                  <a:gd name="T6" fmla="*/ 25 w 107"/>
                  <a:gd name="T7" fmla="*/ 81 h 101"/>
                  <a:gd name="T8" fmla="*/ 13 w 107"/>
                  <a:gd name="T9" fmla="*/ 76 h 101"/>
                  <a:gd name="T10" fmla="*/ 1 w 107"/>
                  <a:gd name="T11" fmla="*/ 71 h 101"/>
                  <a:gd name="T12" fmla="*/ 0 w 107"/>
                  <a:gd name="T13" fmla="*/ 69 h 101"/>
                  <a:gd name="T14" fmla="*/ 7 w 107"/>
                  <a:gd name="T15" fmla="*/ 70 h 101"/>
                  <a:gd name="T16" fmla="*/ 19 w 107"/>
                  <a:gd name="T17" fmla="*/ 59 h 101"/>
                  <a:gd name="T18" fmla="*/ 39 w 107"/>
                  <a:gd name="T19" fmla="*/ 14 h 101"/>
                  <a:gd name="T20" fmla="*/ 32 w 107"/>
                  <a:gd name="T21" fmla="*/ 3 h 101"/>
                  <a:gd name="T22" fmla="*/ 30 w 107"/>
                  <a:gd name="T23" fmla="*/ 1 h 101"/>
                  <a:gd name="T24" fmla="*/ 32 w 107"/>
                  <a:gd name="T25" fmla="*/ 0 h 101"/>
                  <a:gd name="T26" fmla="*/ 43 w 107"/>
                  <a:gd name="T27" fmla="*/ 5 h 101"/>
                  <a:gd name="T28" fmla="*/ 55 w 107"/>
                  <a:gd name="T29" fmla="*/ 11 h 101"/>
                  <a:gd name="T30" fmla="*/ 71 w 107"/>
                  <a:gd name="T31" fmla="*/ 74 h 101"/>
                  <a:gd name="T32" fmla="*/ 72 w 107"/>
                  <a:gd name="T33" fmla="*/ 74 h 101"/>
                  <a:gd name="T34" fmla="*/ 85 w 107"/>
                  <a:gd name="T35" fmla="*/ 43 h 101"/>
                  <a:gd name="T36" fmla="*/ 84 w 107"/>
                  <a:gd name="T37" fmla="*/ 27 h 101"/>
                  <a:gd name="T38" fmla="*/ 80 w 107"/>
                  <a:gd name="T39" fmla="*/ 23 h 101"/>
                  <a:gd name="T40" fmla="*/ 82 w 107"/>
                  <a:gd name="T41" fmla="*/ 22 h 101"/>
                  <a:gd name="T42" fmla="*/ 93 w 107"/>
                  <a:gd name="T43" fmla="*/ 28 h 101"/>
                  <a:gd name="T44" fmla="*/ 105 w 107"/>
                  <a:gd name="T45" fmla="*/ 33 h 101"/>
                  <a:gd name="T46" fmla="*/ 106 w 107"/>
                  <a:gd name="T47" fmla="*/ 34 h 101"/>
                  <a:gd name="T48" fmla="*/ 100 w 107"/>
                  <a:gd name="T49" fmla="*/ 34 h 101"/>
                  <a:gd name="T50" fmla="*/ 88 w 107"/>
                  <a:gd name="T51" fmla="*/ 44 h 101"/>
                  <a:gd name="T52" fmla="*/ 64 w 107"/>
                  <a:gd name="T53" fmla="*/ 97 h 101"/>
                  <a:gd name="T54" fmla="*/ 62 w 107"/>
                  <a:gd name="T55" fmla="*/ 100 h 101"/>
                  <a:gd name="T56" fmla="*/ 60 w 107"/>
                  <a:gd name="T57" fmla="*/ 97 h 101"/>
                  <a:gd name="T58" fmla="*/ 40 w 107"/>
                  <a:gd name="T59" fmla="*/ 19 h 101"/>
                  <a:gd name="T60" fmla="*/ 40 w 107"/>
                  <a:gd name="T61" fmla="*/ 19 h 101"/>
                  <a:gd name="T62" fmla="*/ 21 w 107"/>
                  <a:gd name="T63" fmla="*/ 61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07" h="101">
                    <a:moveTo>
                      <a:pt x="21" y="61"/>
                    </a:moveTo>
                    <a:cubicBezTo>
                      <a:pt x="18" y="69"/>
                      <a:pt x="20" y="74"/>
                      <a:pt x="22" y="76"/>
                    </a:cubicBezTo>
                    <a:cubicBezTo>
                      <a:pt x="24" y="79"/>
                      <a:pt x="28" y="79"/>
                      <a:pt x="27" y="81"/>
                    </a:cubicBezTo>
                    <a:cubicBezTo>
                      <a:pt x="26" y="82"/>
                      <a:pt x="26" y="82"/>
                      <a:pt x="25" y="81"/>
                    </a:cubicBezTo>
                    <a:cubicBezTo>
                      <a:pt x="21" y="80"/>
                      <a:pt x="17" y="78"/>
                      <a:pt x="13" y="76"/>
                    </a:cubicBezTo>
                    <a:cubicBezTo>
                      <a:pt x="9" y="74"/>
                      <a:pt x="5" y="73"/>
                      <a:pt x="1" y="71"/>
                    </a:cubicBezTo>
                    <a:cubicBezTo>
                      <a:pt x="0" y="70"/>
                      <a:pt x="0" y="70"/>
                      <a:pt x="0" y="69"/>
                    </a:cubicBezTo>
                    <a:cubicBezTo>
                      <a:pt x="1" y="67"/>
                      <a:pt x="3" y="70"/>
                      <a:pt x="7" y="70"/>
                    </a:cubicBezTo>
                    <a:cubicBezTo>
                      <a:pt x="10" y="70"/>
                      <a:pt x="15" y="68"/>
                      <a:pt x="19" y="59"/>
                    </a:cubicBezTo>
                    <a:cubicBezTo>
                      <a:pt x="39" y="14"/>
                      <a:pt x="39" y="14"/>
                      <a:pt x="39" y="14"/>
                    </a:cubicBezTo>
                    <a:cubicBezTo>
                      <a:pt x="38" y="8"/>
                      <a:pt x="35" y="5"/>
                      <a:pt x="32" y="3"/>
                    </a:cubicBezTo>
                    <a:cubicBezTo>
                      <a:pt x="31" y="2"/>
                      <a:pt x="30" y="2"/>
                      <a:pt x="30" y="1"/>
                    </a:cubicBezTo>
                    <a:cubicBezTo>
                      <a:pt x="31" y="0"/>
                      <a:pt x="31" y="0"/>
                      <a:pt x="32" y="0"/>
                    </a:cubicBezTo>
                    <a:cubicBezTo>
                      <a:pt x="36" y="2"/>
                      <a:pt x="39" y="4"/>
                      <a:pt x="43" y="5"/>
                    </a:cubicBezTo>
                    <a:cubicBezTo>
                      <a:pt x="55" y="11"/>
                      <a:pt x="55" y="11"/>
                      <a:pt x="55" y="11"/>
                    </a:cubicBezTo>
                    <a:cubicBezTo>
                      <a:pt x="71" y="74"/>
                      <a:pt x="71" y="74"/>
                      <a:pt x="71" y="74"/>
                    </a:cubicBezTo>
                    <a:cubicBezTo>
                      <a:pt x="72" y="74"/>
                      <a:pt x="72" y="74"/>
                      <a:pt x="72" y="74"/>
                    </a:cubicBezTo>
                    <a:cubicBezTo>
                      <a:pt x="85" y="43"/>
                      <a:pt x="85" y="43"/>
                      <a:pt x="85" y="43"/>
                    </a:cubicBezTo>
                    <a:cubicBezTo>
                      <a:pt x="89" y="35"/>
                      <a:pt x="87" y="30"/>
                      <a:pt x="84" y="27"/>
                    </a:cubicBezTo>
                    <a:cubicBezTo>
                      <a:pt x="82" y="25"/>
                      <a:pt x="79" y="24"/>
                      <a:pt x="80" y="23"/>
                    </a:cubicBezTo>
                    <a:cubicBezTo>
                      <a:pt x="80" y="22"/>
                      <a:pt x="80" y="22"/>
                      <a:pt x="82" y="22"/>
                    </a:cubicBezTo>
                    <a:cubicBezTo>
                      <a:pt x="85" y="24"/>
                      <a:pt x="89" y="26"/>
                      <a:pt x="93" y="28"/>
                    </a:cubicBezTo>
                    <a:cubicBezTo>
                      <a:pt x="98" y="29"/>
                      <a:pt x="102" y="31"/>
                      <a:pt x="105" y="33"/>
                    </a:cubicBezTo>
                    <a:cubicBezTo>
                      <a:pt x="107" y="33"/>
                      <a:pt x="106" y="34"/>
                      <a:pt x="106" y="34"/>
                    </a:cubicBezTo>
                    <a:cubicBezTo>
                      <a:pt x="105" y="36"/>
                      <a:pt x="103" y="34"/>
                      <a:pt x="100" y="34"/>
                    </a:cubicBezTo>
                    <a:cubicBezTo>
                      <a:pt x="96" y="34"/>
                      <a:pt x="91" y="36"/>
                      <a:pt x="88" y="44"/>
                    </a:cubicBezTo>
                    <a:cubicBezTo>
                      <a:pt x="64" y="97"/>
                      <a:pt x="64" y="97"/>
                      <a:pt x="64" y="97"/>
                    </a:cubicBezTo>
                    <a:cubicBezTo>
                      <a:pt x="63" y="99"/>
                      <a:pt x="62" y="101"/>
                      <a:pt x="62" y="100"/>
                    </a:cubicBezTo>
                    <a:cubicBezTo>
                      <a:pt x="61" y="100"/>
                      <a:pt x="60" y="98"/>
                      <a:pt x="60" y="97"/>
                    </a:cubicBezTo>
                    <a:cubicBezTo>
                      <a:pt x="40" y="19"/>
                      <a:pt x="40" y="19"/>
                      <a:pt x="40" y="19"/>
                    </a:cubicBezTo>
                    <a:cubicBezTo>
                      <a:pt x="40" y="19"/>
                      <a:pt x="40" y="19"/>
                      <a:pt x="40" y="19"/>
                    </a:cubicBezTo>
                    <a:lnTo>
                      <a:pt x="21" y="6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13" name="Freeform 7"/>
              <p:cNvSpPr/>
              <p:nvPr/>
            </p:nvSpPr>
            <p:spPr bwMode="auto">
              <a:xfrm>
                <a:off x="5586416" y="403883"/>
                <a:ext cx="415440" cy="477875"/>
              </a:xfrm>
              <a:custGeom>
                <a:avLst/>
                <a:gdLst>
                  <a:gd name="T0" fmla="*/ 47 w 73"/>
                  <a:gd name="T1" fmla="*/ 13 h 84"/>
                  <a:gd name="T2" fmla="*/ 43 w 73"/>
                  <a:gd name="T3" fmla="*/ 1 h 84"/>
                  <a:gd name="T4" fmla="*/ 46 w 73"/>
                  <a:gd name="T5" fmla="*/ 1 h 84"/>
                  <a:gd name="T6" fmla="*/ 59 w 73"/>
                  <a:gd name="T7" fmla="*/ 11 h 84"/>
                  <a:gd name="T8" fmla="*/ 72 w 73"/>
                  <a:gd name="T9" fmla="*/ 20 h 84"/>
                  <a:gd name="T10" fmla="*/ 73 w 73"/>
                  <a:gd name="T11" fmla="*/ 22 h 84"/>
                  <a:gd name="T12" fmla="*/ 60 w 73"/>
                  <a:gd name="T13" fmla="*/ 23 h 84"/>
                  <a:gd name="T14" fmla="*/ 26 w 73"/>
                  <a:gd name="T15" fmla="*/ 71 h 84"/>
                  <a:gd name="T16" fmla="*/ 29 w 73"/>
                  <a:gd name="T17" fmla="*/ 83 h 84"/>
                  <a:gd name="T18" fmla="*/ 27 w 73"/>
                  <a:gd name="T19" fmla="*/ 83 h 84"/>
                  <a:gd name="T20" fmla="*/ 14 w 73"/>
                  <a:gd name="T21" fmla="*/ 73 h 84"/>
                  <a:gd name="T22" fmla="*/ 1 w 73"/>
                  <a:gd name="T23" fmla="*/ 64 h 84"/>
                  <a:gd name="T24" fmla="*/ 0 w 73"/>
                  <a:gd name="T25" fmla="*/ 62 h 84"/>
                  <a:gd name="T26" fmla="*/ 13 w 73"/>
                  <a:gd name="T27" fmla="*/ 61 h 84"/>
                  <a:gd name="T28" fmla="*/ 47 w 73"/>
                  <a:gd name="T29" fmla="*/ 13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3" h="84">
                    <a:moveTo>
                      <a:pt x="47" y="13"/>
                    </a:moveTo>
                    <a:cubicBezTo>
                      <a:pt x="52" y="6"/>
                      <a:pt x="42" y="4"/>
                      <a:pt x="43" y="1"/>
                    </a:cubicBezTo>
                    <a:cubicBezTo>
                      <a:pt x="44" y="1"/>
                      <a:pt x="45" y="0"/>
                      <a:pt x="46" y="1"/>
                    </a:cubicBezTo>
                    <a:cubicBezTo>
                      <a:pt x="51" y="5"/>
                      <a:pt x="55" y="8"/>
                      <a:pt x="59" y="11"/>
                    </a:cubicBezTo>
                    <a:cubicBezTo>
                      <a:pt x="62" y="13"/>
                      <a:pt x="67" y="16"/>
                      <a:pt x="72" y="20"/>
                    </a:cubicBezTo>
                    <a:cubicBezTo>
                      <a:pt x="73" y="21"/>
                      <a:pt x="73" y="22"/>
                      <a:pt x="73" y="22"/>
                    </a:cubicBezTo>
                    <a:cubicBezTo>
                      <a:pt x="71" y="25"/>
                      <a:pt x="65" y="16"/>
                      <a:pt x="60" y="23"/>
                    </a:cubicBezTo>
                    <a:cubicBezTo>
                      <a:pt x="26" y="71"/>
                      <a:pt x="26" y="71"/>
                      <a:pt x="26" y="71"/>
                    </a:cubicBezTo>
                    <a:cubicBezTo>
                      <a:pt x="21" y="78"/>
                      <a:pt x="31" y="80"/>
                      <a:pt x="29" y="83"/>
                    </a:cubicBezTo>
                    <a:cubicBezTo>
                      <a:pt x="29" y="83"/>
                      <a:pt x="28" y="84"/>
                      <a:pt x="27" y="83"/>
                    </a:cubicBezTo>
                    <a:cubicBezTo>
                      <a:pt x="22" y="79"/>
                      <a:pt x="18" y="76"/>
                      <a:pt x="14" y="73"/>
                    </a:cubicBezTo>
                    <a:cubicBezTo>
                      <a:pt x="10" y="71"/>
                      <a:pt x="6" y="68"/>
                      <a:pt x="1" y="64"/>
                    </a:cubicBezTo>
                    <a:cubicBezTo>
                      <a:pt x="0" y="63"/>
                      <a:pt x="0" y="62"/>
                      <a:pt x="0" y="62"/>
                    </a:cubicBezTo>
                    <a:cubicBezTo>
                      <a:pt x="2" y="59"/>
                      <a:pt x="7" y="68"/>
                      <a:pt x="13" y="61"/>
                    </a:cubicBezTo>
                    <a:lnTo>
                      <a:pt x="47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14" name="Freeform 8"/>
              <p:cNvSpPr/>
              <p:nvPr/>
            </p:nvSpPr>
            <p:spPr bwMode="auto">
              <a:xfrm>
                <a:off x="5927412" y="598395"/>
                <a:ext cx="489882" cy="465868"/>
              </a:xfrm>
              <a:custGeom>
                <a:avLst/>
                <a:gdLst>
                  <a:gd name="T0" fmla="*/ 58 w 86"/>
                  <a:gd name="T1" fmla="*/ 57 h 82"/>
                  <a:gd name="T2" fmla="*/ 65 w 86"/>
                  <a:gd name="T3" fmla="*/ 53 h 82"/>
                  <a:gd name="T4" fmla="*/ 66 w 86"/>
                  <a:gd name="T5" fmla="*/ 38 h 82"/>
                  <a:gd name="T6" fmla="*/ 68 w 86"/>
                  <a:gd name="T7" fmla="*/ 39 h 82"/>
                  <a:gd name="T8" fmla="*/ 76 w 86"/>
                  <a:gd name="T9" fmla="*/ 47 h 82"/>
                  <a:gd name="T10" fmla="*/ 84 w 86"/>
                  <a:gd name="T11" fmla="*/ 55 h 82"/>
                  <a:gd name="T12" fmla="*/ 85 w 86"/>
                  <a:gd name="T13" fmla="*/ 59 h 82"/>
                  <a:gd name="T14" fmla="*/ 64 w 86"/>
                  <a:gd name="T15" fmla="*/ 58 h 82"/>
                  <a:gd name="T16" fmla="*/ 4 w 86"/>
                  <a:gd name="T17" fmla="*/ 81 h 82"/>
                  <a:gd name="T18" fmla="*/ 0 w 86"/>
                  <a:gd name="T19" fmla="*/ 82 h 82"/>
                  <a:gd name="T20" fmla="*/ 1 w 86"/>
                  <a:gd name="T21" fmla="*/ 79 h 82"/>
                  <a:gd name="T22" fmla="*/ 30 w 86"/>
                  <a:gd name="T23" fmla="*/ 14 h 82"/>
                  <a:gd name="T24" fmla="*/ 30 w 86"/>
                  <a:gd name="T25" fmla="*/ 0 h 82"/>
                  <a:gd name="T26" fmla="*/ 32 w 86"/>
                  <a:gd name="T27" fmla="*/ 0 h 82"/>
                  <a:gd name="T28" fmla="*/ 42 w 86"/>
                  <a:gd name="T29" fmla="*/ 12 h 82"/>
                  <a:gd name="T30" fmla="*/ 53 w 86"/>
                  <a:gd name="T31" fmla="*/ 23 h 82"/>
                  <a:gd name="T32" fmla="*/ 54 w 86"/>
                  <a:gd name="T33" fmla="*/ 26 h 82"/>
                  <a:gd name="T34" fmla="*/ 45 w 86"/>
                  <a:gd name="T35" fmla="*/ 24 h 82"/>
                  <a:gd name="T36" fmla="*/ 42 w 86"/>
                  <a:gd name="T37" fmla="*/ 27 h 82"/>
                  <a:gd name="T38" fmla="*/ 22 w 86"/>
                  <a:gd name="T39" fmla="*/ 71 h 82"/>
                  <a:gd name="T40" fmla="*/ 58 w 86"/>
                  <a:gd name="T41" fmla="*/ 57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86" h="82">
                    <a:moveTo>
                      <a:pt x="58" y="57"/>
                    </a:moveTo>
                    <a:cubicBezTo>
                      <a:pt x="60" y="56"/>
                      <a:pt x="63" y="55"/>
                      <a:pt x="65" y="53"/>
                    </a:cubicBezTo>
                    <a:cubicBezTo>
                      <a:pt x="73" y="46"/>
                      <a:pt x="64" y="40"/>
                      <a:pt x="66" y="38"/>
                    </a:cubicBezTo>
                    <a:cubicBezTo>
                      <a:pt x="66" y="38"/>
                      <a:pt x="67" y="38"/>
                      <a:pt x="68" y="39"/>
                    </a:cubicBezTo>
                    <a:cubicBezTo>
                      <a:pt x="71" y="42"/>
                      <a:pt x="73" y="45"/>
                      <a:pt x="76" y="47"/>
                    </a:cubicBezTo>
                    <a:cubicBezTo>
                      <a:pt x="78" y="50"/>
                      <a:pt x="81" y="53"/>
                      <a:pt x="84" y="55"/>
                    </a:cubicBezTo>
                    <a:cubicBezTo>
                      <a:pt x="85" y="57"/>
                      <a:pt x="86" y="58"/>
                      <a:pt x="85" y="59"/>
                    </a:cubicBezTo>
                    <a:cubicBezTo>
                      <a:pt x="83" y="61"/>
                      <a:pt x="80" y="52"/>
                      <a:pt x="64" y="58"/>
                    </a:cubicBezTo>
                    <a:cubicBezTo>
                      <a:pt x="4" y="81"/>
                      <a:pt x="4" y="81"/>
                      <a:pt x="4" y="81"/>
                    </a:cubicBezTo>
                    <a:cubicBezTo>
                      <a:pt x="2" y="82"/>
                      <a:pt x="1" y="82"/>
                      <a:pt x="0" y="82"/>
                    </a:cubicBezTo>
                    <a:cubicBezTo>
                      <a:pt x="0" y="81"/>
                      <a:pt x="0" y="80"/>
                      <a:pt x="1" y="79"/>
                    </a:cubicBezTo>
                    <a:cubicBezTo>
                      <a:pt x="30" y="14"/>
                      <a:pt x="30" y="14"/>
                      <a:pt x="30" y="14"/>
                    </a:cubicBezTo>
                    <a:cubicBezTo>
                      <a:pt x="34" y="4"/>
                      <a:pt x="28" y="1"/>
                      <a:pt x="30" y="0"/>
                    </a:cubicBezTo>
                    <a:cubicBezTo>
                      <a:pt x="30" y="0"/>
                      <a:pt x="31" y="0"/>
                      <a:pt x="32" y="0"/>
                    </a:cubicBezTo>
                    <a:cubicBezTo>
                      <a:pt x="36" y="4"/>
                      <a:pt x="39" y="8"/>
                      <a:pt x="42" y="12"/>
                    </a:cubicBezTo>
                    <a:cubicBezTo>
                      <a:pt x="46" y="16"/>
                      <a:pt x="50" y="19"/>
                      <a:pt x="53" y="23"/>
                    </a:cubicBezTo>
                    <a:cubicBezTo>
                      <a:pt x="55" y="25"/>
                      <a:pt x="55" y="25"/>
                      <a:pt x="54" y="26"/>
                    </a:cubicBezTo>
                    <a:cubicBezTo>
                      <a:pt x="52" y="28"/>
                      <a:pt x="49" y="20"/>
                      <a:pt x="45" y="24"/>
                    </a:cubicBezTo>
                    <a:cubicBezTo>
                      <a:pt x="44" y="25"/>
                      <a:pt x="43" y="26"/>
                      <a:pt x="42" y="27"/>
                    </a:cubicBezTo>
                    <a:cubicBezTo>
                      <a:pt x="22" y="71"/>
                      <a:pt x="22" y="71"/>
                      <a:pt x="22" y="71"/>
                    </a:cubicBezTo>
                    <a:lnTo>
                      <a:pt x="58" y="5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15" name="Freeform 9"/>
              <p:cNvSpPr/>
              <p:nvPr/>
            </p:nvSpPr>
            <p:spPr bwMode="auto">
              <a:xfrm>
                <a:off x="6085903" y="989820"/>
                <a:ext cx="547515" cy="535507"/>
              </a:xfrm>
              <a:custGeom>
                <a:avLst/>
                <a:gdLst>
                  <a:gd name="T0" fmla="*/ 63 w 96"/>
                  <a:gd name="T1" fmla="*/ 13 h 94"/>
                  <a:gd name="T2" fmla="*/ 65 w 96"/>
                  <a:gd name="T3" fmla="*/ 1 h 94"/>
                  <a:gd name="T4" fmla="*/ 67 w 96"/>
                  <a:gd name="T5" fmla="*/ 2 h 94"/>
                  <a:gd name="T6" fmla="*/ 75 w 96"/>
                  <a:gd name="T7" fmla="*/ 16 h 94"/>
                  <a:gd name="T8" fmla="*/ 96 w 96"/>
                  <a:gd name="T9" fmla="*/ 51 h 94"/>
                  <a:gd name="T10" fmla="*/ 80 w 96"/>
                  <a:gd name="T11" fmla="*/ 67 h 94"/>
                  <a:gd name="T12" fmla="*/ 78 w 96"/>
                  <a:gd name="T13" fmla="*/ 69 h 94"/>
                  <a:gd name="T14" fmla="*/ 77 w 96"/>
                  <a:gd name="T15" fmla="*/ 68 h 94"/>
                  <a:gd name="T16" fmla="*/ 82 w 96"/>
                  <a:gd name="T17" fmla="*/ 59 h 94"/>
                  <a:gd name="T18" fmla="*/ 80 w 96"/>
                  <a:gd name="T19" fmla="*/ 29 h 94"/>
                  <a:gd name="T20" fmla="*/ 77 w 96"/>
                  <a:gd name="T21" fmla="*/ 24 h 94"/>
                  <a:gd name="T22" fmla="*/ 49 w 96"/>
                  <a:gd name="T23" fmla="*/ 41 h 94"/>
                  <a:gd name="T24" fmla="*/ 50 w 96"/>
                  <a:gd name="T25" fmla="*/ 43 h 94"/>
                  <a:gd name="T26" fmla="*/ 70 w 96"/>
                  <a:gd name="T27" fmla="*/ 48 h 94"/>
                  <a:gd name="T28" fmla="*/ 73 w 96"/>
                  <a:gd name="T29" fmla="*/ 48 h 94"/>
                  <a:gd name="T30" fmla="*/ 72 w 96"/>
                  <a:gd name="T31" fmla="*/ 50 h 94"/>
                  <a:gd name="T32" fmla="*/ 42 w 96"/>
                  <a:gd name="T33" fmla="*/ 68 h 94"/>
                  <a:gd name="T34" fmla="*/ 40 w 96"/>
                  <a:gd name="T35" fmla="*/ 67 h 94"/>
                  <a:gd name="T36" fmla="*/ 42 w 96"/>
                  <a:gd name="T37" fmla="*/ 65 h 94"/>
                  <a:gd name="T38" fmla="*/ 48 w 96"/>
                  <a:gd name="T39" fmla="*/ 45 h 94"/>
                  <a:gd name="T40" fmla="*/ 47 w 96"/>
                  <a:gd name="T41" fmla="*/ 42 h 94"/>
                  <a:gd name="T42" fmla="*/ 22 w 96"/>
                  <a:gd name="T43" fmla="*/ 57 h 94"/>
                  <a:gd name="T44" fmla="*/ 20 w 96"/>
                  <a:gd name="T45" fmla="*/ 69 h 94"/>
                  <a:gd name="T46" fmla="*/ 56 w 96"/>
                  <a:gd name="T47" fmla="*/ 83 h 94"/>
                  <a:gd name="T48" fmla="*/ 60 w 96"/>
                  <a:gd name="T49" fmla="*/ 83 h 94"/>
                  <a:gd name="T50" fmla="*/ 59 w 96"/>
                  <a:gd name="T51" fmla="*/ 85 h 94"/>
                  <a:gd name="T52" fmla="*/ 56 w 96"/>
                  <a:gd name="T53" fmla="*/ 86 h 94"/>
                  <a:gd name="T54" fmla="*/ 32 w 96"/>
                  <a:gd name="T55" fmla="*/ 94 h 94"/>
                  <a:gd name="T56" fmla="*/ 9 w 96"/>
                  <a:gd name="T57" fmla="*/ 55 h 94"/>
                  <a:gd name="T58" fmla="*/ 1 w 96"/>
                  <a:gd name="T59" fmla="*/ 42 h 94"/>
                  <a:gd name="T60" fmla="*/ 1 w 96"/>
                  <a:gd name="T61" fmla="*/ 39 h 94"/>
                  <a:gd name="T62" fmla="*/ 12 w 96"/>
                  <a:gd name="T63" fmla="*/ 43 h 94"/>
                  <a:gd name="T64" fmla="*/ 63 w 96"/>
                  <a:gd name="T65" fmla="*/ 13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96" h="94">
                    <a:moveTo>
                      <a:pt x="63" y="13"/>
                    </a:moveTo>
                    <a:cubicBezTo>
                      <a:pt x="71" y="9"/>
                      <a:pt x="62" y="3"/>
                      <a:pt x="65" y="1"/>
                    </a:cubicBezTo>
                    <a:cubicBezTo>
                      <a:pt x="65" y="0"/>
                      <a:pt x="66" y="1"/>
                      <a:pt x="67" y="2"/>
                    </a:cubicBezTo>
                    <a:cubicBezTo>
                      <a:pt x="70" y="7"/>
                      <a:pt x="72" y="12"/>
                      <a:pt x="75" y="16"/>
                    </a:cubicBezTo>
                    <a:cubicBezTo>
                      <a:pt x="82" y="28"/>
                      <a:pt x="89" y="39"/>
                      <a:pt x="96" y="51"/>
                    </a:cubicBezTo>
                    <a:cubicBezTo>
                      <a:pt x="80" y="67"/>
                      <a:pt x="80" y="67"/>
                      <a:pt x="80" y="67"/>
                    </a:cubicBezTo>
                    <a:cubicBezTo>
                      <a:pt x="79" y="68"/>
                      <a:pt x="78" y="68"/>
                      <a:pt x="78" y="69"/>
                    </a:cubicBezTo>
                    <a:cubicBezTo>
                      <a:pt x="78" y="69"/>
                      <a:pt x="77" y="69"/>
                      <a:pt x="77" y="68"/>
                    </a:cubicBezTo>
                    <a:cubicBezTo>
                      <a:pt x="76" y="67"/>
                      <a:pt x="78" y="66"/>
                      <a:pt x="82" y="59"/>
                    </a:cubicBezTo>
                    <a:cubicBezTo>
                      <a:pt x="87" y="50"/>
                      <a:pt x="87" y="41"/>
                      <a:pt x="80" y="29"/>
                    </a:cubicBezTo>
                    <a:cubicBezTo>
                      <a:pt x="77" y="24"/>
                      <a:pt x="77" y="24"/>
                      <a:pt x="77" y="24"/>
                    </a:cubicBezTo>
                    <a:cubicBezTo>
                      <a:pt x="49" y="41"/>
                      <a:pt x="49" y="41"/>
                      <a:pt x="49" y="41"/>
                    </a:cubicBezTo>
                    <a:cubicBezTo>
                      <a:pt x="50" y="43"/>
                      <a:pt x="50" y="43"/>
                      <a:pt x="50" y="43"/>
                    </a:cubicBezTo>
                    <a:cubicBezTo>
                      <a:pt x="54" y="50"/>
                      <a:pt x="62" y="52"/>
                      <a:pt x="70" y="48"/>
                    </a:cubicBezTo>
                    <a:cubicBezTo>
                      <a:pt x="72" y="47"/>
                      <a:pt x="72" y="47"/>
                      <a:pt x="73" y="48"/>
                    </a:cubicBezTo>
                    <a:cubicBezTo>
                      <a:pt x="73" y="49"/>
                      <a:pt x="73" y="49"/>
                      <a:pt x="72" y="50"/>
                    </a:cubicBezTo>
                    <a:cubicBezTo>
                      <a:pt x="42" y="68"/>
                      <a:pt x="42" y="68"/>
                      <a:pt x="42" y="68"/>
                    </a:cubicBezTo>
                    <a:cubicBezTo>
                      <a:pt x="42" y="68"/>
                      <a:pt x="41" y="68"/>
                      <a:pt x="40" y="67"/>
                    </a:cubicBezTo>
                    <a:cubicBezTo>
                      <a:pt x="40" y="67"/>
                      <a:pt x="40" y="66"/>
                      <a:pt x="42" y="65"/>
                    </a:cubicBezTo>
                    <a:cubicBezTo>
                      <a:pt x="50" y="59"/>
                      <a:pt x="52" y="51"/>
                      <a:pt x="48" y="45"/>
                    </a:cubicBezTo>
                    <a:cubicBezTo>
                      <a:pt x="47" y="42"/>
                      <a:pt x="47" y="42"/>
                      <a:pt x="47" y="42"/>
                    </a:cubicBezTo>
                    <a:cubicBezTo>
                      <a:pt x="22" y="57"/>
                      <a:pt x="22" y="57"/>
                      <a:pt x="22" y="57"/>
                    </a:cubicBezTo>
                    <a:cubicBezTo>
                      <a:pt x="18" y="59"/>
                      <a:pt x="16" y="63"/>
                      <a:pt x="20" y="69"/>
                    </a:cubicBezTo>
                    <a:cubicBezTo>
                      <a:pt x="29" y="84"/>
                      <a:pt x="45" y="86"/>
                      <a:pt x="56" y="83"/>
                    </a:cubicBezTo>
                    <a:cubicBezTo>
                      <a:pt x="58" y="82"/>
                      <a:pt x="59" y="82"/>
                      <a:pt x="60" y="83"/>
                    </a:cubicBezTo>
                    <a:cubicBezTo>
                      <a:pt x="60" y="84"/>
                      <a:pt x="60" y="84"/>
                      <a:pt x="59" y="85"/>
                    </a:cubicBezTo>
                    <a:cubicBezTo>
                      <a:pt x="59" y="85"/>
                      <a:pt x="57" y="85"/>
                      <a:pt x="56" y="86"/>
                    </a:cubicBezTo>
                    <a:cubicBezTo>
                      <a:pt x="32" y="94"/>
                      <a:pt x="32" y="94"/>
                      <a:pt x="32" y="94"/>
                    </a:cubicBezTo>
                    <a:cubicBezTo>
                      <a:pt x="25" y="82"/>
                      <a:pt x="17" y="69"/>
                      <a:pt x="9" y="55"/>
                    </a:cubicBezTo>
                    <a:cubicBezTo>
                      <a:pt x="7" y="51"/>
                      <a:pt x="4" y="47"/>
                      <a:pt x="1" y="42"/>
                    </a:cubicBezTo>
                    <a:cubicBezTo>
                      <a:pt x="0" y="40"/>
                      <a:pt x="0" y="39"/>
                      <a:pt x="1" y="39"/>
                    </a:cubicBezTo>
                    <a:cubicBezTo>
                      <a:pt x="3" y="37"/>
                      <a:pt x="5" y="48"/>
                      <a:pt x="12" y="43"/>
                    </a:cubicBezTo>
                    <a:lnTo>
                      <a:pt x="63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16" name="Freeform 10"/>
              <p:cNvSpPr>
                <a:spLocks noEditPoints="1"/>
              </p:cNvSpPr>
              <p:nvPr/>
            </p:nvSpPr>
            <p:spPr bwMode="auto">
              <a:xfrm>
                <a:off x="6314036" y="1496513"/>
                <a:ext cx="511495" cy="557120"/>
              </a:xfrm>
              <a:custGeom>
                <a:avLst/>
                <a:gdLst>
                  <a:gd name="T0" fmla="*/ 39 w 90"/>
                  <a:gd name="T1" fmla="*/ 52 h 98"/>
                  <a:gd name="T2" fmla="*/ 42 w 90"/>
                  <a:gd name="T3" fmla="*/ 36 h 98"/>
                  <a:gd name="T4" fmla="*/ 16 w 90"/>
                  <a:gd name="T5" fmla="*/ 44 h 98"/>
                  <a:gd name="T6" fmla="*/ 12 w 90"/>
                  <a:gd name="T7" fmla="*/ 55 h 98"/>
                  <a:gd name="T8" fmla="*/ 10 w 90"/>
                  <a:gd name="T9" fmla="*/ 54 h 98"/>
                  <a:gd name="T10" fmla="*/ 5 w 90"/>
                  <a:gd name="T11" fmla="*/ 38 h 98"/>
                  <a:gd name="T12" fmla="*/ 1 w 90"/>
                  <a:gd name="T13" fmla="*/ 23 h 98"/>
                  <a:gd name="T14" fmla="*/ 1 w 90"/>
                  <a:gd name="T15" fmla="*/ 21 h 98"/>
                  <a:gd name="T16" fmla="*/ 12 w 90"/>
                  <a:gd name="T17" fmla="*/ 28 h 98"/>
                  <a:gd name="T18" fmla="*/ 68 w 90"/>
                  <a:gd name="T19" fmla="*/ 11 h 98"/>
                  <a:gd name="T20" fmla="*/ 73 w 90"/>
                  <a:gd name="T21" fmla="*/ 0 h 98"/>
                  <a:gd name="T22" fmla="*/ 75 w 90"/>
                  <a:gd name="T23" fmla="*/ 2 h 98"/>
                  <a:gd name="T24" fmla="*/ 79 w 90"/>
                  <a:gd name="T25" fmla="*/ 17 h 98"/>
                  <a:gd name="T26" fmla="*/ 84 w 90"/>
                  <a:gd name="T27" fmla="*/ 34 h 98"/>
                  <a:gd name="T28" fmla="*/ 73 w 90"/>
                  <a:gd name="T29" fmla="*/ 68 h 98"/>
                  <a:gd name="T30" fmla="*/ 46 w 90"/>
                  <a:gd name="T31" fmla="*/ 46 h 98"/>
                  <a:gd name="T32" fmla="*/ 46 w 90"/>
                  <a:gd name="T33" fmla="*/ 46 h 98"/>
                  <a:gd name="T34" fmla="*/ 41 w 90"/>
                  <a:gd name="T35" fmla="*/ 71 h 98"/>
                  <a:gd name="T36" fmla="*/ 28 w 90"/>
                  <a:gd name="T37" fmla="*/ 84 h 98"/>
                  <a:gd name="T38" fmla="*/ 24 w 90"/>
                  <a:gd name="T39" fmla="*/ 98 h 98"/>
                  <a:gd name="T40" fmla="*/ 22 w 90"/>
                  <a:gd name="T41" fmla="*/ 97 h 98"/>
                  <a:gd name="T42" fmla="*/ 19 w 90"/>
                  <a:gd name="T43" fmla="*/ 85 h 98"/>
                  <a:gd name="T44" fmla="*/ 16 w 90"/>
                  <a:gd name="T45" fmla="*/ 73 h 98"/>
                  <a:gd name="T46" fmla="*/ 39 w 90"/>
                  <a:gd name="T47" fmla="*/ 52 h 98"/>
                  <a:gd name="T48" fmla="*/ 44 w 90"/>
                  <a:gd name="T49" fmla="*/ 35 h 98"/>
                  <a:gd name="T50" fmla="*/ 46 w 90"/>
                  <a:gd name="T51" fmla="*/ 40 h 98"/>
                  <a:gd name="T52" fmla="*/ 68 w 90"/>
                  <a:gd name="T53" fmla="*/ 52 h 98"/>
                  <a:gd name="T54" fmla="*/ 81 w 90"/>
                  <a:gd name="T55" fmla="*/ 32 h 98"/>
                  <a:gd name="T56" fmla="*/ 79 w 90"/>
                  <a:gd name="T57" fmla="*/ 25 h 98"/>
                  <a:gd name="T58" fmla="*/ 44 w 90"/>
                  <a:gd name="T59" fmla="*/ 35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90" h="98">
                    <a:moveTo>
                      <a:pt x="39" y="52"/>
                    </a:moveTo>
                    <a:cubicBezTo>
                      <a:pt x="44" y="48"/>
                      <a:pt x="44" y="42"/>
                      <a:pt x="42" y="36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8" y="46"/>
                      <a:pt x="15" y="54"/>
                      <a:pt x="12" y="55"/>
                    </a:cubicBezTo>
                    <a:cubicBezTo>
                      <a:pt x="11" y="56"/>
                      <a:pt x="10" y="55"/>
                      <a:pt x="10" y="54"/>
                    </a:cubicBezTo>
                    <a:cubicBezTo>
                      <a:pt x="8" y="48"/>
                      <a:pt x="7" y="43"/>
                      <a:pt x="5" y="38"/>
                    </a:cubicBezTo>
                    <a:cubicBezTo>
                      <a:pt x="4" y="34"/>
                      <a:pt x="2" y="29"/>
                      <a:pt x="1" y="23"/>
                    </a:cubicBezTo>
                    <a:cubicBezTo>
                      <a:pt x="0" y="22"/>
                      <a:pt x="1" y="21"/>
                      <a:pt x="1" y="21"/>
                    </a:cubicBezTo>
                    <a:cubicBezTo>
                      <a:pt x="4" y="20"/>
                      <a:pt x="3" y="30"/>
                      <a:pt x="12" y="28"/>
                    </a:cubicBezTo>
                    <a:cubicBezTo>
                      <a:pt x="68" y="11"/>
                      <a:pt x="68" y="11"/>
                      <a:pt x="68" y="11"/>
                    </a:cubicBezTo>
                    <a:cubicBezTo>
                      <a:pt x="77" y="9"/>
                      <a:pt x="70" y="1"/>
                      <a:pt x="73" y="0"/>
                    </a:cubicBezTo>
                    <a:cubicBezTo>
                      <a:pt x="74" y="0"/>
                      <a:pt x="74" y="0"/>
                      <a:pt x="75" y="2"/>
                    </a:cubicBezTo>
                    <a:cubicBezTo>
                      <a:pt x="76" y="7"/>
                      <a:pt x="78" y="12"/>
                      <a:pt x="79" y="17"/>
                    </a:cubicBezTo>
                    <a:cubicBezTo>
                      <a:pt x="81" y="22"/>
                      <a:pt x="82" y="27"/>
                      <a:pt x="84" y="34"/>
                    </a:cubicBezTo>
                    <a:cubicBezTo>
                      <a:pt x="90" y="52"/>
                      <a:pt x="84" y="65"/>
                      <a:pt x="73" y="68"/>
                    </a:cubicBezTo>
                    <a:cubicBezTo>
                      <a:pt x="64" y="71"/>
                      <a:pt x="55" y="67"/>
                      <a:pt x="46" y="46"/>
                    </a:cubicBezTo>
                    <a:cubicBezTo>
                      <a:pt x="46" y="46"/>
                      <a:pt x="46" y="46"/>
                      <a:pt x="46" y="46"/>
                    </a:cubicBezTo>
                    <a:cubicBezTo>
                      <a:pt x="49" y="57"/>
                      <a:pt x="48" y="64"/>
                      <a:pt x="41" y="71"/>
                    </a:cubicBezTo>
                    <a:cubicBezTo>
                      <a:pt x="28" y="84"/>
                      <a:pt x="28" y="84"/>
                      <a:pt x="28" y="84"/>
                    </a:cubicBezTo>
                    <a:cubicBezTo>
                      <a:pt x="21" y="91"/>
                      <a:pt x="27" y="97"/>
                      <a:pt x="24" y="98"/>
                    </a:cubicBezTo>
                    <a:cubicBezTo>
                      <a:pt x="23" y="98"/>
                      <a:pt x="23" y="98"/>
                      <a:pt x="22" y="97"/>
                    </a:cubicBezTo>
                    <a:cubicBezTo>
                      <a:pt x="21" y="93"/>
                      <a:pt x="20" y="89"/>
                      <a:pt x="19" y="85"/>
                    </a:cubicBezTo>
                    <a:cubicBezTo>
                      <a:pt x="16" y="73"/>
                      <a:pt x="16" y="73"/>
                      <a:pt x="16" y="73"/>
                    </a:cubicBezTo>
                    <a:lnTo>
                      <a:pt x="39" y="52"/>
                    </a:lnTo>
                    <a:close/>
                    <a:moveTo>
                      <a:pt x="44" y="35"/>
                    </a:moveTo>
                    <a:cubicBezTo>
                      <a:pt x="46" y="40"/>
                      <a:pt x="46" y="40"/>
                      <a:pt x="46" y="40"/>
                    </a:cubicBezTo>
                    <a:cubicBezTo>
                      <a:pt x="49" y="52"/>
                      <a:pt x="57" y="56"/>
                      <a:pt x="68" y="52"/>
                    </a:cubicBezTo>
                    <a:cubicBezTo>
                      <a:pt x="80" y="49"/>
                      <a:pt x="84" y="41"/>
                      <a:pt x="81" y="32"/>
                    </a:cubicBezTo>
                    <a:cubicBezTo>
                      <a:pt x="79" y="25"/>
                      <a:pt x="79" y="25"/>
                      <a:pt x="79" y="25"/>
                    </a:cubicBezTo>
                    <a:lnTo>
                      <a:pt x="44" y="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17" name="Freeform 11"/>
              <p:cNvSpPr/>
              <p:nvPr/>
            </p:nvSpPr>
            <p:spPr bwMode="auto">
              <a:xfrm>
                <a:off x="6434105" y="2077647"/>
                <a:ext cx="461065" cy="340996"/>
              </a:xfrm>
              <a:custGeom>
                <a:avLst/>
                <a:gdLst>
                  <a:gd name="T0" fmla="*/ 33 w 81"/>
                  <a:gd name="T1" fmla="*/ 1 h 60"/>
                  <a:gd name="T2" fmla="*/ 35 w 81"/>
                  <a:gd name="T3" fmla="*/ 3 h 60"/>
                  <a:gd name="T4" fmla="*/ 31 w 81"/>
                  <a:gd name="T5" fmla="*/ 4 h 60"/>
                  <a:gd name="T6" fmla="*/ 3 w 81"/>
                  <a:gd name="T7" fmla="*/ 31 h 60"/>
                  <a:gd name="T8" fmla="*/ 19 w 81"/>
                  <a:gd name="T9" fmla="*/ 48 h 60"/>
                  <a:gd name="T10" fmla="*/ 56 w 81"/>
                  <a:gd name="T11" fmla="*/ 1 h 60"/>
                  <a:gd name="T12" fmla="*/ 81 w 81"/>
                  <a:gd name="T13" fmla="*/ 25 h 60"/>
                  <a:gd name="T14" fmla="*/ 77 w 81"/>
                  <a:gd name="T15" fmla="*/ 45 h 60"/>
                  <a:gd name="T16" fmla="*/ 81 w 81"/>
                  <a:gd name="T17" fmla="*/ 49 h 60"/>
                  <a:gd name="T18" fmla="*/ 79 w 81"/>
                  <a:gd name="T19" fmla="*/ 50 h 60"/>
                  <a:gd name="T20" fmla="*/ 57 w 81"/>
                  <a:gd name="T21" fmla="*/ 53 h 60"/>
                  <a:gd name="T22" fmla="*/ 54 w 81"/>
                  <a:gd name="T23" fmla="*/ 54 h 60"/>
                  <a:gd name="T24" fmla="*/ 52 w 81"/>
                  <a:gd name="T25" fmla="*/ 53 h 60"/>
                  <a:gd name="T26" fmla="*/ 59 w 81"/>
                  <a:gd name="T27" fmla="*/ 50 h 60"/>
                  <a:gd name="T28" fmla="*/ 78 w 81"/>
                  <a:gd name="T29" fmla="*/ 25 h 60"/>
                  <a:gd name="T30" fmla="*/ 65 w 81"/>
                  <a:gd name="T31" fmla="*/ 11 h 60"/>
                  <a:gd name="T32" fmla="*/ 29 w 81"/>
                  <a:gd name="T33" fmla="*/ 59 h 60"/>
                  <a:gd name="T34" fmla="*/ 1 w 81"/>
                  <a:gd name="T35" fmla="*/ 31 h 60"/>
                  <a:gd name="T36" fmla="*/ 5 w 81"/>
                  <a:gd name="T37" fmla="*/ 9 h 60"/>
                  <a:gd name="T38" fmla="*/ 1 w 81"/>
                  <a:gd name="T39" fmla="*/ 4 h 60"/>
                  <a:gd name="T40" fmla="*/ 2 w 81"/>
                  <a:gd name="T41" fmla="*/ 3 h 60"/>
                  <a:gd name="T42" fmla="*/ 33 w 81"/>
                  <a:gd name="T43" fmla="*/ 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" h="60">
                    <a:moveTo>
                      <a:pt x="33" y="1"/>
                    </a:moveTo>
                    <a:cubicBezTo>
                      <a:pt x="34" y="1"/>
                      <a:pt x="35" y="2"/>
                      <a:pt x="35" y="3"/>
                    </a:cubicBezTo>
                    <a:cubicBezTo>
                      <a:pt x="35" y="4"/>
                      <a:pt x="33" y="4"/>
                      <a:pt x="31" y="4"/>
                    </a:cubicBezTo>
                    <a:cubicBezTo>
                      <a:pt x="17" y="8"/>
                      <a:pt x="3" y="14"/>
                      <a:pt x="3" y="31"/>
                    </a:cubicBezTo>
                    <a:cubicBezTo>
                      <a:pt x="4" y="42"/>
                      <a:pt x="10" y="48"/>
                      <a:pt x="19" y="48"/>
                    </a:cubicBezTo>
                    <a:cubicBezTo>
                      <a:pt x="42" y="47"/>
                      <a:pt x="28" y="2"/>
                      <a:pt x="56" y="1"/>
                    </a:cubicBezTo>
                    <a:cubicBezTo>
                      <a:pt x="70" y="0"/>
                      <a:pt x="80" y="11"/>
                      <a:pt x="81" y="25"/>
                    </a:cubicBezTo>
                    <a:cubicBezTo>
                      <a:pt x="81" y="36"/>
                      <a:pt x="77" y="42"/>
                      <a:pt x="77" y="45"/>
                    </a:cubicBezTo>
                    <a:cubicBezTo>
                      <a:pt x="77" y="49"/>
                      <a:pt x="80" y="47"/>
                      <a:pt x="81" y="49"/>
                    </a:cubicBezTo>
                    <a:cubicBezTo>
                      <a:pt x="81" y="50"/>
                      <a:pt x="80" y="50"/>
                      <a:pt x="79" y="50"/>
                    </a:cubicBezTo>
                    <a:cubicBezTo>
                      <a:pt x="57" y="53"/>
                      <a:pt x="57" y="53"/>
                      <a:pt x="57" y="53"/>
                    </a:cubicBezTo>
                    <a:cubicBezTo>
                      <a:pt x="55" y="54"/>
                      <a:pt x="54" y="54"/>
                      <a:pt x="54" y="54"/>
                    </a:cubicBezTo>
                    <a:cubicBezTo>
                      <a:pt x="53" y="54"/>
                      <a:pt x="52" y="54"/>
                      <a:pt x="52" y="53"/>
                    </a:cubicBezTo>
                    <a:cubicBezTo>
                      <a:pt x="52" y="52"/>
                      <a:pt x="55" y="52"/>
                      <a:pt x="59" y="50"/>
                    </a:cubicBezTo>
                    <a:cubicBezTo>
                      <a:pt x="72" y="44"/>
                      <a:pt x="79" y="38"/>
                      <a:pt x="78" y="25"/>
                    </a:cubicBezTo>
                    <a:cubicBezTo>
                      <a:pt x="78" y="17"/>
                      <a:pt x="74" y="11"/>
                      <a:pt x="65" y="11"/>
                    </a:cubicBezTo>
                    <a:cubicBezTo>
                      <a:pt x="47" y="12"/>
                      <a:pt x="59" y="58"/>
                      <a:pt x="29" y="59"/>
                    </a:cubicBezTo>
                    <a:cubicBezTo>
                      <a:pt x="14" y="60"/>
                      <a:pt x="1" y="48"/>
                      <a:pt x="1" y="31"/>
                    </a:cubicBezTo>
                    <a:cubicBezTo>
                      <a:pt x="0" y="19"/>
                      <a:pt x="5" y="14"/>
                      <a:pt x="5" y="9"/>
                    </a:cubicBezTo>
                    <a:cubicBezTo>
                      <a:pt x="5" y="5"/>
                      <a:pt x="1" y="6"/>
                      <a:pt x="1" y="4"/>
                    </a:cubicBezTo>
                    <a:cubicBezTo>
                      <a:pt x="1" y="3"/>
                      <a:pt x="1" y="3"/>
                      <a:pt x="2" y="3"/>
                    </a:cubicBezTo>
                    <a:lnTo>
                      <a:pt x="3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18" name="Freeform 12"/>
              <p:cNvSpPr/>
              <p:nvPr/>
            </p:nvSpPr>
            <p:spPr bwMode="auto">
              <a:xfrm>
                <a:off x="6417294" y="2493085"/>
                <a:ext cx="461065" cy="261750"/>
              </a:xfrm>
              <a:custGeom>
                <a:avLst/>
                <a:gdLst>
                  <a:gd name="T0" fmla="*/ 71 w 81"/>
                  <a:gd name="T1" fmla="*/ 19 h 46"/>
                  <a:gd name="T2" fmla="*/ 80 w 81"/>
                  <a:gd name="T3" fmla="*/ 10 h 46"/>
                  <a:gd name="T4" fmla="*/ 81 w 81"/>
                  <a:gd name="T5" fmla="*/ 13 h 46"/>
                  <a:gd name="T6" fmla="*/ 79 w 81"/>
                  <a:gd name="T7" fmla="*/ 28 h 46"/>
                  <a:gd name="T8" fmla="*/ 77 w 81"/>
                  <a:gd name="T9" fmla="*/ 44 h 46"/>
                  <a:gd name="T10" fmla="*/ 75 w 81"/>
                  <a:gd name="T11" fmla="*/ 46 h 46"/>
                  <a:gd name="T12" fmla="*/ 69 w 81"/>
                  <a:gd name="T13" fmla="*/ 35 h 46"/>
                  <a:gd name="T14" fmla="*/ 11 w 81"/>
                  <a:gd name="T15" fmla="*/ 27 h 46"/>
                  <a:gd name="T16" fmla="*/ 2 w 81"/>
                  <a:gd name="T17" fmla="*/ 36 h 46"/>
                  <a:gd name="T18" fmla="*/ 1 w 81"/>
                  <a:gd name="T19" fmla="*/ 34 h 46"/>
                  <a:gd name="T20" fmla="*/ 3 w 81"/>
                  <a:gd name="T21" fmla="*/ 18 h 46"/>
                  <a:gd name="T22" fmla="*/ 5 w 81"/>
                  <a:gd name="T23" fmla="*/ 2 h 46"/>
                  <a:gd name="T24" fmla="*/ 7 w 81"/>
                  <a:gd name="T25" fmla="*/ 0 h 46"/>
                  <a:gd name="T26" fmla="*/ 13 w 81"/>
                  <a:gd name="T27" fmla="*/ 11 h 46"/>
                  <a:gd name="T28" fmla="*/ 71 w 81"/>
                  <a:gd name="T29" fmla="*/ 19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1" h="46">
                    <a:moveTo>
                      <a:pt x="71" y="19"/>
                    </a:moveTo>
                    <a:cubicBezTo>
                      <a:pt x="80" y="20"/>
                      <a:pt x="77" y="10"/>
                      <a:pt x="80" y="10"/>
                    </a:cubicBezTo>
                    <a:cubicBezTo>
                      <a:pt x="81" y="10"/>
                      <a:pt x="81" y="11"/>
                      <a:pt x="81" y="13"/>
                    </a:cubicBezTo>
                    <a:cubicBezTo>
                      <a:pt x="80" y="18"/>
                      <a:pt x="80" y="24"/>
                      <a:pt x="79" y="28"/>
                    </a:cubicBezTo>
                    <a:cubicBezTo>
                      <a:pt x="78" y="33"/>
                      <a:pt x="78" y="38"/>
                      <a:pt x="77" y="44"/>
                    </a:cubicBezTo>
                    <a:cubicBezTo>
                      <a:pt x="77" y="46"/>
                      <a:pt x="76" y="46"/>
                      <a:pt x="75" y="46"/>
                    </a:cubicBezTo>
                    <a:cubicBezTo>
                      <a:pt x="72" y="45"/>
                      <a:pt x="78" y="36"/>
                      <a:pt x="69" y="35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2" y="26"/>
                      <a:pt x="5" y="36"/>
                      <a:pt x="2" y="36"/>
                    </a:cubicBezTo>
                    <a:cubicBezTo>
                      <a:pt x="1" y="36"/>
                      <a:pt x="0" y="35"/>
                      <a:pt x="1" y="34"/>
                    </a:cubicBezTo>
                    <a:cubicBezTo>
                      <a:pt x="1" y="28"/>
                      <a:pt x="2" y="22"/>
                      <a:pt x="3" y="18"/>
                    </a:cubicBezTo>
                    <a:cubicBezTo>
                      <a:pt x="3" y="14"/>
                      <a:pt x="4" y="8"/>
                      <a:pt x="5" y="2"/>
                    </a:cubicBezTo>
                    <a:cubicBezTo>
                      <a:pt x="5" y="1"/>
                      <a:pt x="6" y="0"/>
                      <a:pt x="7" y="0"/>
                    </a:cubicBezTo>
                    <a:cubicBezTo>
                      <a:pt x="10" y="1"/>
                      <a:pt x="4" y="10"/>
                      <a:pt x="13" y="11"/>
                    </a:cubicBezTo>
                    <a:lnTo>
                      <a:pt x="71" y="1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19" name="Freeform 13"/>
              <p:cNvSpPr/>
              <p:nvPr/>
            </p:nvSpPr>
            <p:spPr bwMode="auto">
              <a:xfrm>
                <a:off x="6318838" y="2834081"/>
                <a:ext cx="513896" cy="415438"/>
              </a:xfrm>
              <a:custGeom>
                <a:avLst/>
                <a:gdLst>
                  <a:gd name="T0" fmla="*/ 79 w 90"/>
                  <a:gd name="T1" fmla="*/ 34 h 73"/>
                  <a:gd name="T2" fmla="*/ 65 w 90"/>
                  <a:gd name="T3" fmla="*/ 2 h 73"/>
                  <a:gd name="T4" fmla="*/ 66 w 90"/>
                  <a:gd name="T5" fmla="*/ 2 h 73"/>
                  <a:gd name="T6" fmla="*/ 70 w 90"/>
                  <a:gd name="T7" fmla="*/ 3 h 73"/>
                  <a:gd name="T8" fmla="*/ 88 w 90"/>
                  <a:gd name="T9" fmla="*/ 14 h 73"/>
                  <a:gd name="T10" fmla="*/ 90 w 90"/>
                  <a:gd name="T11" fmla="*/ 15 h 73"/>
                  <a:gd name="T12" fmla="*/ 88 w 90"/>
                  <a:gd name="T13" fmla="*/ 17 h 73"/>
                  <a:gd name="T14" fmla="*/ 87 w 90"/>
                  <a:gd name="T15" fmla="*/ 19 h 73"/>
                  <a:gd name="T16" fmla="*/ 70 w 90"/>
                  <a:gd name="T17" fmla="*/ 67 h 73"/>
                  <a:gd name="T18" fmla="*/ 70 w 90"/>
                  <a:gd name="T19" fmla="*/ 70 h 73"/>
                  <a:gd name="T20" fmla="*/ 71 w 90"/>
                  <a:gd name="T21" fmla="*/ 72 h 73"/>
                  <a:gd name="T22" fmla="*/ 68 w 90"/>
                  <a:gd name="T23" fmla="*/ 73 h 73"/>
                  <a:gd name="T24" fmla="*/ 47 w 90"/>
                  <a:gd name="T25" fmla="*/ 69 h 73"/>
                  <a:gd name="T26" fmla="*/ 43 w 90"/>
                  <a:gd name="T27" fmla="*/ 69 h 73"/>
                  <a:gd name="T28" fmla="*/ 43 w 90"/>
                  <a:gd name="T29" fmla="*/ 67 h 73"/>
                  <a:gd name="T30" fmla="*/ 73 w 90"/>
                  <a:gd name="T31" fmla="*/ 50 h 73"/>
                  <a:gd name="T32" fmla="*/ 14 w 90"/>
                  <a:gd name="T33" fmla="*/ 30 h 73"/>
                  <a:gd name="T34" fmla="*/ 3 w 90"/>
                  <a:gd name="T35" fmla="*/ 36 h 73"/>
                  <a:gd name="T36" fmla="*/ 1 w 90"/>
                  <a:gd name="T37" fmla="*/ 37 h 73"/>
                  <a:gd name="T38" fmla="*/ 0 w 90"/>
                  <a:gd name="T39" fmla="*/ 35 h 73"/>
                  <a:gd name="T40" fmla="*/ 6 w 90"/>
                  <a:gd name="T41" fmla="*/ 19 h 73"/>
                  <a:gd name="T42" fmla="*/ 11 w 90"/>
                  <a:gd name="T43" fmla="*/ 2 h 73"/>
                  <a:gd name="T44" fmla="*/ 13 w 90"/>
                  <a:gd name="T45" fmla="*/ 1 h 73"/>
                  <a:gd name="T46" fmla="*/ 14 w 90"/>
                  <a:gd name="T47" fmla="*/ 3 h 73"/>
                  <a:gd name="T48" fmla="*/ 19 w 90"/>
                  <a:gd name="T49" fmla="*/ 14 h 73"/>
                  <a:gd name="T50" fmla="*/ 79 w 90"/>
                  <a:gd name="T51" fmla="*/ 34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90" h="73">
                    <a:moveTo>
                      <a:pt x="79" y="34"/>
                    </a:moveTo>
                    <a:cubicBezTo>
                      <a:pt x="80" y="11"/>
                      <a:pt x="64" y="5"/>
                      <a:pt x="65" y="2"/>
                    </a:cubicBezTo>
                    <a:cubicBezTo>
                      <a:pt x="65" y="2"/>
                      <a:pt x="65" y="1"/>
                      <a:pt x="66" y="2"/>
                    </a:cubicBezTo>
                    <a:cubicBezTo>
                      <a:pt x="66" y="2"/>
                      <a:pt x="68" y="2"/>
                      <a:pt x="70" y="3"/>
                    </a:cubicBezTo>
                    <a:cubicBezTo>
                      <a:pt x="88" y="14"/>
                      <a:pt x="88" y="14"/>
                      <a:pt x="88" y="14"/>
                    </a:cubicBezTo>
                    <a:cubicBezTo>
                      <a:pt x="90" y="14"/>
                      <a:pt x="90" y="15"/>
                      <a:pt x="90" y="15"/>
                    </a:cubicBezTo>
                    <a:cubicBezTo>
                      <a:pt x="90" y="16"/>
                      <a:pt x="89" y="16"/>
                      <a:pt x="88" y="17"/>
                    </a:cubicBezTo>
                    <a:cubicBezTo>
                      <a:pt x="88" y="17"/>
                      <a:pt x="87" y="18"/>
                      <a:pt x="87" y="19"/>
                    </a:cubicBezTo>
                    <a:cubicBezTo>
                      <a:pt x="70" y="67"/>
                      <a:pt x="70" y="67"/>
                      <a:pt x="70" y="67"/>
                    </a:cubicBezTo>
                    <a:cubicBezTo>
                      <a:pt x="70" y="69"/>
                      <a:pt x="70" y="70"/>
                      <a:pt x="70" y="70"/>
                    </a:cubicBezTo>
                    <a:cubicBezTo>
                      <a:pt x="71" y="71"/>
                      <a:pt x="71" y="71"/>
                      <a:pt x="71" y="72"/>
                    </a:cubicBezTo>
                    <a:cubicBezTo>
                      <a:pt x="70" y="73"/>
                      <a:pt x="70" y="73"/>
                      <a:pt x="68" y="73"/>
                    </a:cubicBezTo>
                    <a:cubicBezTo>
                      <a:pt x="47" y="69"/>
                      <a:pt x="47" y="69"/>
                      <a:pt x="47" y="69"/>
                    </a:cubicBezTo>
                    <a:cubicBezTo>
                      <a:pt x="46" y="69"/>
                      <a:pt x="44" y="69"/>
                      <a:pt x="43" y="69"/>
                    </a:cubicBezTo>
                    <a:cubicBezTo>
                      <a:pt x="43" y="68"/>
                      <a:pt x="42" y="68"/>
                      <a:pt x="43" y="67"/>
                    </a:cubicBezTo>
                    <a:cubicBezTo>
                      <a:pt x="43" y="65"/>
                      <a:pt x="60" y="69"/>
                      <a:pt x="73" y="50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7" y="28"/>
                      <a:pt x="4" y="31"/>
                      <a:pt x="3" y="36"/>
                    </a:cubicBezTo>
                    <a:cubicBezTo>
                      <a:pt x="2" y="37"/>
                      <a:pt x="2" y="38"/>
                      <a:pt x="1" y="37"/>
                    </a:cubicBezTo>
                    <a:cubicBezTo>
                      <a:pt x="0" y="37"/>
                      <a:pt x="0" y="36"/>
                      <a:pt x="0" y="35"/>
                    </a:cubicBezTo>
                    <a:cubicBezTo>
                      <a:pt x="2" y="29"/>
                      <a:pt x="4" y="24"/>
                      <a:pt x="6" y="19"/>
                    </a:cubicBezTo>
                    <a:cubicBezTo>
                      <a:pt x="7" y="14"/>
                      <a:pt x="9" y="8"/>
                      <a:pt x="11" y="2"/>
                    </a:cubicBezTo>
                    <a:cubicBezTo>
                      <a:pt x="12" y="1"/>
                      <a:pt x="12" y="0"/>
                      <a:pt x="13" y="1"/>
                    </a:cubicBezTo>
                    <a:cubicBezTo>
                      <a:pt x="14" y="1"/>
                      <a:pt x="14" y="2"/>
                      <a:pt x="14" y="3"/>
                    </a:cubicBezTo>
                    <a:cubicBezTo>
                      <a:pt x="12" y="8"/>
                      <a:pt x="12" y="12"/>
                      <a:pt x="19" y="14"/>
                    </a:cubicBezTo>
                    <a:lnTo>
                      <a:pt x="79" y="3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0" name="Freeform 14"/>
              <p:cNvSpPr/>
              <p:nvPr/>
            </p:nvSpPr>
            <p:spPr bwMode="auto">
              <a:xfrm>
                <a:off x="6114720" y="3244718"/>
                <a:ext cx="535509" cy="499487"/>
              </a:xfrm>
              <a:custGeom>
                <a:avLst/>
                <a:gdLst>
                  <a:gd name="T0" fmla="*/ 38 w 94"/>
                  <a:gd name="T1" fmla="*/ 42 h 88"/>
                  <a:gd name="T2" fmla="*/ 47 w 94"/>
                  <a:gd name="T3" fmla="*/ 57 h 88"/>
                  <a:gd name="T4" fmla="*/ 56 w 94"/>
                  <a:gd name="T5" fmla="*/ 68 h 88"/>
                  <a:gd name="T6" fmla="*/ 67 w 94"/>
                  <a:gd name="T7" fmla="*/ 66 h 88"/>
                  <a:gd name="T8" fmla="*/ 67 w 94"/>
                  <a:gd name="T9" fmla="*/ 69 h 88"/>
                  <a:gd name="T10" fmla="*/ 61 w 94"/>
                  <a:gd name="T11" fmla="*/ 78 h 88"/>
                  <a:gd name="T12" fmla="*/ 55 w 94"/>
                  <a:gd name="T13" fmla="*/ 87 h 88"/>
                  <a:gd name="T14" fmla="*/ 54 w 94"/>
                  <a:gd name="T15" fmla="*/ 88 h 88"/>
                  <a:gd name="T16" fmla="*/ 48 w 94"/>
                  <a:gd name="T17" fmla="*/ 65 h 88"/>
                  <a:gd name="T18" fmla="*/ 36 w 94"/>
                  <a:gd name="T19" fmla="*/ 42 h 88"/>
                  <a:gd name="T20" fmla="*/ 13 w 94"/>
                  <a:gd name="T21" fmla="*/ 27 h 88"/>
                  <a:gd name="T22" fmla="*/ 1 w 94"/>
                  <a:gd name="T23" fmla="*/ 31 h 88"/>
                  <a:gd name="T24" fmla="*/ 1 w 94"/>
                  <a:gd name="T25" fmla="*/ 29 h 88"/>
                  <a:gd name="T26" fmla="*/ 9 w 94"/>
                  <a:gd name="T27" fmla="*/ 16 h 88"/>
                  <a:gd name="T28" fmla="*/ 17 w 94"/>
                  <a:gd name="T29" fmla="*/ 2 h 88"/>
                  <a:gd name="T30" fmla="*/ 20 w 94"/>
                  <a:gd name="T31" fmla="*/ 1 h 88"/>
                  <a:gd name="T32" fmla="*/ 21 w 94"/>
                  <a:gd name="T33" fmla="*/ 13 h 88"/>
                  <a:gd name="T34" fmla="*/ 43 w 94"/>
                  <a:gd name="T35" fmla="*/ 27 h 88"/>
                  <a:gd name="T36" fmla="*/ 80 w 94"/>
                  <a:gd name="T37" fmla="*/ 29 h 88"/>
                  <a:gd name="T38" fmla="*/ 93 w 94"/>
                  <a:gd name="T39" fmla="*/ 24 h 88"/>
                  <a:gd name="T40" fmla="*/ 93 w 94"/>
                  <a:gd name="T41" fmla="*/ 26 h 88"/>
                  <a:gd name="T42" fmla="*/ 85 w 94"/>
                  <a:gd name="T43" fmla="*/ 39 h 88"/>
                  <a:gd name="T44" fmla="*/ 77 w 94"/>
                  <a:gd name="T45" fmla="*/ 53 h 88"/>
                  <a:gd name="T46" fmla="*/ 74 w 94"/>
                  <a:gd name="T47" fmla="*/ 54 h 88"/>
                  <a:gd name="T48" fmla="*/ 73 w 94"/>
                  <a:gd name="T49" fmla="*/ 45 h 88"/>
                  <a:gd name="T50" fmla="*/ 67 w 94"/>
                  <a:gd name="T51" fmla="*/ 44 h 88"/>
                  <a:gd name="T52" fmla="*/ 38 w 94"/>
                  <a:gd name="T53" fmla="*/ 42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4" h="88">
                    <a:moveTo>
                      <a:pt x="38" y="42"/>
                    </a:moveTo>
                    <a:cubicBezTo>
                      <a:pt x="47" y="57"/>
                      <a:pt x="47" y="57"/>
                      <a:pt x="47" y="57"/>
                    </a:cubicBezTo>
                    <a:cubicBezTo>
                      <a:pt x="50" y="63"/>
                      <a:pt x="53" y="66"/>
                      <a:pt x="56" y="68"/>
                    </a:cubicBezTo>
                    <a:cubicBezTo>
                      <a:pt x="62" y="72"/>
                      <a:pt x="65" y="65"/>
                      <a:pt x="67" y="66"/>
                    </a:cubicBezTo>
                    <a:cubicBezTo>
                      <a:pt x="67" y="67"/>
                      <a:pt x="67" y="68"/>
                      <a:pt x="67" y="69"/>
                    </a:cubicBezTo>
                    <a:cubicBezTo>
                      <a:pt x="65" y="72"/>
                      <a:pt x="63" y="74"/>
                      <a:pt x="61" y="78"/>
                    </a:cubicBezTo>
                    <a:cubicBezTo>
                      <a:pt x="59" y="81"/>
                      <a:pt x="57" y="84"/>
                      <a:pt x="55" y="87"/>
                    </a:cubicBezTo>
                    <a:cubicBezTo>
                      <a:pt x="55" y="88"/>
                      <a:pt x="54" y="88"/>
                      <a:pt x="54" y="88"/>
                    </a:cubicBezTo>
                    <a:cubicBezTo>
                      <a:pt x="52" y="86"/>
                      <a:pt x="57" y="84"/>
                      <a:pt x="48" y="65"/>
                    </a:cubicBezTo>
                    <a:cubicBezTo>
                      <a:pt x="36" y="42"/>
                      <a:pt x="36" y="42"/>
                      <a:pt x="36" y="42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5" y="23"/>
                      <a:pt x="3" y="33"/>
                      <a:pt x="1" y="31"/>
                    </a:cubicBezTo>
                    <a:cubicBezTo>
                      <a:pt x="0" y="31"/>
                      <a:pt x="0" y="30"/>
                      <a:pt x="1" y="29"/>
                    </a:cubicBezTo>
                    <a:cubicBezTo>
                      <a:pt x="4" y="24"/>
                      <a:pt x="7" y="19"/>
                      <a:pt x="9" y="16"/>
                    </a:cubicBezTo>
                    <a:cubicBezTo>
                      <a:pt x="12" y="12"/>
                      <a:pt x="14" y="7"/>
                      <a:pt x="17" y="2"/>
                    </a:cubicBezTo>
                    <a:cubicBezTo>
                      <a:pt x="18" y="1"/>
                      <a:pt x="19" y="0"/>
                      <a:pt x="20" y="1"/>
                    </a:cubicBezTo>
                    <a:cubicBezTo>
                      <a:pt x="23" y="3"/>
                      <a:pt x="14" y="9"/>
                      <a:pt x="21" y="13"/>
                    </a:cubicBezTo>
                    <a:cubicBezTo>
                      <a:pt x="43" y="27"/>
                      <a:pt x="43" y="27"/>
                      <a:pt x="43" y="27"/>
                    </a:cubicBezTo>
                    <a:cubicBezTo>
                      <a:pt x="80" y="29"/>
                      <a:pt x="80" y="29"/>
                      <a:pt x="80" y="29"/>
                    </a:cubicBezTo>
                    <a:cubicBezTo>
                      <a:pt x="91" y="29"/>
                      <a:pt x="91" y="22"/>
                      <a:pt x="93" y="24"/>
                    </a:cubicBezTo>
                    <a:cubicBezTo>
                      <a:pt x="94" y="24"/>
                      <a:pt x="94" y="25"/>
                      <a:pt x="93" y="26"/>
                    </a:cubicBezTo>
                    <a:cubicBezTo>
                      <a:pt x="91" y="31"/>
                      <a:pt x="88" y="35"/>
                      <a:pt x="85" y="39"/>
                    </a:cubicBezTo>
                    <a:cubicBezTo>
                      <a:pt x="82" y="44"/>
                      <a:pt x="79" y="48"/>
                      <a:pt x="77" y="53"/>
                    </a:cubicBezTo>
                    <a:cubicBezTo>
                      <a:pt x="76" y="54"/>
                      <a:pt x="75" y="55"/>
                      <a:pt x="74" y="54"/>
                    </a:cubicBezTo>
                    <a:cubicBezTo>
                      <a:pt x="72" y="53"/>
                      <a:pt x="78" y="49"/>
                      <a:pt x="73" y="45"/>
                    </a:cubicBezTo>
                    <a:cubicBezTo>
                      <a:pt x="71" y="44"/>
                      <a:pt x="69" y="44"/>
                      <a:pt x="67" y="44"/>
                    </a:cubicBezTo>
                    <a:lnTo>
                      <a:pt x="38" y="4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1" name="Freeform 15"/>
              <p:cNvSpPr/>
              <p:nvPr/>
            </p:nvSpPr>
            <p:spPr bwMode="auto">
              <a:xfrm>
                <a:off x="2579885" y="3271133"/>
                <a:ext cx="523502" cy="456263"/>
              </a:xfrm>
              <a:custGeom>
                <a:avLst/>
                <a:gdLst>
                  <a:gd name="T0" fmla="*/ 66 w 92"/>
                  <a:gd name="T1" fmla="*/ 60 h 80"/>
                  <a:gd name="T2" fmla="*/ 64 w 92"/>
                  <a:gd name="T3" fmla="*/ 60 h 80"/>
                  <a:gd name="T4" fmla="*/ 66 w 92"/>
                  <a:gd name="T5" fmla="*/ 57 h 80"/>
                  <a:gd name="T6" fmla="*/ 76 w 92"/>
                  <a:gd name="T7" fmla="*/ 20 h 80"/>
                  <a:gd name="T8" fmla="*/ 54 w 92"/>
                  <a:gd name="T9" fmla="*/ 13 h 80"/>
                  <a:gd name="T10" fmla="*/ 46 w 92"/>
                  <a:gd name="T11" fmla="*/ 73 h 80"/>
                  <a:gd name="T12" fmla="*/ 13 w 92"/>
                  <a:gd name="T13" fmla="*/ 65 h 80"/>
                  <a:gd name="T14" fmla="*/ 6 w 92"/>
                  <a:gd name="T15" fmla="*/ 46 h 80"/>
                  <a:gd name="T16" fmla="*/ 0 w 92"/>
                  <a:gd name="T17" fmla="*/ 44 h 80"/>
                  <a:gd name="T18" fmla="*/ 1 w 92"/>
                  <a:gd name="T19" fmla="*/ 42 h 80"/>
                  <a:gd name="T20" fmla="*/ 18 w 92"/>
                  <a:gd name="T21" fmla="*/ 28 h 80"/>
                  <a:gd name="T22" fmla="*/ 21 w 92"/>
                  <a:gd name="T23" fmla="*/ 26 h 80"/>
                  <a:gd name="T24" fmla="*/ 22 w 92"/>
                  <a:gd name="T25" fmla="*/ 26 h 80"/>
                  <a:gd name="T26" fmla="*/ 18 w 92"/>
                  <a:gd name="T27" fmla="*/ 33 h 80"/>
                  <a:gd name="T28" fmla="*/ 15 w 92"/>
                  <a:gd name="T29" fmla="*/ 63 h 80"/>
                  <a:gd name="T30" fmla="*/ 33 w 92"/>
                  <a:gd name="T31" fmla="*/ 69 h 80"/>
                  <a:gd name="T32" fmla="*/ 40 w 92"/>
                  <a:gd name="T33" fmla="*/ 9 h 80"/>
                  <a:gd name="T34" fmla="*/ 78 w 92"/>
                  <a:gd name="T35" fmla="*/ 19 h 80"/>
                  <a:gd name="T36" fmla="*/ 86 w 92"/>
                  <a:gd name="T37" fmla="*/ 39 h 80"/>
                  <a:gd name="T38" fmla="*/ 92 w 92"/>
                  <a:gd name="T39" fmla="*/ 42 h 80"/>
                  <a:gd name="T40" fmla="*/ 92 w 92"/>
                  <a:gd name="T41" fmla="*/ 43 h 80"/>
                  <a:gd name="T42" fmla="*/ 66 w 92"/>
                  <a:gd name="T43" fmla="*/ 6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92" h="80">
                    <a:moveTo>
                      <a:pt x="66" y="60"/>
                    </a:moveTo>
                    <a:cubicBezTo>
                      <a:pt x="64" y="61"/>
                      <a:pt x="64" y="61"/>
                      <a:pt x="64" y="60"/>
                    </a:cubicBezTo>
                    <a:cubicBezTo>
                      <a:pt x="63" y="59"/>
                      <a:pt x="64" y="59"/>
                      <a:pt x="66" y="57"/>
                    </a:cubicBezTo>
                    <a:cubicBezTo>
                      <a:pt x="76" y="47"/>
                      <a:pt x="85" y="34"/>
                      <a:pt x="76" y="20"/>
                    </a:cubicBezTo>
                    <a:cubicBezTo>
                      <a:pt x="70" y="11"/>
                      <a:pt x="61" y="8"/>
                      <a:pt x="54" y="13"/>
                    </a:cubicBezTo>
                    <a:cubicBezTo>
                      <a:pt x="35" y="26"/>
                      <a:pt x="69" y="57"/>
                      <a:pt x="46" y="73"/>
                    </a:cubicBezTo>
                    <a:cubicBezTo>
                      <a:pt x="35" y="80"/>
                      <a:pt x="20" y="76"/>
                      <a:pt x="13" y="65"/>
                    </a:cubicBezTo>
                    <a:cubicBezTo>
                      <a:pt x="7" y="56"/>
                      <a:pt x="7" y="49"/>
                      <a:pt x="6" y="46"/>
                    </a:cubicBezTo>
                    <a:cubicBezTo>
                      <a:pt x="3" y="43"/>
                      <a:pt x="2" y="46"/>
                      <a:pt x="0" y="44"/>
                    </a:cubicBezTo>
                    <a:cubicBezTo>
                      <a:pt x="0" y="44"/>
                      <a:pt x="0" y="43"/>
                      <a:pt x="1" y="42"/>
                    </a:cubicBezTo>
                    <a:cubicBezTo>
                      <a:pt x="18" y="28"/>
                      <a:pt x="18" y="28"/>
                      <a:pt x="18" y="28"/>
                    </a:cubicBezTo>
                    <a:cubicBezTo>
                      <a:pt x="20" y="27"/>
                      <a:pt x="21" y="26"/>
                      <a:pt x="21" y="26"/>
                    </a:cubicBezTo>
                    <a:cubicBezTo>
                      <a:pt x="22" y="26"/>
                      <a:pt x="22" y="26"/>
                      <a:pt x="22" y="26"/>
                    </a:cubicBezTo>
                    <a:cubicBezTo>
                      <a:pt x="23" y="27"/>
                      <a:pt x="21" y="29"/>
                      <a:pt x="18" y="33"/>
                    </a:cubicBezTo>
                    <a:cubicBezTo>
                      <a:pt x="11" y="44"/>
                      <a:pt x="8" y="53"/>
                      <a:pt x="15" y="63"/>
                    </a:cubicBezTo>
                    <a:cubicBezTo>
                      <a:pt x="19" y="70"/>
                      <a:pt x="26" y="73"/>
                      <a:pt x="33" y="69"/>
                    </a:cubicBezTo>
                    <a:cubicBezTo>
                      <a:pt x="48" y="58"/>
                      <a:pt x="14" y="26"/>
                      <a:pt x="40" y="9"/>
                    </a:cubicBezTo>
                    <a:cubicBezTo>
                      <a:pt x="52" y="0"/>
                      <a:pt x="69" y="5"/>
                      <a:pt x="78" y="19"/>
                    </a:cubicBezTo>
                    <a:cubicBezTo>
                      <a:pt x="85" y="28"/>
                      <a:pt x="83" y="35"/>
                      <a:pt x="86" y="39"/>
                    </a:cubicBezTo>
                    <a:cubicBezTo>
                      <a:pt x="88" y="43"/>
                      <a:pt x="91" y="40"/>
                      <a:pt x="92" y="42"/>
                    </a:cubicBezTo>
                    <a:cubicBezTo>
                      <a:pt x="92" y="42"/>
                      <a:pt x="92" y="43"/>
                      <a:pt x="92" y="43"/>
                    </a:cubicBezTo>
                    <a:lnTo>
                      <a:pt x="66" y="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2" name="Freeform 16"/>
              <p:cNvSpPr/>
              <p:nvPr/>
            </p:nvSpPr>
            <p:spPr bwMode="auto">
              <a:xfrm>
                <a:off x="2310930" y="2721217"/>
                <a:ext cx="564325" cy="578732"/>
              </a:xfrm>
              <a:custGeom>
                <a:avLst/>
                <a:gdLst>
                  <a:gd name="T0" fmla="*/ 32 w 99"/>
                  <a:gd name="T1" fmla="*/ 90 h 102"/>
                  <a:gd name="T2" fmla="*/ 27 w 99"/>
                  <a:gd name="T3" fmla="*/ 102 h 102"/>
                  <a:gd name="T4" fmla="*/ 25 w 99"/>
                  <a:gd name="T5" fmla="*/ 101 h 102"/>
                  <a:gd name="T6" fmla="*/ 20 w 99"/>
                  <a:gd name="T7" fmla="*/ 86 h 102"/>
                  <a:gd name="T8" fmla="*/ 15 w 99"/>
                  <a:gd name="T9" fmla="*/ 71 h 102"/>
                  <a:gd name="T10" fmla="*/ 16 w 99"/>
                  <a:gd name="T11" fmla="*/ 68 h 102"/>
                  <a:gd name="T12" fmla="*/ 26 w 99"/>
                  <a:gd name="T13" fmla="*/ 75 h 102"/>
                  <a:gd name="T14" fmla="*/ 51 w 99"/>
                  <a:gd name="T15" fmla="*/ 67 h 102"/>
                  <a:gd name="T16" fmla="*/ 42 w 99"/>
                  <a:gd name="T17" fmla="*/ 38 h 102"/>
                  <a:gd name="T18" fmla="*/ 17 w 99"/>
                  <a:gd name="T19" fmla="*/ 47 h 102"/>
                  <a:gd name="T20" fmla="*/ 13 w 99"/>
                  <a:gd name="T21" fmla="*/ 58 h 102"/>
                  <a:gd name="T22" fmla="*/ 10 w 99"/>
                  <a:gd name="T23" fmla="*/ 57 h 102"/>
                  <a:gd name="T24" fmla="*/ 6 w 99"/>
                  <a:gd name="T25" fmla="*/ 42 h 102"/>
                  <a:gd name="T26" fmla="*/ 0 w 99"/>
                  <a:gd name="T27" fmla="*/ 27 h 102"/>
                  <a:gd name="T28" fmla="*/ 1 w 99"/>
                  <a:gd name="T29" fmla="*/ 24 h 102"/>
                  <a:gd name="T30" fmla="*/ 12 w 99"/>
                  <a:gd name="T31" fmla="*/ 31 h 102"/>
                  <a:gd name="T32" fmla="*/ 67 w 99"/>
                  <a:gd name="T33" fmla="*/ 12 h 102"/>
                  <a:gd name="T34" fmla="*/ 71 w 99"/>
                  <a:gd name="T35" fmla="*/ 1 h 102"/>
                  <a:gd name="T36" fmla="*/ 74 w 99"/>
                  <a:gd name="T37" fmla="*/ 2 h 102"/>
                  <a:gd name="T38" fmla="*/ 78 w 99"/>
                  <a:gd name="T39" fmla="*/ 17 h 102"/>
                  <a:gd name="T40" fmla="*/ 84 w 99"/>
                  <a:gd name="T41" fmla="*/ 32 h 102"/>
                  <a:gd name="T42" fmla="*/ 83 w 99"/>
                  <a:gd name="T43" fmla="*/ 35 h 102"/>
                  <a:gd name="T44" fmla="*/ 72 w 99"/>
                  <a:gd name="T45" fmla="*/ 28 h 102"/>
                  <a:gd name="T46" fmla="*/ 44 w 99"/>
                  <a:gd name="T47" fmla="*/ 38 h 102"/>
                  <a:gd name="T48" fmla="*/ 54 w 99"/>
                  <a:gd name="T49" fmla="*/ 66 h 102"/>
                  <a:gd name="T50" fmla="*/ 82 w 99"/>
                  <a:gd name="T51" fmla="*/ 56 h 102"/>
                  <a:gd name="T52" fmla="*/ 86 w 99"/>
                  <a:gd name="T53" fmla="*/ 44 h 102"/>
                  <a:gd name="T54" fmla="*/ 88 w 99"/>
                  <a:gd name="T55" fmla="*/ 46 h 102"/>
                  <a:gd name="T56" fmla="*/ 93 w 99"/>
                  <a:gd name="T57" fmla="*/ 61 h 102"/>
                  <a:gd name="T58" fmla="*/ 98 w 99"/>
                  <a:gd name="T59" fmla="*/ 76 h 102"/>
                  <a:gd name="T60" fmla="*/ 98 w 99"/>
                  <a:gd name="T61" fmla="*/ 79 h 102"/>
                  <a:gd name="T62" fmla="*/ 87 w 99"/>
                  <a:gd name="T63" fmla="*/ 72 h 102"/>
                  <a:gd name="T64" fmla="*/ 32 w 99"/>
                  <a:gd name="T65" fmla="*/ 90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99" h="102">
                    <a:moveTo>
                      <a:pt x="32" y="90"/>
                    </a:moveTo>
                    <a:cubicBezTo>
                      <a:pt x="23" y="93"/>
                      <a:pt x="30" y="101"/>
                      <a:pt x="27" y="102"/>
                    </a:cubicBezTo>
                    <a:cubicBezTo>
                      <a:pt x="26" y="102"/>
                      <a:pt x="26" y="102"/>
                      <a:pt x="25" y="101"/>
                    </a:cubicBezTo>
                    <a:cubicBezTo>
                      <a:pt x="23" y="95"/>
                      <a:pt x="22" y="90"/>
                      <a:pt x="20" y="86"/>
                    </a:cubicBezTo>
                    <a:cubicBezTo>
                      <a:pt x="19" y="81"/>
                      <a:pt x="17" y="76"/>
                      <a:pt x="15" y="71"/>
                    </a:cubicBezTo>
                    <a:cubicBezTo>
                      <a:pt x="15" y="69"/>
                      <a:pt x="15" y="68"/>
                      <a:pt x="16" y="68"/>
                    </a:cubicBezTo>
                    <a:cubicBezTo>
                      <a:pt x="19" y="67"/>
                      <a:pt x="18" y="78"/>
                      <a:pt x="26" y="75"/>
                    </a:cubicBezTo>
                    <a:cubicBezTo>
                      <a:pt x="51" y="67"/>
                      <a:pt x="51" y="67"/>
                      <a:pt x="51" y="67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17" y="47"/>
                      <a:pt x="17" y="47"/>
                      <a:pt x="17" y="47"/>
                    </a:cubicBezTo>
                    <a:cubicBezTo>
                      <a:pt x="8" y="50"/>
                      <a:pt x="16" y="57"/>
                      <a:pt x="13" y="58"/>
                    </a:cubicBezTo>
                    <a:cubicBezTo>
                      <a:pt x="12" y="59"/>
                      <a:pt x="11" y="58"/>
                      <a:pt x="10" y="57"/>
                    </a:cubicBezTo>
                    <a:cubicBezTo>
                      <a:pt x="9" y="51"/>
                      <a:pt x="7" y="46"/>
                      <a:pt x="6" y="42"/>
                    </a:cubicBezTo>
                    <a:cubicBezTo>
                      <a:pt x="4" y="37"/>
                      <a:pt x="2" y="32"/>
                      <a:pt x="0" y="27"/>
                    </a:cubicBezTo>
                    <a:cubicBezTo>
                      <a:pt x="0" y="25"/>
                      <a:pt x="0" y="25"/>
                      <a:pt x="1" y="24"/>
                    </a:cubicBezTo>
                    <a:cubicBezTo>
                      <a:pt x="4" y="23"/>
                      <a:pt x="3" y="34"/>
                      <a:pt x="12" y="31"/>
                    </a:cubicBezTo>
                    <a:cubicBezTo>
                      <a:pt x="67" y="12"/>
                      <a:pt x="67" y="12"/>
                      <a:pt x="67" y="12"/>
                    </a:cubicBezTo>
                    <a:cubicBezTo>
                      <a:pt x="76" y="9"/>
                      <a:pt x="68" y="2"/>
                      <a:pt x="71" y="1"/>
                    </a:cubicBezTo>
                    <a:cubicBezTo>
                      <a:pt x="72" y="0"/>
                      <a:pt x="73" y="1"/>
                      <a:pt x="74" y="2"/>
                    </a:cubicBezTo>
                    <a:cubicBezTo>
                      <a:pt x="75" y="8"/>
                      <a:pt x="77" y="13"/>
                      <a:pt x="78" y="17"/>
                    </a:cubicBezTo>
                    <a:cubicBezTo>
                      <a:pt x="80" y="22"/>
                      <a:pt x="82" y="27"/>
                      <a:pt x="84" y="32"/>
                    </a:cubicBezTo>
                    <a:cubicBezTo>
                      <a:pt x="84" y="34"/>
                      <a:pt x="84" y="34"/>
                      <a:pt x="83" y="35"/>
                    </a:cubicBezTo>
                    <a:cubicBezTo>
                      <a:pt x="80" y="36"/>
                      <a:pt x="81" y="25"/>
                      <a:pt x="72" y="28"/>
                    </a:cubicBezTo>
                    <a:cubicBezTo>
                      <a:pt x="44" y="38"/>
                      <a:pt x="44" y="38"/>
                      <a:pt x="44" y="38"/>
                    </a:cubicBezTo>
                    <a:cubicBezTo>
                      <a:pt x="54" y="66"/>
                      <a:pt x="54" y="66"/>
                      <a:pt x="54" y="66"/>
                    </a:cubicBezTo>
                    <a:cubicBezTo>
                      <a:pt x="82" y="56"/>
                      <a:pt x="82" y="56"/>
                      <a:pt x="82" y="56"/>
                    </a:cubicBezTo>
                    <a:cubicBezTo>
                      <a:pt x="90" y="53"/>
                      <a:pt x="83" y="45"/>
                      <a:pt x="86" y="44"/>
                    </a:cubicBezTo>
                    <a:cubicBezTo>
                      <a:pt x="87" y="44"/>
                      <a:pt x="88" y="44"/>
                      <a:pt x="88" y="46"/>
                    </a:cubicBezTo>
                    <a:cubicBezTo>
                      <a:pt x="90" y="52"/>
                      <a:pt x="92" y="57"/>
                      <a:pt x="93" y="61"/>
                    </a:cubicBezTo>
                    <a:cubicBezTo>
                      <a:pt x="95" y="65"/>
                      <a:pt x="97" y="70"/>
                      <a:pt x="98" y="76"/>
                    </a:cubicBezTo>
                    <a:cubicBezTo>
                      <a:pt x="99" y="78"/>
                      <a:pt x="99" y="78"/>
                      <a:pt x="98" y="79"/>
                    </a:cubicBezTo>
                    <a:cubicBezTo>
                      <a:pt x="95" y="80"/>
                      <a:pt x="96" y="69"/>
                      <a:pt x="87" y="72"/>
                    </a:cubicBezTo>
                    <a:lnTo>
                      <a:pt x="32" y="9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3" name="Freeform 17"/>
              <p:cNvSpPr/>
              <p:nvPr/>
            </p:nvSpPr>
            <p:spPr bwMode="auto">
              <a:xfrm>
                <a:off x="2260502" y="2252947"/>
                <a:ext cx="456263" cy="403432"/>
              </a:xfrm>
              <a:custGeom>
                <a:avLst/>
                <a:gdLst>
                  <a:gd name="T0" fmla="*/ 12 w 80"/>
                  <a:gd name="T1" fmla="*/ 61 h 71"/>
                  <a:gd name="T2" fmla="*/ 4 w 80"/>
                  <a:gd name="T3" fmla="*/ 71 h 71"/>
                  <a:gd name="T4" fmla="*/ 3 w 80"/>
                  <a:gd name="T5" fmla="*/ 69 h 71"/>
                  <a:gd name="T6" fmla="*/ 2 w 80"/>
                  <a:gd name="T7" fmla="*/ 53 h 71"/>
                  <a:gd name="T8" fmla="*/ 0 w 80"/>
                  <a:gd name="T9" fmla="*/ 12 h 71"/>
                  <a:gd name="T10" fmla="*/ 21 w 80"/>
                  <a:gd name="T11" fmla="*/ 6 h 71"/>
                  <a:gd name="T12" fmla="*/ 24 w 80"/>
                  <a:gd name="T13" fmla="*/ 5 h 71"/>
                  <a:gd name="T14" fmla="*/ 25 w 80"/>
                  <a:gd name="T15" fmla="*/ 6 h 71"/>
                  <a:gd name="T16" fmla="*/ 16 w 80"/>
                  <a:gd name="T17" fmla="*/ 12 h 71"/>
                  <a:gd name="T18" fmla="*/ 4 w 80"/>
                  <a:gd name="T19" fmla="*/ 39 h 71"/>
                  <a:gd name="T20" fmla="*/ 4 w 80"/>
                  <a:gd name="T21" fmla="*/ 45 h 71"/>
                  <a:gd name="T22" fmla="*/ 37 w 80"/>
                  <a:gd name="T23" fmla="*/ 43 h 71"/>
                  <a:gd name="T24" fmla="*/ 37 w 80"/>
                  <a:gd name="T25" fmla="*/ 40 h 71"/>
                  <a:gd name="T26" fmla="*/ 22 w 80"/>
                  <a:gd name="T27" fmla="*/ 27 h 71"/>
                  <a:gd name="T28" fmla="*/ 19 w 80"/>
                  <a:gd name="T29" fmla="*/ 25 h 71"/>
                  <a:gd name="T30" fmla="*/ 21 w 80"/>
                  <a:gd name="T31" fmla="*/ 24 h 71"/>
                  <a:gd name="T32" fmla="*/ 55 w 80"/>
                  <a:gd name="T33" fmla="*/ 22 h 71"/>
                  <a:gd name="T34" fmla="*/ 57 w 80"/>
                  <a:gd name="T35" fmla="*/ 24 h 71"/>
                  <a:gd name="T36" fmla="*/ 54 w 80"/>
                  <a:gd name="T37" fmla="*/ 25 h 71"/>
                  <a:gd name="T38" fmla="*/ 39 w 80"/>
                  <a:gd name="T39" fmla="*/ 40 h 71"/>
                  <a:gd name="T40" fmla="*/ 40 w 80"/>
                  <a:gd name="T41" fmla="*/ 43 h 71"/>
                  <a:gd name="T42" fmla="*/ 68 w 80"/>
                  <a:gd name="T43" fmla="*/ 42 h 71"/>
                  <a:gd name="T44" fmla="*/ 76 w 80"/>
                  <a:gd name="T45" fmla="*/ 32 h 71"/>
                  <a:gd name="T46" fmla="*/ 50 w 80"/>
                  <a:gd name="T47" fmla="*/ 2 h 71"/>
                  <a:gd name="T48" fmla="*/ 47 w 80"/>
                  <a:gd name="T49" fmla="*/ 1 h 71"/>
                  <a:gd name="T50" fmla="*/ 48 w 80"/>
                  <a:gd name="T51" fmla="*/ 0 h 71"/>
                  <a:gd name="T52" fmla="*/ 52 w 80"/>
                  <a:gd name="T53" fmla="*/ 0 h 71"/>
                  <a:gd name="T54" fmla="*/ 77 w 80"/>
                  <a:gd name="T55" fmla="*/ 4 h 71"/>
                  <a:gd name="T56" fmla="*/ 79 w 80"/>
                  <a:gd name="T57" fmla="*/ 49 h 71"/>
                  <a:gd name="T58" fmla="*/ 80 w 80"/>
                  <a:gd name="T59" fmla="*/ 65 h 71"/>
                  <a:gd name="T60" fmla="*/ 78 w 80"/>
                  <a:gd name="T61" fmla="*/ 67 h 71"/>
                  <a:gd name="T62" fmla="*/ 70 w 80"/>
                  <a:gd name="T63" fmla="*/ 58 h 71"/>
                  <a:gd name="T64" fmla="*/ 12 w 80"/>
                  <a:gd name="T65" fmla="*/ 6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0" h="71">
                    <a:moveTo>
                      <a:pt x="12" y="61"/>
                    </a:moveTo>
                    <a:cubicBezTo>
                      <a:pt x="3" y="61"/>
                      <a:pt x="8" y="71"/>
                      <a:pt x="4" y="71"/>
                    </a:cubicBezTo>
                    <a:cubicBezTo>
                      <a:pt x="3" y="71"/>
                      <a:pt x="3" y="71"/>
                      <a:pt x="3" y="69"/>
                    </a:cubicBezTo>
                    <a:cubicBezTo>
                      <a:pt x="2" y="63"/>
                      <a:pt x="2" y="58"/>
                      <a:pt x="2" y="53"/>
                    </a:cubicBezTo>
                    <a:cubicBezTo>
                      <a:pt x="2" y="39"/>
                      <a:pt x="1" y="26"/>
                      <a:pt x="0" y="12"/>
                    </a:cubicBezTo>
                    <a:cubicBezTo>
                      <a:pt x="21" y="6"/>
                      <a:pt x="21" y="6"/>
                      <a:pt x="21" y="6"/>
                    </a:cubicBezTo>
                    <a:cubicBezTo>
                      <a:pt x="23" y="5"/>
                      <a:pt x="24" y="5"/>
                      <a:pt x="24" y="5"/>
                    </a:cubicBezTo>
                    <a:cubicBezTo>
                      <a:pt x="25" y="5"/>
                      <a:pt x="25" y="5"/>
                      <a:pt x="25" y="6"/>
                    </a:cubicBezTo>
                    <a:cubicBezTo>
                      <a:pt x="25" y="7"/>
                      <a:pt x="23" y="7"/>
                      <a:pt x="16" y="12"/>
                    </a:cubicBezTo>
                    <a:cubicBezTo>
                      <a:pt x="8" y="17"/>
                      <a:pt x="3" y="25"/>
                      <a:pt x="4" y="39"/>
                    </a:cubicBezTo>
                    <a:cubicBezTo>
                      <a:pt x="4" y="45"/>
                      <a:pt x="4" y="45"/>
                      <a:pt x="4" y="45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6" y="32"/>
                      <a:pt x="30" y="27"/>
                      <a:pt x="22" y="27"/>
                    </a:cubicBezTo>
                    <a:cubicBezTo>
                      <a:pt x="20" y="27"/>
                      <a:pt x="19" y="27"/>
                      <a:pt x="19" y="25"/>
                    </a:cubicBezTo>
                    <a:cubicBezTo>
                      <a:pt x="19" y="25"/>
                      <a:pt x="20" y="24"/>
                      <a:pt x="21" y="24"/>
                    </a:cubicBezTo>
                    <a:cubicBezTo>
                      <a:pt x="55" y="22"/>
                      <a:pt x="55" y="22"/>
                      <a:pt x="55" y="22"/>
                    </a:cubicBezTo>
                    <a:cubicBezTo>
                      <a:pt x="56" y="22"/>
                      <a:pt x="57" y="23"/>
                      <a:pt x="57" y="24"/>
                    </a:cubicBezTo>
                    <a:cubicBezTo>
                      <a:pt x="57" y="25"/>
                      <a:pt x="56" y="25"/>
                      <a:pt x="54" y="25"/>
                    </a:cubicBezTo>
                    <a:cubicBezTo>
                      <a:pt x="44" y="26"/>
                      <a:pt x="39" y="32"/>
                      <a:pt x="39" y="40"/>
                    </a:cubicBezTo>
                    <a:cubicBezTo>
                      <a:pt x="40" y="43"/>
                      <a:pt x="40" y="43"/>
                      <a:pt x="40" y="43"/>
                    </a:cubicBezTo>
                    <a:cubicBezTo>
                      <a:pt x="68" y="42"/>
                      <a:pt x="68" y="42"/>
                      <a:pt x="68" y="42"/>
                    </a:cubicBezTo>
                    <a:cubicBezTo>
                      <a:pt x="73" y="41"/>
                      <a:pt x="76" y="39"/>
                      <a:pt x="76" y="32"/>
                    </a:cubicBezTo>
                    <a:cubicBezTo>
                      <a:pt x="75" y="14"/>
                      <a:pt x="62" y="5"/>
                      <a:pt x="50" y="2"/>
                    </a:cubicBezTo>
                    <a:cubicBezTo>
                      <a:pt x="48" y="2"/>
                      <a:pt x="47" y="2"/>
                      <a:pt x="47" y="1"/>
                    </a:cubicBezTo>
                    <a:cubicBezTo>
                      <a:pt x="47" y="0"/>
                      <a:pt x="48" y="0"/>
                      <a:pt x="48" y="0"/>
                    </a:cubicBezTo>
                    <a:cubicBezTo>
                      <a:pt x="49" y="0"/>
                      <a:pt x="50" y="0"/>
                      <a:pt x="52" y="0"/>
                    </a:cubicBezTo>
                    <a:cubicBezTo>
                      <a:pt x="77" y="4"/>
                      <a:pt x="77" y="4"/>
                      <a:pt x="77" y="4"/>
                    </a:cubicBezTo>
                    <a:cubicBezTo>
                      <a:pt x="77" y="19"/>
                      <a:pt x="78" y="34"/>
                      <a:pt x="79" y="49"/>
                    </a:cubicBezTo>
                    <a:cubicBezTo>
                      <a:pt x="79" y="54"/>
                      <a:pt x="80" y="59"/>
                      <a:pt x="80" y="65"/>
                    </a:cubicBezTo>
                    <a:cubicBezTo>
                      <a:pt x="80" y="67"/>
                      <a:pt x="79" y="67"/>
                      <a:pt x="78" y="67"/>
                    </a:cubicBezTo>
                    <a:cubicBezTo>
                      <a:pt x="75" y="68"/>
                      <a:pt x="79" y="58"/>
                      <a:pt x="70" y="58"/>
                    </a:cubicBezTo>
                    <a:lnTo>
                      <a:pt x="12" y="6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4" name="Freeform 18"/>
              <p:cNvSpPr/>
              <p:nvPr/>
            </p:nvSpPr>
            <p:spPr bwMode="auto">
              <a:xfrm>
                <a:off x="2267706" y="1621384"/>
                <a:ext cx="528304" cy="552318"/>
              </a:xfrm>
              <a:custGeom>
                <a:avLst/>
                <a:gdLst>
                  <a:gd name="T0" fmla="*/ 62 w 93"/>
                  <a:gd name="T1" fmla="*/ 78 h 97"/>
                  <a:gd name="T2" fmla="*/ 77 w 93"/>
                  <a:gd name="T3" fmla="*/ 74 h 97"/>
                  <a:gd name="T4" fmla="*/ 81 w 93"/>
                  <a:gd name="T5" fmla="*/ 69 h 97"/>
                  <a:gd name="T6" fmla="*/ 81 w 93"/>
                  <a:gd name="T7" fmla="*/ 70 h 97"/>
                  <a:gd name="T8" fmla="*/ 79 w 93"/>
                  <a:gd name="T9" fmla="*/ 83 h 97"/>
                  <a:gd name="T10" fmla="*/ 76 w 93"/>
                  <a:gd name="T11" fmla="*/ 96 h 97"/>
                  <a:gd name="T12" fmla="*/ 74 w 93"/>
                  <a:gd name="T13" fmla="*/ 97 h 97"/>
                  <a:gd name="T14" fmla="*/ 74 w 93"/>
                  <a:gd name="T15" fmla="*/ 90 h 97"/>
                  <a:gd name="T16" fmla="*/ 61 w 93"/>
                  <a:gd name="T17" fmla="*/ 80 h 97"/>
                  <a:gd name="T18" fmla="*/ 13 w 93"/>
                  <a:gd name="T19" fmla="*/ 70 h 97"/>
                  <a:gd name="T20" fmla="*/ 3 w 93"/>
                  <a:gd name="T21" fmla="*/ 79 h 97"/>
                  <a:gd name="T22" fmla="*/ 1 w 93"/>
                  <a:gd name="T23" fmla="*/ 81 h 97"/>
                  <a:gd name="T24" fmla="*/ 1 w 93"/>
                  <a:gd name="T25" fmla="*/ 79 h 97"/>
                  <a:gd name="T26" fmla="*/ 3 w 93"/>
                  <a:gd name="T27" fmla="*/ 67 h 97"/>
                  <a:gd name="T28" fmla="*/ 6 w 93"/>
                  <a:gd name="T29" fmla="*/ 55 h 97"/>
                  <a:gd name="T30" fmla="*/ 64 w 93"/>
                  <a:gd name="T31" fmla="*/ 26 h 97"/>
                  <a:gd name="T32" fmla="*/ 65 w 93"/>
                  <a:gd name="T33" fmla="*/ 26 h 97"/>
                  <a:gd name="T34" fmla="*/ 32 w 93"/>
                  <a:gd name="T35" fmla="*/ 19 h 97"/>
                  <a:gd name="T36" fmla="*/ 16 w 93"/>
                  <a:gd name="T37" fmla="*/ 23 h 97"/>
                  <a:gd name="T38" fmla="*/ 13 w 93"/>
                  <a:gd name="T39" fmla="*/ 28 h 97"/>
                  <a:gd name="T40" fmla="*/ 12 w 93"/>
                  <a:gd name="T41" fmla="*/ 26 h 97"/>
                  <a:gd name="T42" fmla="*/ 15 w 93"/>
                  <a:gd name="T43" fmla="*/ 14 h 97"/>
                  <a:gd name="T44" fmla="*/ 18 w 93"/>
                  <a:gd name="T45" fmla="*/ 1 h 97"/>
                  <a:gd name="T46" fmla="*/ 19 w 93"/>
                  <a:gd name="T47" fmla="*/ 0 h 97"/>
                  <a:gd name="T48" fmla="*/ 20 w 93"/>
                  <a:gd name="T49" fmla="*/ 6 h 97"/>
                  <a:gd name="T50" fmla="*/ 32 w 93"/>
                  <a:gd name="T51" fmla="*/ 16 h 97"/>
                  <a:gd name="T52" fmla="*/ 89 w 93"/>
                  <a:gd name="T53" fmla="*/ 29 h 97"/>
                  <a:gd name="T54" fmla="*/ 93 w 93"/>
                  <a:gd name="T55" fmla="*/ 31 h 97"/>
                  <a:gd name="T56" fmla="*/ 90 w 93"/>
                  <a:gd name="T57" fmla="*/ 33 h 97"/>
                  <a:gd name="T58" fmla="*/ 17 w 93"/>
                  <a:gd name="T59" fmla="*/ 68 h 97"/>
                  <a:gd name="T60" fmla="*/ 17 w 93"/>
                  <a:gd name="T61" fmla="*/ 68 h 97"/>
                  <a:gd name="T62" fmla="*/ 62 w 93"/>
                  <a:gd name="T63" fmla="*/ 78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93" h="97">
                    <a:moveTo>
                      <a:pt x="62" y="78"/>
                    </a:moveTo>
                    <a:cubicBezTo>
                      <a:pt x="71" y="80"/>
                      <a:pt x="75" y="77"/>
                      <a:pt x="77" y="74"/>
                    </a:cubicBezTo>
                    <a:cubicBezTo>
                      <a:pt x="79" y="71"/>
                      <a:pt x="79" y="68"/>
                      <a:pt x="81" y="69"/>
                    </a:cubicBezTo>
                    <a:cubicBezTo>
                      <a:pt x="81" y="69"/>
                      <a:pt x="82" y="69"/>
                      <a:pt x="81" y="70"/>
                    </a:cubicBezTo>
                    <a:cubicBezTo>
                      <a:pt x="81" y="74"/>
                      <a:pt x="79" y="78"/>
                      <a:pt x="79" y="83"/>
                    </a:cubicBezTo>
                    <a:cubicBezTo>
                      <a:pt x="78" y="87"/>
                      <a:pt x="77" y="92"/>
                      <a:pt x="76" y="96"/>
                    </a:cubicBezTo>
                    <a:cubicBezTo>
                      <a:pt x="76" y="97"/>
                      <a:pt x="75" y="97"/>
                      <a:pt x="74" y="97"/>
                    </a:cubicBezTo>
                    <a:cubicBezTo>
                      <a:pt x="73" y="96"/>
                      <a:pt x="74" y="94"/>
                      <a:pt x="74" y="90"/>
                    </a:cubicBezTo>
                    <a:cubicBezTo>
                      <a:pt x="73" y="87"/>
                      <a:pt x="70" y="82"/>
                      <a:pt x="61" y="80"/>
                    </a:cubicBezTo>
                    <a:cubicBezTo>
                      <a:pt x="13" y="70"/>
                      <a:pt x="13" y="70"/>
                      <a:pt x="13" y="70"/>
                    </a:cubicBezTo>
                    <a:cubicBezTo>
                      <a:pt x="7" y="72"/>
                      <a:pt x="5" y="75"/>
                      <a:pt x="3" y="79"/>
                    </a:cubicBezTo>
                    <a:cubicBezTo>
                      <a:pt x="3" y="80"/>
                      <a:pt x="3" y="81"/>
                      <a:pt x="1" y="81"/>
                    </a:cubicBezTo>
                    <a:cubicBezTo>
                      <a:pt x="1" y="81"/>
                      <a:pt x="0" y="80"/>
                      <a:pt x="1" y="79"/>
                    </a:cubicBezTo>
                    <a:cubicBezTo>
                      <a:pt x="1" y="75"/>
                      <a:pt x="2" y="71"/>
                      <a:pt x="3" y="67"/>
                    </a:cubicBezTo>
                    <a:cubicBezTo>
                      <a:pt x="6" y="55"/>
                      <a:pt x="6" y="55"/>
                      <a:pt x="6" y="55"/>
                    </a:cubicBezTo>
                    <a:cubicBezTo>
                      <a:pt x="64" y="26"/>
                      <a:pt x="64" y="26"/>
                      <a:pt x="64" y="26"/>
                    </a:cubicBezTo>
                    <a:cubicBezTo>
                      <a:pt x="65" y="26"/>
                      <a:pt x="65" y="26"/>
                      <a:pt x="65" y="26"/>
                    </a:cubicBezTo>
                    <a:cubicBezTo>
                      <a:pt x="32" y="19"/>
                      <a:pt x="32" y="19"/>
                      <a:pt x="32" y="19"/>
                    </a:cubicBezTo>
                    <a:cubicBezTo>
                      <a:pt x="23" y="17"/>
                      <a:pt x="19" y="20"/>
                      <a:pt x="16" y="23"/>
                    </a:cubicBezTo>
                    <a:cubicBezTo>
                      <a:pt x="14" y="25"/>
                      <a:pt x="15" y="29"/>
                      <a:pt x="13" y="28"/>
                    </a:cubicBezTo>
                    <a:cubicBezTo>
                      <a:pt x="12" y="28"/>
                      <a:pt x="12" y="28"/>
                      <a:pt x="12" y="26"/>
                    </a:cubicBezTo>
                    <a:cubicBezTo>
                      <a:pt x="13" y="23"/>
                      <a:pt x="14" y="18"/>
                      <a:pt x="15" y="14"/>
                    </a:cubicBezTo>
                    <a:cubicBezTo>
                      <a:pt x="16" y="9"/>
                      <a:pt x="17" y="5"/>
                      <a:pt x="18" y="1"/>
                    </a:cubicBezTo>
                    <a:cubicBezTo>
                      <a:pt x="18" y="0"/>
                      <a:pt x="19" y="0"/>
                      <a:pt x="19" y="0"/>
                    </a:cubicBezTo>
                    <a:cubicBezTo>
                      <a:pt x="21" y="0"/>
                      <a:pt x="19" y="3"/>
                      <a:pt x="20" y="6"/>
                    </a:cubicBezTo>
                    <a:cubicBezTo>
                      <a:pt x="21" y="10"/>
                      <a:pt x="24" y="14"/>
                      <a:pt x="32" y="16"/>
                    </a:cubicBezTo>
                    <a:cubicBezTo>
                      <a:pt x="89" y="29"/>
                      <a:pt x="89" y="29"/>
                      <a:pt x="89" y="29"/>
                    </a:cubicBezTo>
                    <a:cubicBezTo>
                      <a:pt x="91" y="29"/>
                      <a:pt x="93" y="30"/>
                      <a:pt x="93" y="31"/>
                    </a:cubicBezTo>
                    <a:cubicBezTo>
                      <a:pt x="93" y="31"/>
                      <a:pt x="91" y="32"/>
                      <a:pt x="90" y="33"/>
                    </a:cubicBezTo>
                    <a:cubicBezTo>
                      <a:pt x="17" y="68"/>
                      <a:pt x="17" y="68"/>
                      <a:pt x="17" y="68"/>
                    </a:cubicBezTo>
                    <a:cubicBezTo>
                      <a:pt x="17" y="68"/>
                      <a:pt x="17" y="68"/>
                      <a:pt x="17" y="68"/>
                    </a:cubicBezTo>
                    <a:lnTo>
                      <a:pt x="62" y="7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5" name="Freeform 19"/>
              <p:cNvSpPr/>
              <p:nvPr/>
            </p:nvSpPr>
            <p:spPr bwMode="auto">
              <a:xfrm>
                <a:off x="2431000" y="1213150"/>
                <a:ext cx="506692" cy="504290"/>
              </a:xfrm>
              <a:custGeom>
                <a:avLst/>
                <a:gdLst>
                  <a:gd name="T0" fmla="*/ 75 w 89"/>
                  <a:gd name="T1" fmla="*/ 62 h 89"/>
                  <a:gd name="T2" fmla="*/ 74 w 89"/>
                  <a:gd name="T3" fmla="*/ 33 h 89"/>
                  <a:gd name="T4" fmla="*/ 64 w 89"/>
                  <a:gd name="T5" fmla="*/ 21 h 89"/>
                  <a:gd name="T6" fmla="*/ 66 w 89"/>
                  <a:gd name="T7" fmla="*/ 21 h 89"/>
                  <a:gd name="T8" fmla="*/ 70 w 89"/>
                  <a:gd name="T9" fmla="*/ 23 h 89"/>
                  <a:gd name="T10" fmla="*/ 89 w 89"/>
                  <a:gd name="T11" fmla="*/ 38 h 89"/>
                  <a:gd name="T12" fmla="*/ 77 w 89"/>
                  <a:gd name="T13" fmla="*/ 62 h 89"/>
                  <a:gd name="T14" fmla="*/ 66 w 89"/>
                  <a:gd name="T15" fmla="*/ 88 h 89"/>
                  <a:gd name="T16" fmla="*/ 64 w 89"/>
                  <a:gd name="T17" fmla="*/ 89 h 89"/>
                  <a:gd name="T18" fmla="*/ 62 w 89"/>
                  <a:gd name="T19" fmla="*/ 86 h 89"/>
                  <a:gd name="T20" fmla="*/ 16 w 89"/>
                  <a:gd name="T21" fmla="*/ 18 h 89"/>
                  <a:gd name="T22" fmla="*/ 13 w 89"/>
                  <a:gd name="T23" fmla="*/ 24 h 89"/>
                  <a:gd name="T24" fmla="*/ 14 w 89"/>
                  <a:gd name="T25" fmla="*/ 53 h 89"/>
                  <a:gd name="T26" fmla="*/ 21 w 89"/>
                  <a:gd name="T27" fmla="*/ 62 h 89"/>
                  <a:gd name="T28" fmla="*/ 19 w 89"/>
                  <a:gd name="T29" fmla="*/ 63 h 89"/>
                  <a:gd name="T30" fmla="*/ 17 w 89"/>
                  <a:gd name="T31" fmla="*/ 61 h 89"/>
                  <a:gd name="T32" fmla="*/ 0 w 89"/>
                  <a:gd name="T33" fmla="*/ 47 h 89"/>
                  <a:gd name="T34" fmla="*/ 11 w 89"/>
                  <a:gd name="T35" fmla="*/ 24 h 89"/>
                  <a:gd name="T36" fmla="*/ 21 w 89"/>
                  <a:gd name="T37" fmla="*/ 1 h 89"/>
                  <a:gd name="T38" fmla="*/ 23 w 89"/>
                  <a:gd name="T39" fmla="*/ 0 h 89"/>
                  <a:gd name="T40" fmla="*/ 25 w 89"/>
                  <a:gd name="T41" fmla="*/ 3 h 89"/>
                  <a:gd name="T42" fmla="*/ 71 w 89"/>
                  <a:gd name="T43" fmla="*/ 70 h 89"/>
                  <a:gd name="T44" fmla="*/ 75 w 89"/>
                  <a:gd name="T45" fmla="*/ 62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89" h="89">
                    <a:moveTo>
                      <a:pt x="75" y="62"/>
                    </a:moveTo>
                    <a:cubicBezTo>
                      <a:pt x="80" y="50"/>
                      <a:pt x="78" y="40"/>
                      <a:pt x="74" y="33"/>
                    </a:cubicBezTo>
                    <a:cubicBezTo>
                      <a:pt x="70" y="25"/>
                      <a:pt x="64" y="23"/>
                      <a:pt x="64" y="21"/>
                    </a:cubicBezTo>
                    <a:cubicBezTo>
                      <a:pt x="65" y="21"/>
                      <a:pt x="65" y="20"/>
                      <a:pt x="66" y="21"/>
                    </a:cubicBezTo>
                    <a:cubicBezTo>
                      <a:pt x="67" y="21"/>
                      <a:pt x="68" y="22"/>
                      <a:pt x="70" y="23"/>
                    </a:cubicBezTo>
                    <a:cubicBezTo>
                      <a:pt x="89" y="38"/>
                      <a:pt x="89" y="38"/>
                      <a:pt x="89" y="38"/>
                    </a:cubicBezTo>
                    <a:cubicBezTo>
                      <a:pt x="85" y="46"/>
                      <a:pt x="81" y="54"/>
                      <a:pt x="77" y="62"/>
                    </a:cubicBezTo>
                    <a:cubicBezTo>
                      <a:pt x="73" y="71"/>
                      <a:pt x="70" y="79"/>
                      <a:pt x="66" y="88"/>
                    </a:cubicBezTo>
                    <a:cubicBezTo>
                      <a:pt x="65" y="89"/>
                      <a:pt x="65" y="89"/>
                      <a:pt x="64" y="89"/>
                    </a:cubicBezTo>
                    <a:cubicBezTo>
                      <a:pt x="64" y="88"/>
                      <a:pt x="63" y="88"/>
                      <a:pt x="62" y="86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3" y="24"/>
                      <a:pt x="13" y="24"/>
                      <a:pt x="13" y="24"/>
                    </a:cubicBezTo>
                    <a:cubicBezTo>
                      <a:pt x="8" y="36"/>
                      <a:pt x="9" y="45"/>
                      <a:pt x="14" y="53"/>
                    </a:cubicBezTo>
                    <a:cubicBezTo>
                      <a:pt x="20" y="61"/>
                      <a:pt x="21" y="61"/>
                      <a:pt x="21" y="62"/>
                    </a:cubicBezTo>
                    <a:cubicBezTo>
                      <a:pt x="20" y="63"/>
                      <a:pt x="20" y="63"/>
                      <a:pt x="19" y="63"/>
                    </a:cubicBezTo>
                    <a:cubicBezTo>
                      <a:pt x="19" y="63"/>
                      <a:pt x="18" y="62"/>
                      <a:pt x="17" y="61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3" y="39"/>
                      <a:pt x="7" y="32"/>
                      <a:pt x="11" y="24"/>
                    </a:cubicBezTo>
                    <a:cubicBezTo>
                      <a:pt x="14" y="17"/>
                      <a:pt x="17" y="9"/>
                      <a:pt x="21" y="1"/>
                    </a:cubicBezTo>
                    <a:cubicBezTo>
                      <a:pt x="22" y="0"/>
                      <a:pt x="22" y="0"/>
                      <a:pt x="23" y="0"/>
                    </a:cubicBezTo>
                    <a:cubicBezTo>
                      <a:pt x="23" y="0"/>
                      <a:pt x="24" y="2"/>
                      <a:pt x="25" y="3"/>
                    </a:cubicBezTo>
                    <a:cubicBezTo>
                      <a:pt x="71" y="70"/>
                      <a:pt x="71" y="70"/>
                      <a:pt x="71" y="70"/>
                    </a:cubicBezTo>
                    <a:lnTo>
                      <a:pt x="75" y="6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6" name="Freeform 20"/>
              <p:cNvSpPr/>
              <p:nvPr/>
            </p:nvSpPr>
            <p:spPr bwMode="auto">
              <a:xfrm>
                <a:off x="2625512" y="723267"/>
                <a:ext cx="631564" cy="636366"/>
              </a:xfrm>
              <a:custGeom>
                <a:avLst/>
                <a:gdLst>
                  <a:gd name="T0" fmla="*/ 13 w 111"/>
                  <a:gd name="T1" fmla="*/ 62 h 112"/>
                  <a:gd name="T2" fmla="*/ 1 w 111"/>
                  <a:gd name="T3" fmla="*/ 65 h 112"/>
                  <a:gd name="T4" fmla="*/ 2 w 111"/>
                  <a:gd name="T5" fmla="*/ 62 h 112"/>
                  <a:gd name="T6" fmla="*/ 12 w 111"/>
                  <a:gd name="T7" fmla="*/ 50 h 112"/>
                  <a:gd name="T8" fmla="*/ 21 w 111"/>
                  <a:gd name="T9" fmla="*/ 37 h 112"/>
                  <a:gd name="T10" fmla="*/ 24 w 111"/>
                  <a:gd name="T11" fmla="*/ 36 h 112"/>
                  <a:gd name="T12" fmla="*/ 24 w 111"/>
                  <a:gd name="T13" fmla="*/ 49 h 112"/>
                  <a:gd name="T14" fmla="*/ 44 w 111"/>
                  <a:gd name="T15" fmla="*/ 65 h 112"/>
                  <a:gd name="T16" fmla="*/ 63 w 111"/>
                  <a:gd name="T17" fmla="*/ 42 h 112"/>
                  <a:gd name="T18" fmla="*/ 42 w 111"/>
                  <a:gd name="T19" fmla="*/ 26 h 112"/>
                  <a:gd name="T20" fmla="*/ 30 w 111"/>
                  <a:gd name="T21" fmla="*/ 29 h 112"/>
                  <a:gd name="T22" fmla="*/ 30 w 111"/>
                  <a:gd name="T23" fmla="*/ 26 h 112"/>
                  <a:gd name="T24" fmla="*/ 40 w 111"/>
                  <a:gd name="T25" fmla="*/ 14 h 112"/>
                  <a:gd name="T26" fmla="*/ 50 w 111"/>
                  <a:gd name="T27" fmla="*/ 1 h 112"/>
                  <a:gd name="T28" fmla="*/ 53 w 111"/>
                  <a:gd name="T29" fmla="*/ 0 h 112"/>
                  <a:gd name="T30" fmla="*/ 53 w 111"/>
                  <a:gd name="T31" fmla="*/ 13 h 112"/>
                  <a:gd name="T32" fmla="*/ 98 w 111"/>
                  <a:gd name="T33" fmla="*/ 50 h 112"/>
                  <a:gd name="T34" fmla="*/ 111 w 111"/>
                  <a:gd name="T35" fmla="*/ 47 h 112"/>
                  <a:gd name="T36" fmla="*/ 110 w 111"/>
                  <a:gd name="T37" fmla="*/ 50 h 112"/>
                  <a:gd name="T38" fmla="*/ 100 w 111"/>
                  <a:gd name="T39" fmla="*/ 62 h 112"/>
                  <a:gd name="T40" fmla="*/ 91 w 111"/>
                  <a:gd name="T41" fmla="*/ 74 h 112"/>
                  <a:gd name="T42" fmla="*/ 88 w 111"/>
                  <a:gd name="T43" fmla="*/ 75 h 112"/>
                  <a:gd name="T44" fmla="*/ 88 w 111"/>
                  <a:gd name="T45" fmla="*/ 62 h 112"/>
                  <a:gd name="T46" fmla="*/ 65 w 111"/>
                  <a:gd name="T47" fmla="*/ 44 h 112"/>
                  <a:gd name="T48" fmla="*/ 46 w 111"/>
                  <a:gd name="T49" fmla="*/ 67 h 112"/>
                  <a:gd name="T50" fmla="*/ 69 w 111"/>
                  <a:gd name="T51" fmla="*/ 86 h 112"/>
                  <a:gd name="T52" fmla="*/ 82 w 111"/>
                  <a:gd name="T53" fmla="*/ 83 h 112"/>
                  <a:gd name="T54" fmla="*/ 81 w 111"/>
                  <a:gd name="T55" fmla="*/ 86 h 112"/>
                  <a:gd name="T56" fmla="*/ 71 w 111"/>
                  <a:gd name="T57" fmla="*/ 98 h 112"/>
                  <a:gd name="T58" fmla="*/ 62 w 111"/>
                  <a:gd name="T59" fmla="*/ 110 h 112"/>
                  <a:gd name="T60" fmla="*/ 59 w 111"/>
                  <a:gd name="T61" fmla="*/ 111 h 112"/>
                  <a:gd name="T62" fmla="*/ 59 w 111"/>
                  <a:gd name="T63" fmla="*/ 98 h 112"/>
                  <a:gd name="T64" fmla="*/ 13 w 111"/>
                  <a:gd name="T65" fmla="*/ 62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1" h="112">
                    <a:moveTo>
                      <a:pt x="13" y="62"/>
                    </a:moveTo>
                    <a:cubicBezTo>
                      <a:pt x="6" y="56"/>
                      <a:pt x="4" y="67"/>
                      <a:pt x="1" y="65"/>
                    </a:cubicBezTo>
                    <a:cubicBezTo>
                      <a:pt x="1" y="64"/>
                      <a:pt x="0" y="63"/>
                      <a:pt x="2" y="62"/>
                    </a:cubicBezTo>
                    <a:cubicBezTo>
                      <a:pt x="5" y="57"/>
                      <a:pt x="9" y="53"/>
                      <a:pt x="12" y="50"/>
                    </a:cubicBezTo>
                    <a:cubicBezTo>
                      <a:pt x="14" y="46"/>
                      <a:pt x="18" y="42"/>
                      <a:pt x="21" y="37"/>
                    </a:cubicBezTo>
                    <a:cubicBezTo>
                      <a:pt x="22" y="36"/>
                      <a:pt x="23" y="36"/>
                      <a:pt x="24" y="36"/>
                    </a:cubicBezTo>
                    <a:cubicBezTo>
                      <a:pt x="26" y="38"/>
                      <a:pt x="17" y="43"/>
                      <a:pt x="24" y="49"/>
                    </a:cubicBezTo>
                    <a:cubicBezTo>
                      <a:pt x="44" y="65"/>
                      <a:pt x="44" y="65"/>
                      <a:pt x="44" y="65"/>
                    </a:cubicBezTo>
                    <a:cubicBezTo>
                      <a:pt x="63" y="42"/>
                      <a:pt x="63" y="42"/>
                      <a:pt x="63" y="42"/>
                    </a:cubicBezTo>
                    <a:cubicBezTo>
                      <a:pt x="42" y="26"/>
                      <a:pt x="42" y="26"/>
                      <a:pt x="42" y="26"/>
                    </a:cubicBezTo>
                    <a:cubicBezTo>
                      <a:pt x="35" y="20"/>
                      <a:pt x="33" y="31"/>
                      <a:pt x="30" y="29"/>
                    </a:cubicBezTo>
                    <a:cubicBezTo>
                      <a:pt x="29" y="28"/>
                      <a:pt x="29" y="27"/>
                      <a:pt x="30" y="26"/>
                    </a:cubicBezTo>
                    <a:cubicBezTo>
                      <a:pt x="34" y="21"/>
                      <a:pt x="38" y="17"/>
                      <a:pt x="40" y="14"/>
                    </a:cubicBezTo>
                    <a:cubicBezTo>
                      <a:pt x="43" y="10"/>
                      <a:pt x="46" y="6"/>
                      <a:pt x="50" y="1"/>
                    </a:cubicBezTo>
                    <a:cubicBezTo>
                      <a:pt x="51" y="0"/>
                      <a:pt x="52" y="0"/>
                      <a:pt x="53" y="0"/>
                    </a:cubicBezTo>
                    <a:cubicBezTo>
                      <a:pt x="55" y="2"/>
                      <a:pt x="46" y="7"/>
                      <a:pt x="53" y="13"/>
                    </a:cubicBezTo>
                    <a:cubicBezTo>
                      <a:pt x="98" y="50"/>
                      <a:pt x="98" y="50"/>
                      <a:pt x="98" y="50"/>
                    </a:cubicBezTo>
                    <a:cubicBezTo>
                      <a:pt x="105" y="55"/>
                      <a:pt x="108" y="45"/>
                      <a:pt x="111" y="47"/>
                    </a:cubicBezTo>
                    <a:cubicBezTo>
                      <a:pt x="111" y="47"/>
                      <a:pt x="111" y="48"/>
                      <a:pt x="110" y="50"/>
                    </a:cubicBezTo>
                    <a:cubicBezTo>
                      <a:pt x="107" y="54"/>
                      <a:pt x="103" y="58"/>
                      <a:pt x="100" y="62"/>
                    </a:cubicBezTo>
                    <a:cubicBezTo>
                      <a:pt x="97" y="65"/>
                      <a:pt x="94" y="70"/>
                      <a:pt x="91" y="74"/>
                    </a:cubicBezTo>
                    <a:cubicBezTo>
                      <a:pt x="89" y="76"/>
                      <a:pt x="89" y="76"/>
                      <a:pt x="88" y="75"/>
                    </a:cubicBezTo>
                    <a:cubicBezTo>
                      <a:pt x="86" y="73"/>
                      <a:pt x="95" y="68"/>
                      <a:pt x="88" y="62"/>
                    </a:cubicBezTo>
                    <a:cubicBezTo>
                      <a:pt x="65" y="44"/>
                      <a:pt x="65" y="44"/>
                      <a:pt x="65" y="44"/>
                    </a:cubicBezTo>
                    <a:cubicBezTo>
                      <a:pt x="46" y="67"/>
                      <a:pt x="46" y="67"/>
                      <a:pt x="46" y="67"/>
                    </a:cubicBezTo>
                    <a:cubicBezTo>
                      <a:pt x="69" y="86"/>
                      <a:pt x="69" y="86"/>
                      <a:pt x="69" y="86"/>
                    </a:cubicBezTo>
                    <a:cubicBezTo>
                      <a:pt x="77" y="91"/>
                      <a:pt x="79" y="81"/>
                      <a:pt x="82" y="83"/>
                    </a:cubicBezTo>
                    <a:cubicBezTo>
                      <a:pt x="82" y="83"/>
                      <a:pt x="83" y="84"/>
                      <a:pt x="81" y="86"/>
                    </a:cubicBezTo>
                    <a:cubicBezTo>
                      <a:pt x="78" y="90"/>
                      <a:pt x="74" y="94"/>
                      <a:pt x="71" y="98"/>
                    </a:cubicBezTo>
                    <a:cubicBezTo>
                      <a:pt x="69" y="101"/>
                      <a:pt x="65" y="106"/>
                      <a:pt x="62" y="110"/>
                    </a:cubicBezTo>
                    <a:cubicBezTo>
                      <a:pt x="61" y="112"/>
                      <a:pt x="60" y="112"/>
                      <a:pt x="59" y="111"/>
                    </a:cubicBezTo>
                    <a:cubicBezTo>
                      <a:pt x="57" y="109"/>
                      <a:pt x="66" y="104"/>
                      <a:pt x="59" y="98"/>
                    </a:cubicBezTo>
                    <a:lnTo>
                      <a:pt x="13" y="6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21"/>
              <p:cNvSpPr/>
              <p:nvPr/>
            </p:nvSpPr>
            <p:spPr bwMode="auto">
              <a:xfrm>
                <a:off x="3074570" y="387074"/>
                <a:ext cx="547515" cy="552318"/>
              </a:xfrm>
              <a:custGeom>
                <a:avLst/>
                <a:gdLst>
                  <a:gd name="T0" fmla="*/ 13 w 96"/>
                  <a:gd name="T1" fmla="*/ 36 h 97"/>
                  <a:gd name="T2" fmla="*/ 0 w 96"/>
                  <a:gd name="T3" fmla="*/ 36 h 97"/>
                  <a:gd name="T4" fmla="*/ 1 w 96"/>
                  <a:gd name="T5" fmla="*/ 33 h 97"/>
                  <a:gd name="T6" fmla="*/ 14 w 96"/>
                  <a:gd name="T7" fmla="*/ 24 h 97"/>
                  <a:gd name="T8" fmla="*/ 47 w 96"/>
                  <a:gd name="T9" fmla="*/ 0 h 97"/>
                  <a:gd name="T10" fmla="*/ 64 w 96"/>
                  <a:gd name="T11" fmla="*/ 14 h 97"/>
                  <a:gd name="T12" fmla="*/ 66 w 96"/>
                  <a:gd name="T13" fmla="*/ 16 h 97"/>
                  <a:gd name="T14" fmla="*/ 66 w 96"/>
                  <a:gd name="T15" fmla="*/ 18 h 97"/>
                  <a:gd name="T16" fmla="*/ 56 w 96"/>
                  <a:gd name="T17" fmla="*/ 13 h 97"/>
                  <a:gd name="T18" fmla="*/ 27 w 96"/>
                  <a:gd name="T19" fmla="*/ 18 h 97"/>
                  <a:gd name="T20" fmla="*/ 22 w 96"/>
                  <a:gd name="T21" fmla="*/ 21 h 97"/>
                  <a:gd name="T22" fmla="*/ 41 w 96"/>
                  <a:gd name="T23" fmla="*/ 48 h 97"/>
                  <a:gd name="T24" fmla="*/ 43 w 96"/>
                  <a:gd name="T25" fmla="*/ 46 h 97"/>
                  <a:gd name="T26" fmla="*/ 47 w 96"/>
                  <a:gd name="T27" fmla="*/ 26 h 97"/>
                  <a:gd name="T28" fmla="*/ 46 w 96"/>
                  <a:gd name="T29" fmla="*/ 23 h 97"/>
                  <a:gd name="T30" fmla="*/ 48 w 96"/>
                  <a:gd name="T31" fmla="*/ 24 h 97"/>
                  <a:gd name="T32" fmla="*/ 68 w 96"/>
                  <a:gd name="T33" fmla="*/ 52 h 97"/>
                  <a:gd name="T34" fmla="*/ 68 w 96"/>
                  <a:gd name="T35" fmla="*/ 54 h 97"/>
                  <a:gd name="T36" fmla="*/ 66 w 96"/>
                  <a:gd name="T37" fmla="*/ 53 h 97"/>
                  <a:gd name="T38" fmla="*/ 45 w 96"/>
                  <a:gd name="T39" fmla="*/ 48 h 97"/>
                  <a:gd name="T40" fmla="*/ 43 w 96"/>
                  <a:gd name="T41" fmla="*/ 50 h 97"/>
                  <a:gd name="T42" fmla="*/ 59 w 96"/>
                  <a:gd name="T43" fmla="*/ 73 h 97"/>
                  <a:gd name="T44" fmla="*/ 72 w 96"/>
                  <a:gd name="T45" fmla="*/ 74 h 97"/>
                  <a:gd name="T46" fmla="*/ 83 w 96"/>
                  <a:gd name="T47" fmla="*/ 37 h 97"/>
                  <a:gd name="T48" fmla="*/ 82 w 96"/>
                  <a:gd name="T49" fmla="*/ 33 h 97"/>
                  <a:gd name="T50" fmla="*/ 84 w 96"/>
                  <a:gd name="T51" fmla="*/ 34 h 97"/>
                  <a:gd name="T52" fmla="*/ 85 w 96"/>
                  <a:gd name="T53" fmla="*/ 37 h 97"/>
                  <a:gd name="T54" fmla="*/ 96 w 96"/>
                  <a:gd name="T55" fmla="*/ 60 h 97"/>
                  <a:gd name="T56" fmla="*/ 59 w 96"/>
                  <a:gd name="T57" fmla="*/ 86 h 97"/>
                  <a:gd name="T58" fmla="*/ 46 w 96"/>
                  <a:gd name="T59" fmla="*/ 96 h 97"/>
                  <a:gd name="T60" fmla="*/ 43 w 96"/>
                  <a:gd name="T61" fmla="*/ 96 h 97"/>
                  <a:gd name="T62" fmla="*/ 47 w 96"/>
                  <a:gd name="T63" fmla="*/ 84 h 97"/>
                  <a:gd name="T64" fmla="*/ 13 w 96"/>
                  <a:gd name="T65" fmla="*/ 36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96" h="97">
                    <a:moveTo>
                      <a:pt x="13" y="36"/>
                    </a:moveTo>
                    <a:cubicBezTo>
                      <a:pt x="7" y="29"/>
                      <a:pt x="2" y="38"/>
                      <a:pt x="0" y="36"/>
                    </a:cubicBezTo>
                    <a:cubicBezTo>
                      <a:pt x="0" y="35"/>
                      <a:pt x="0" y="34"/>
                      <a:pt x="1" y="33"/>
                    </a:cubicBezTo>
                    <a:cubicBezTo>
                      <a:pt x="6" y="30"/>
                      <a:pt x="10" y="27"/>
                      <a:pt x="14" y="24"/>
                    </a:cubicBezTo>
                    <a:cubicBezTo>
                      <a:pt x="25" y="16"/>
                      <a:pt x="36" y="8"/>
                      <a:pt x="47" y="0"/>
                    </a:cubicBezTo>
                    <a:cubicBezTo>
                      <a:pt x="64" y="14"/>
                      <a:pt x="64" y="14"/>
                      <a:pt x="64" y="14"/>
                    </a:cubicBezTo>
                    <a:cubicBezTo>
                      <a:pt x="66" y="16"/>
                      <a:pt x="66" y="16"/>
                      <a:pt x="66" y="16"/>
                    </a:cubicBezTo>
                    <a:cubicBezTo>
                      <a:pt x="67" y="17"/>
                      <a:pt x="67" y="17"/>
                      <a:pt x="66" y="18"/>
                    </a:cubicBezTo>
                    <a:cubicBezTo>
                      <a:pt x="65" y="18"/>
                      <a:pt x="64" y="17"/>
                      <a:pt x="56" y="13"/>
                    </a:cubicBezTo>
                    <a:cubicBezTo>
                      <a:pt x="47" y="9"/>
                      <a:pt x="38" y="10"/>
                      <a:pt x="27" y="18"/>
                    </a:cubicBezTo>
                    <a:cubicBezTo>
                      <a:pt x="22" y="21"/>
                      <a:pt x="22" y="21"/>
                      <a:pt x="22" y="21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3" y="46"/>
                      <a:pt x="43" y="46"/>
                      <a:pt x="43" y="46"/>
                    </a:cubicBezTo>
                    <a:cubicBezTo>
                      <a:pt x="50" y="42"/>
                      <a:pt x="51" y="33"/>
                      <a:pt x="47" y="26"/>
                    </a:cubicBezTo>
                    <a:cubicBezTo>
                      <a:pt x="46" y="25"/>
                      <a:pt x="46" y="24"/>
                      <a:pt x="46" y="23"/>
                    </a:cubicBezTo>
                    <a:cubicBezTo>
                      <a:pt x="47" y="23"/>
                      <a:pt x="48" y="23"/>
                      <a:pt x="48" y="24"/>
                    </a:cubicBezTo>
                    <a:cubicBezTo>
                      <a:pt x="68" y="52"/>
                      <a:pt x="68" y="52"/>
                      <a:pt x="68" y="52"/>
                    </a:cubicBezTo>
                    <a:cubicBezTo>
                      <a:pt x="69" y="53"/>
                      <a:pt x="69" y="54"/>
                      <a:pt x="68" y="54"/>
                    </a:cubicBezTo>
                    <a:cubicBezTo>
                      <a:pt x="68" y="55"/>
                      <a:pt x="67" y="54"/>
                      <a:pt x="66" y="53"/>
                    </a:cubicBezTo>
                    <a:cubicBezTo>
                      <a:pt x="59" y="45"/>
                      <a:pt x="52" y="44"/>
                      <a:pt x="45" y="48"/>
                    </a:cubicBezTo>
                    <a:cubicBezTo>
                      <a:pt x="43" y="50"/>
                      <a:pt x="43" y="50"/>
                      <a:pt x="43" y="50"/>
                    </a:cubicBezTo>
                    <a:cubicBezTo>
                      <a:pt x="59" y="73"/>
                      <a:pt x="59" y="73"/>
                      <a:pt x="59" y="73"/>
                    </a:cubicBezTo>
                    <a:cubicBezTo>
                      <a:pt x="62" y="77"/>
                      <a:pt x="66" y="78"/>
                      <a:pt x="72" y="74"/>
                    </a:cubicBezTo>
                    <a:cubicBezTo>
                      <a:pt x="86" y="64"/>
                      <a:pt x="86" y="48"/>
                      <a:pt x="83" y="37"/>
                    </a:cubicBezTo>
                    <a:cubicBezTo>
                      <a:pt x="82" y="35"/>
                      <a:pt x="81" y="34"/>
                      <a:pt x="82" y="33"/>
                    </a:cubicBezTo>
                    <a:cubicBezTo>
                      <a:pt x="83" y="33"/>
                      <a:pt x="83" y="33"/>
                      <a:pt x="84" y="34"/>
                    </a:cubicBezTo>
                    <a:cubicBezTo>
                      <a:pt x="84" y="34"/>
                      <a:pt x="85" y="36"/>
                      <a:pt x="85" y="37"/>
                    </a:cubicBezTo>
                    <a:cubicBezTo>
                      <a:pt x="96" y="60"/>
                      <a:pt x="96" y="60"/>
                      <a:pt x="96" y="60"/>
                    </a:cubicBezTo>
                    <a:cubicBezTo>
                      <a:pt x="84" y="69"/>
                      <a:pt x="71" y="77"/>
                      <a:pt x="59" y="86"/>
                    </a:cubicBezTo>
                    <a:cubicBezTo>
                      <a:pt x="55" y="89"/>
                      <a:pt x="51" y="92"/>
                      <a:pt x="46" y="96"/>
                    </a:cubicBezTo>
                    <a:cubicBezTo>
                      <a:pt x="45" y="97"/>
                      <a:pt x="44" y="97"/>
                      <a:pt x="43" y="96"/>
                    </a:cubicBezTo>
                    <a:cubicBezTo>
                      <a:pt x="41" y="93"/>
                      <a:pt x="52" y="91"/>
                      <a:pt x="47" y="84"/>
                    </a:cubicBezTo>
                    <a:lnTo>
                      <a:pt x="13" y="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8" name="Freeform 22"/>
              <p:cNvSpPr/>
              <p:nvPr/>
            </p:nvSpPr>
            <p:spPr bwMode="auto">
              <a:xfrm>
                <a:off x="3542840" y="101308"/>
                <a:ext cx="528304" cy="576332"/>
              </a:xfrm>
              <a:custGeom>
                <a:avLst/>
                <a:gdLst>
                  <a:gd name="T0" fmla="*/ 35 w 93"/>
                  <a:gd name="T1" fmla="*/ 79 h 101"/>
                  <a:gd name="T2" fmla="*/ 47 w 93"/>
                  <a:gd name="T3" fmla="*/ 90 h 101"/>
                  <a:gd name="T4" fmla="*/ 53 w 93"/>
                  <a:gd name="T5" fmla="*/ 90 h 101"/>
                  <a:gd name="T6" fmla="*/ 52 w 93"/>
                  <a:gd name="T7" fmla="*/ 92 h 101"/>
                  <a:gd name="T8" fmla="*/ 40 w 93"/>
                  <a:gd name="T9" fmla="*/ 96 h 101"/>
                  <a:gd name="T10" fmla="*/ 28 w 93"/>
                  <a:gd name="T11" fmla="*/ 101 h 101"/>
                  <a:gd name="T12" fmla="*/ 26 w 93"/>
                  <a:gd name="T13" fmla="*/ 100 h 101"/>
                  <a:gd name="T14" fmla="*/ 31 w 93"/>
                  <a:gd name="T15" fmla="*/ 96 h 101"/>
                  <a:gd name="T16" fmla="*/ 33 w 93"/>
                  <a:gd name="T17" fmla="*/ 80 h 101"/>
                  <a:gd name="T18" fmla="*/ 15 w 93"/>
                  <a:gd name="T19" fmla="*/ 34 h 101"/>
                  <a:gd name="T20" fmla="*/ 3 w 93"/>
                  <a:gd name="T21" fmla="*/ 31 h 101"/>
                  <a:gd name="T22" fmla="*/ 0 w 93"/>
                  <a:gd name="T23" fmla="*/ 30 h 101"/>
                  <a:gd name="T24" fmla="*/ 1 w 93"/>
                  <a:gd name="T25" fmla="*/ 29 h 101"/>
                  <a:gd name="T26" fmla="*/ 12 w 93"/>
                  <a:gd name="T27" fmla="*/ 25 h 101"/>
                  <a:gd name="T28" fmla="*/ 24 w 93"/>
                  <a:gd name="T29" fmla="*/ 20 h 101"/>
                  <a:gd name="T30" fmla="*/ 80 w 93"/>
                  <a:gd name="T31" fmla="*/ 53 h 101"/>
                  <a:gd name="T32" fmla="*/ 80 w 93"/>
                  <a:gd name="T33" fmla="*/ 53 h 101"/>
                  <a:gd name="T34" fmla="*/ 68 w 93"/>
                  <a:gd name="T35" fmla="*/ 22 h 101"/>
                  <a:gd name="T36" fmla="*/ 57 w 93"/>
                  <a:gd name="T37" fmla="*/ 11 h 101"/>
                  <a:gd name="T38" fmla="*/ 50 w 93"/>
                  <a:gd name="T39" fmla="*/ 11 h 101"/>
                  <a:gd name="T40" fmla="*/ 51 w 93"/>
                  <a:gd name="T41" fmla="*/ 10 h 101"/>
                  <a:gd name="T42" fmla="*/ 64 w 93"/>
                  <a:gd name="T43" fmla="*/ 5 h 101"/>
                  <a:gd name="T44" fmla="*/ 76 w 93"/>
                  <a:gd name="T45" fmla="*/ 0 h 101"/>
                  <a:gd name="T46" fmla="*/ 77 w 93"/>
                  <a:gd name="T47" fmla="*/ 1 h 101"/>
                  <a:gd name="T48" fmla="*/ 72 w 93"/>
                  <a:gd name="T49" fmla="*/ 5 h 101"/>
                  <a:gd name="T50" fmla="*/ 71 w 93"/>
                  <a:gd name="T51" fmla="*/ 21 h 101"/>
                  <a:gd name="T52" fmla="*/ 92 w 93"/>
                  <a:gd name="T53" fmla="*/ 76 h 101"/>
                  <a:gd name="T54" fmla="*/ 92 w 93"/>
                  <a:gd name="T55" fmla="*/ 79 h 101"/>
                  <a:gd name="T56" fmla="*/ 88 w 93"/>
                  <a:gd name="T57" fmla="*/ 78 h 101"/>
                  <a:gd name="T58" fmla="*/ 19 w 93"/>
                  <a:gd name="T59" fmla="*/ 36 h 101"/>
                  <a:gd name="T60" fmla="*/ 19 w 93"/>
                  <a:gd name="T61" fmla="*/ 36 h 101"/>
                  <a:gd name="T62" fmla="*/ 35 w 93"/>
                  <a:gd name="T63" fmla="*/ 79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93" h="101">
                    <a:moveTo>
                      <a:pt x="35" y="79"/>
                    </a:moveTo>
                    <a:cubicBezTo>
                      <a:pt x="39" y="88"/>
                      <a:pt x="43" y="90"/>
                      <a:pt x="47" y="90"/>
                    </a:cubicBezTo>
                    <a:cubicBezTo>
                      <a:pt x="50" y="90"/>
                      <a:pt x="53" y="88"/>
                      <a:pt x="53" y="90"/>
                    </a:cubicBezTo>
                    <a:cubicBezTo>
                      <a:pt x="54" y="91"/>
                      <a:pt x="54" y="91"/>
                      <a:pt x="52" y="92"/>
                    </a:cubicBezTo>
                    <a:cubicBezTo>
                      <a:pt x="49" y="93"/>
                      <a:pt x="45" y="94"/>
                      <a:pt x="40" y="96"/>
                    </a:cubicBezTo>
                    <a:cubicBezTo>
                      <a:pt x="36" y="98"/>
                      <a:pt x="32" y="99"/>
                      <a:pt x="28" y="101"/>
                    </a:cubicBezTo>
                    <a:cubicBezTo>
                      <a:pt x="27" y="101"/>
                      <a:pt x="27" y="101"/>
                      <a:pt x="26" y="100"/>
                    </a:cubicBezTo>
                    <a:cubicBezTo>
                      <a:pt x="26" y="98"/>
                      <a:pt x="29" y="98"/>
                      <a:pt x="31" y="96"/>
                    </a:cubicBezTo>
                    <a:cubicBezTo>
                      <a:pt x="34" y="93"/>
                      <a:pt x="36" y="89"/>
                      <a:pt x="33" y="80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0" y="30"/>
                      <a:pt x="6" y="30"/>
                      <a:pt x="3" y="31"/>
                    </a:cubicBezTo>
                    <a:cubicBezTo>
                      <a:pt x="1" y="31"/>
                      <a:pt x="0" y="31"/>
                      <a:pt x="0" y="30"/>
                    </a:cubicBezTo>
                    <a:cubicBezTo>
                      <a:pt x="0" y="29"/>
                      <a:pt x="0" y="29"/>
                      <a:pt x="1" y="29"/>
                    </a:cubicBezTo>
                    <a:cubicBezTo>
                      <a:pt x="4" y="27"/>
                      <a:pt x="8" y="26"/>
                      <a:pt x="12" y="25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80" y="53"/>
                      <a:pt x="80" y="53"/>
                      <a:pt x="80" y="53"/>
                    </a:cubicBezTo>
                    <a:cubicBezTo>
                      <a:pt x="80" y="53"/>
                      <a:pt x="80" y="53"/>
                      <a:pt x="80" y="53"/>
                    </a:cubicBezTo>
                    <a:cubicBezTo>
                      <a:pt x="68" y="22"/>
                      <a:pt x="68" y="22"/>
                      <a:pt x="68" y="22"/>
                    </a:cubicBezTo>
                    <a:cubicBezTo>
                      <a:pt x="65" y="14"/>
                      <a:pt x="61" y="11"/>
                      <a:pt x="57" y="11"/>
                    </a:cubicBezTo>
                    <a:cubicBezTo>
                      <a:pt x="53" y="11"/>
                      <a:pt x="51" y="13"/>
                      <a:pt x="50" y="11"/>
                    </a:cubicBezTo>
                    <a:cubicBezTo>
                      <a:pt x="50" y="11"/>
                      <a:pt x="50" y="10"/>
                      <a:pt x="51" y="10"/>
                    </a:cubicBezTo>
                    <a:cubicBezTo>
                      <a:pt x="55" y="8"/>
                      <a:pt x="59" y="7"/>
                      <a:pt x="64" y="5"/>
                    </a:cubicBezTo>
                    <a:cubicBezTo>
                      <a:pt x="68" y="4"/>
                      <a:pt x="72" y="2"/>
                      <a:pt x="76" y="0"/>
                    </a:cubicBezTo>
                    <a:cubicBezTo>
                      <a:pt x="77" y="0"/>
                      <a:pt x="77" y="0"/>
                      <a:pt x="77" y="1"/>
                    </a:cubicBezTo>
                    <a:cubicBezTo>
                      <a:pt x="78" y="3"/>
                      <a:pt x="75" y="3"/>
                      <a:pt x="72" y="5"/>
                    </a:cubicBezTo>
                    <a:cubicBezTo>
                      <a:pt x="70" y="8"/>
                      <a:pt x="68" y="13"/>
                      <a:pt x="71" y="21"/>
                    </a:cubicBezTo>
                    <a:cubicBezTo>
                      <a:pt x="92" y="76"/>
                      <a:pt x="92" y="76"/>
                      <a:pt x="92" y="76"/>
                    </a:cubicBezTo>
                    <a:cubicBezTo>
                      <a:pt x="92" y="78"/>
                      <a:pt x="93" y="79"/>
                      <a:pt x="92" y="79"/>
                    </a:cubicBezTo>
                    <a:cubicBezTo>
                      <a:pt x="91" y="80"/>
                      <a:pt x="90" y="79"/>
                      <a:pt x="88" y="78"/>
                    </a:cubicBezTo>
                    <a:cubicBezTo>
                      <a:pt x="19" y="36"/>
                      <a:pt x="19" y="36"/>
                      <a:pt x="19" y="36"/>
                    </a:cubicBezTo>
                    <a:cubicBezTo>
                      <a:pt x="19" y="36"/>
                      <a:pt x="19" y="36"/>
                      <a:pt x="19" y="36"/>
                    </a:cubicBezTo>
                    <a:lnTo>
                      <a:pt x="35" y="7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Oval 23"/>
              <p:cNvSpPr>
                <a:spLocks noChangeArrowheads="1"/>
              </p:cNvSpPr>
              <p:nvPr/>
            </p:nvSpPr>
            <p:spPr bwMode="auto">
              <a:xfrm>
                <a:off x="3365138" y="4068392"/>
                <a:ext cx="120069" cy="12006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Oval 24"/>
              <p:cNvSpPr>
                <a:spLocks noChangeArrowheads="1"/>
              </p:cNvSpPr>
              <p:nvPr/>
            </p:nvSpPr>
            <p:spPr bwMode="auto">
              <a:xfrm>
                <a:off x="5658458" y="4068392"/>
                <a:ext cx="120069" cy="12006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25"/>
              <p:cNvSpPr/>
              <p:nvPr/>
            </p:nvSpPr>
            <p:spPr bwMode="auto">
              <a:xfrm>
                <a:off x="3701332" y="4102011"/>
                <a:ext cx="312180" cy="473071"/>
              </a:xfrm>
              <a:custGeom>
                <a:avLst/>
                <a:gdLst>
                  <a:gd name="T0" fmla="*/ 34 w 55"/>
                  <a:gd name="T1" fmla="*/ 67 h 83"/>
                  <a:gd name="T2" fmla="*/ 41 w 55"/>
                  <a:gd name="T3" fmla="*/ 77 h 83"/>
                  <a:gd name="T4" fmla="*/ 47 w 55"/>
                  <a:gd name="T5" fmla="*/ 82 h 83"/>
                  <a:gd name="T6" fmla="*/ 45 w 55"/>
                  <a:gd name="T7" fmla="*/ 82 h 83"/>
                  <a:gd name="T8" fmla="*/ 23 w 55"/>
                  <a:gd name="T9" fmla="*/ 75 h 83"/>
                  <a:gd name="T10" fmla="*/ 1 w 55"/>
                  <a:gd name="T11" fmla="*/ 68 h 83"/>
                  <a:gd name="T12" fmla="*/ 0 w 55"/>
                  <a:gd name="T13" fmla="*/ 66 h 83"/>
                  <a:gd name="T14" fmla="*/ 8 w 55"/>
                  <a:gd name="T15" fmla="*/ 67 h 83"/>
                  <a:gd name="T16" fmla="*/ 19 w 55"/>
                  <a:gd name="T17" fmla="*/ 62 h 83"/>
                  <a:gd name="T18" fmla="*/ 36 w 55"/>
                  <a:gd name="T19" fmla="*/ 12 h 83"/>
                  <a:gd name="T20" fmla="*/ 34 w 55"/>
                  <a:gd name="T21" fmla="*/ 8 h 83"/>
                  <a:gd name="T22" fmla="*/ 20 w 55"/>
                  <a:gd name="T23" fmla="*/ 4 h 83"/>
                  <a:gd name="T24" fmla="*/ 18 w 55"/>
                  <a:gd name="T25" fmla="*/ 2 h 83"/>
                  <a:gd name="T26" fmla="*/ 30 w 55"/>
                  <a:gd name="T27" fmla="*/ 4 h 83"/>
                  <a:gd name="T28" fmla="*/ 54 w 55"/>
                  <a:gd name="T29" fmla="*/ 3 h 83"/>
                  <a:gd name="T30" fmla="*/ 55 w 55"/>
                  <a:gd name="T31" fmla="*/ 6 h 83"/>
                  <a:gd name="T32" fmla="*/ 34 w 55"/>
                  <a:gd name="T33" fmla="*/ 67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5" h="83">
                    <a:moveTo>
                      <a:pt x="34" y="67"/>
                    </a:moveTo>
                    <a:cubicBezTo>
                      <a:pt x="33" y="72"/>
                      <a:pt x="35" y="75"/>
                      <a:pt x="41" y="77"/>
                    </a:cubicBezTo>
                    <a:cubicBezTo>
                      <a:pt x="46" y="80"/>
                      <a:pt x="48" y="80"/>
                      <a:pt x="47" y="82"/>
                    </a:cubicBezTo>
                    <a:cubicBezTo>
                      <a:pt x="47" y="82"/>
                      <a:pt x="46" y="83"/>
                      <a:pt x="45" y="82"/>
                    </a:cubicBezTo>
                    <a:cubicBezTo>
                      <a:pt x="38" y="80"/>
                      <a:pt x="30" y="77"/>
                      <a:pt x="23" y="75"/>
                    </a:cubicBezTo>
                    <a:cubicBezTo>
                      <a:pt x="16" y="73"/>
                      <a:pt x="9" y="70"/>
                      <a:pt x="1" y="68"/>
                    </a:cubicBezTo>
                    <a:cubicBezTo>
                      <a:pt x="0" y="68"/>
                      <a:pt x="0" y="67"/>
                      <a:pt x="0" y="66"/>
                    </a:cubicBezTo>
                    <a:cubicBezTo>
                      <a:pt x="1" y="65"/>
                      <a:pt x="2" y="65"/>
                      <a:pt x="8" y="67"/>
                    </a:cubicBezTo>
                    <a:cubicBezTo>
                      <a:pt x="14" y="68"/>
                      <a:pt x="17" y="67"/>
                      <a:pt x="19" y="62"/>
                    </a:cubicBezTo>
                    <a:cubicBezTo>
                      <a:pt x="36" y="12"/>
                      <a:pt x="36" y="12"/>
                      <a:pt x="36" y="12"/>
                    </a:cubicBezTo>
                    <a:cubicBezTo>
                      <a:pt x="37" y="10"/>
                      <a:pt x="36" y="9"/>
                      <a:pt x="34" y="8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19" y="3"/>
                      <a:pt x="18" y="3"/>
                      <a:pt x="18" y="2"/>
                    </a:cubicBezTo>
                    <a:cubicBezTo>
                      <a:pt x="19" y="0"/>
                      <a:pt x="21" y="2"/>
                      <a:pt x="30" y="4"/>
                    </a:cubicBezTo>
                    <a:cubicBezTo>
                      <a:pt x="45" y="7"/>
                      <a:pt x="52" y="3"/>
                      <a:pt x="54" y="3"/>
                    </a:cubicBezTo>
                    <a:cubicBezTo>
                      <a:pt x="55" y="4"/>
                      <a:pt x="55" y="4"/>
                      <a:pt x="55" y="6"/>
                    </a:cubicBezTo>
                    <a:lnTo>
                      <a:pt x="34" y="6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26"/>
              <p:cNvSpPr>
                <a:spLocks noEditPoints="1"/>
              </p:cNvSpPr>
              <p:nvPr/>
            </p:nvSpPr>
            <p:spPr bwMode="auto">
              <a:xfrm>
                <a:off x="4162397" y="4176455"/>
                <a:ext cx="340996" cy="449058"/>
              </a:xfrm>
              <a:custGeom>
                <a:avLst/>
                <a:gdLst>
                  <a:gd name="T0" fmla="*/ 32 w 60"/>
                  <a:gd name="T1" fmla="*/ 2 h 79"/>
                  <a:gd name="T2" fmla="*/ 58 w 60"/>
                  <a:gd name="T3" fmla="*/ 39 h 79"/>
                  <a:gd name="T4" fmla="*/ 8 w 60"/>
                  <a:gd name="T5" fmla="*/ 79 h 79"/>
                  <a:gd name="T6" fmla="*/ 7 w 60"/>
                  <a:gd name="T7" fmla="*/ 78 h 79"/>
                  <a:gd name="T8" fmla="*/ 40 w 60"/>
                  <a:gd name="T9" fmla="*/ 46 h 79"/>
                  <a:gd name="T10" fmla="*/ 25 w 60"/>
                  <a:gd name="T11" fmla="*/ 49 h 79"/>
                  <a:gd name="T12" fmla="*/ 1 w 60"/>
                  <a:gd name="T13" fmla="*/ 23 h 79"/>
                  <a:gd name="T14" fmla="*/ 32 w 60"/>
                  <a:gd name="T15" fmla="*/ 2 h 79"/>
                  <a:gd name="T16" fmla="*/ 28 w 60"/>
                  <a:gd name="T17" fmla="*/ 47 h 79"/>
                  <a:gd name="T18" fmla="*/ 41 w 60"/>
                  <a:gd name="T19" fmla="*/ 42 h 79"/>
                  <a:gd name="T20" fmla="*/ 44 w 60"/>
                  <a:gd name="T21" fmla="*/ 32 h 79"/>
                  <a:gd name="T22" fmla="*/ 32 w 60"/>
                  <a:gd name="T23" fmla="*/ 4 h 79"/>
                  <a:gd name="T24" fmla="*/ 16 w 60"/>
                  <a:gd name="T25" fmla="*/ 24 h 79"/>
                  <a:gd name="T26" fmla="*/ 28 w 60"/>
                  <a:gd name="T27" fmla="*/ 47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0" h="79">
                    <a:moveTo>
                      <a:pt x="32" y="2"/>
                    </a:moveTo>
                    <a:cubicBezTo>
                      <a:pt x="51" y="4"/>
                      <a:pt x="60" y="20"/>
                      <a:pt x="58" y="39"/>
                    </a:cubicBezTo>
                    <a:cubicBezTo>
                      <a:pt x="55" y="71"/>
                      <a:pt x="13" y="79"/>
                      <a:pt x="8" y="79"/>
                    </a:cubicBezTo>
                    <a:cubicBezTo>
                      <a:pt x="7" y="79"/>
                      <a:pt x="7" y="78"/>
                      <a:pt x="7" y="78"/>
                    </a:cubicBezTo>
                    <a:cubicBezTo>
                      <a:pt x="7" y="76"/>
                      <a:pt x="31" y="73"/>
                      <a:pt x="40" y="46"/>
                    </a:cubicBezTo>
                    <a:cubicBezTo>
                      <a:pt x="36" y="48"/>
                      <a:pt x="31" y="50"/>
                      <a:pt x="25" y="49"/>
                    </a:cubicBezTo>
                    <a:cubicBezTo>
                      <a:pt x="6" y="47"/>
                      <a:pt x="0" y="34"/>
                      <a:pt x="1" y="23"/>
                    </a:cubicBezTo>
                    <a:cubicBezTo>
                      <a:pt x="2" y="10"/>
                      <a:pt x="13" y="0"/>
                      <a:pt x="32" y="2"/>
                    </a:cubicBezTo>
                    <a:close/>
                    <a:moveTo>
                      <a:pt x="28" y="47"/>
                    </a:moveTo>
                    <a:cubicBezTo>
                      <a:pt x="33" y="47"/>
                      <a:pt x="40" y="44"/>
                      <a:pt x="41" y="42"/>
                    </a:cubicBezTo>
                    <a:cubicBezTo>
                      <a:pt x="42" y="41"/>
                      <a:pt x="43" y="36"/>
                      <a:pt x="44" y="32"/>
                    </a:cubicBezTo>
                    <a:cubicBezTo>
                      <a:pt x="46" y="12"/>
                      <a:pt x="40" y="5"/>
                      <a:pt x="32" y="4"/>
                    </a:cubicBezTo>
                    <a:cubicBezTo>
                      <a:pt x="25" y="4"/>
                      <a:pt x="18" y="7"/>
                      <a:pt x="16" y="24"/>
                    </a:cubicBezTo>
                    <a:cubicBezTo>
                      <a:pt x="15" y="39"/>
                      <a:pt x="21" y="46"/>
                      <a:pt x="28" y="4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27"/>
              <p:cNvSpPr>
                <a:spLocks noEditPoints="1"/>
              </p:cNvSpPr>
              <p:nvPr/>
            </p:nvSpPr>
            <p:spPr bwMode="auto">
              <a:xfrm>
                <a:off x="4618660" y="4188461"/>
                <a:ext cx="340996" cy="461065"/>
              </a:xfrm>
              <a:custGeom>
                <a:avLst/>
                <a:gdLst>
                  <a:gd name="T0" fmla="*/ 12 w 60"/>
                  <a:gd name="T1" fmla="*/ 41 h 81"/>
                  <a:gd name="T2" fmla="*/ 1 w 60"/>
                  <a:gd name="T3" fmla="*/ 25 h 81"/>
                  <a:gd name="T4" fmla="*/ 27 w 60"/>
                  <a:gd name="T5" fmla="*/ 1 h 81"/>
                  <a:gd name="T6" fmla="*/ 51 w 60"/>
                  <a:gd name="T7" fmla="*/ 17 h 81"/>
                  <a:gd name="T8" fmla="*/ 43 w 60"/>
                  <a:gd name="T9" fmla="*/ 34 h 81"/>
                  <a:gd name="T10" fmla="*/ 58 w 60"/>
                  <a:gd name="T11" fmla="*/ 54 h 81"/>
                  <a:gd name="T12" fmla="*/ 29 w 60"/>
                  <a:gd name="T13" fmla="*/ 80 h 81"/>
                  <a:gd name="T14" fmla="*/ 1 w 60"/>
                  <a:gd name="T15" fmla="*/ 61 h 81"/>
                  <a:gd name="T16" fmla="*/ 12 w 60"/>
                  <a:gd name="T17" fmla="*/ 41 h 81"/>
                  <a:gd name="T18" fmla="*/ 29 w 60"/>
                  <a:gd name="T19" fmla="*/ 78 h 81"/>
                  <a:gd name="T20" fmla="*/ 45 w 60"/>
                  <a:gd name="T21" fmla="*/ 60 h 81"/>
                  <a:gd name="T22" fmla="*/ 29 w 60"/>
                  <a:gd name="T23" fmla="*/ 46 h 81"/>
                  <a:gd name="T24" fmla="*/ 15 w 60"/>
                  <a:gd name="T25" fmla="*/ 42 h 81"/>
                  <a:gd name="T26" fmla="*/ 8 w 60"/>
                  <a:gd name="T27" fmla="*/ 58 h 81"/>
                  <a:gd name="T28" fmla="*/ 29 w 60"/>
                  <a:gd name="T29" fmla="*/ 78 h 81"/>
                  <a:gd name="T30" fmla="*/ 27 w 60"/>
                  <a:gd name="T31" fmla="*/ 3 h 81"/>
                  <a:gd name="T32" fmla="*/ 15 w 60"/>
                  <a:gd name="T33" fmla="*/ 17 h 81"/>
                  <a:gd name="T34" fmla="*/ 41 w 60"/>
                  <a:gd name="T35" fmla="*/ 33 h 81"/>
                  <a:gd name="T36" fmla="*/ 45 w 60"/>
                  <a:gd name="T37" fmla="*/ 19 h 81"/>
                  <a:gd name="T38" fmla="*/ 27 w 60"/>
                  <a:gd name="T39" fmla="*/ 3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60" h="81">
                    <a:moveTo>
                      <a:pt x="12" y="41"/>
                    </a:moveTo>
                    <a:cubicBezTo>
                      <a:pt x="5" y="37"/>
                      <a:pt x="2" y="31"/>
                      <a:pt x="1" y="25"/>
                    </a:cubicBezTo>
                    <a:cubicBezTo>
                      <a:pt x="0" y="13"/>
                      <a:pt x="11" y="2"/>
                      <a:pt x="27" y="1"/>
                    </a:cubicBezTo>
                    <a:cubicBezTo>
                      <a:pt x="40" y="0"/>
                      <a:pt x="50" y="7"/>
                      <a:pt x="51" y="17"/>
                    </a:cubicBezTo>
                    <a:cubicBezTo>
                      <a:pt x="51" y="23"/>
                      <a:pt x="48" y="30"/>
                      <a:pt x="43" y="34"/>
                    </a:cubicBezTo>
                    <a:cubicBezTo>
                      <a:pt x="52" y="36"/>
                      <a:pt x="58" y="44"/>
                      <a:pt x="58" y="54"/>
                    </a:cubicBezTo>
                    <a:cubicBezTo>
                      <a:pt x="60" y="67"/>
                      <a:pt x="48" y="78"/>
                      <a:pt x="29" y="80"/>
                    </a:cubicBezTo>
                    <a:cubicBezTo>
                      <a:pt x="13" y="81"/>
                      <a:pt x="2" y="72"/>
                      <a:pt x="1" y="61"/>
                    </a:cubicBezTo>
                    <a:cubicBezTo>
                      <a:pt x="0" y="54"/>
                      <a:pt x="4" y="46"/>
                      <a:pt x="12" y="41"/>
                    </a:cubicBezTo>
                    <a:close/>
                    <a:moveTo>
                      <a:pt x="29" y="78"/>
                    </a:moveTo>
                    <a:cubicBezTo>
                      <a:pt x="40" y="77"/>
                      <a:pt x="46" y="69"/>
                      <a:pt x="45" y="60"/>
                    </a:cubicBezTo>
                    <a:cubicBezTo>
                      <a:pt x="44" y="54"/>
                      <a:pt x="41" y="50"/>
                      <a:pt x="29" y="46"/>
                    </a:cubicBezTo>
                    <a:cubicBezTo>
                      <a:pt x="17" y="43"/>
                      <a:pt x="16" y="42"/>
                      <a:pt x="15" y="42"/>
                    </a:cubicBezTo>
                    <a:cubicBezTo>
                      <a:pt x="13" y="42"/>
                      <a:pt x="7" y="49"/>
                      <a:pt x="8" y="58"/>
                    </a:cubicBezTo>
                    <a:cubicBezTo>
                      <a:pt x="9" y="71"/>
                      <a:pt x="17" y="79"/>
                      <a:pt x="29" y="78"/>
                    </a:cubicBezTo>
                    <a:close/>
                    <a:moveTo>
                      <a:pt x="27" y="3"/>
                    </a:moveTo>
                    <a:cubicBezTo>
                      <a:pt x="19" y="4"/>
                      <a:pt x="14" y="9"/>
                      <a:pt x="15" y="17"/>
                    </a:cubicBezTo>
                    <a:cubicBezTo>
                      <a:pt x="16" y="29"/>
                      <a:pt x="33" y="31"/>
                      <a:pt x="41" y="33"/>
                    </a:cubicBezTo>
                    <a:cubicBezTo>
                      <a:pt x="44" y="30"/>
                      <a:pt x="45" y="27"/>
                      <a:pt x="45" y="19"/>
                    </a:cubicBezTo>
                    <a:cubicBezTo>
                      <a:pt x="44" y="8"/>
                      <a:pt x="37" y="2"/>
                      <a:pt x="27" y="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8"/>
              <p:cNvSpPr/>
              <p:nvPr/>
            </p:nvSpPr>
            <p:spPr bwMode="auto">
              <a:xfrm>
                <a:off x="5038901" y="4102011"/>
                <a:ext cx="369813" cy="480277"/>
              </a:xfrm>
              <a:custGeom>
                <a:avLst/>
                <a:gdLst>
                  <a:gd name="T0" fmla="*/ 43 w 65"/>
                  <a:gd name="T1" fmla="*/ 28 h 84"/>
                  <a:gd name="T2" fmla="*/ 61 w 65"/>
                  <a:gd name="T3" fmla="*/ 44 h 84"/>
                  <a:gd name="T4" fmla="*/ 39 w 65"/>
                  <a:gd name="T5" fmla="*/ 79 h 84"/>
                  <a:gd name="T6" fmla="*/ 9 w 65"/>
                  <a:gd name="T7" fmla="*/ 72 h 84"/>
                  <a:gd name="T8" fmla="*/ 14 w 65"/>
                  <a:gd name="T9" fmla="*/ 62 h 84"/>
                  <a:gd name="T10" fmla="*/ 25 w 65"/>
                  <a:gd name="T11" fmla="*/ 70 h 84"/>
                  <a:gd name="T12" fmla="*/ 38 w 65"/>
                  <a:gd name="T13" fmla="*/ 77 h 84"/>
                  <a:gd name="T14" fmla="*/ 48 w 65"/>
                  <a:gd name="T15" fmla="*/ 55 h 84"/>
                  <a:gd name="T16" fmla="*/ 31 w 65"/>
                  <a:gd name="T17" fmla="*/ 41 h 84"/>
                  <a:gd name="T18" fmla="*/ 21 w 65"/>
                  <a:gd name="T19" fmla="*/ 42 h 84"/>
                  <a:gd name="T20" fmla="*/ 30 w 65"/>
                  <a:gd name="T21" fmla="*/ 36 h 84"/>
                  <a:gd name="T22" fmla="*/ 32 w 65"/>
                  <a:gd name="T23" fmla="*/ 21 h 84"/>
                  <a:gd name="T24" fmla="*/ 14 w 65"/>
                  <a:gd name="T25" fmla="*/ 13 h 84"/>
                  <a:gd name="T26" fmla="*/ 2 w 65"/>
                  <a:gd name="T27" fmla="*/ 26 h 84"/>
                  <a:gd name="T28" fmla="*/ 1 w 65"/>
                  <a:gd name="T29" fmla="*/ 26 h 84"/>
                  <a:gd name="T30" fmla="*/ 18 w 65"/>
                  <a:gd name="T31" fmla="*/ 3 h 84"/>
                  <a:gd name="T32" fmla="*/ 45 w 65"/>
                  <a:gd name="T33" fmla="*/ 14 h 84"/>
                  <a:gd name="T34" fmla="*/ 43 w 65"/>
                  <a:gd name="T35" fmla="*/ 28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5" h="84">
                    <a:moveTo>
                      <a:pt x="43" y="28"/>
                    </a:moveTo>
                    <a:cubicBezTo>
                      <a:pt x="51" y="31"/>
                      <a:pt x="58" y="35"/>
                      <a:pt x="61" y="44"/>
                    </a:cubicBezTo>
                    <a:cubicBezTo>
                      <a:pt x="65" y="58"/>
                      <a:pt x="55" y="74"/>
                      <a:pt x="39" y="79"/>
                    </a:cubicBezTo>
                    <a:cubicBezTo>
                      <a:pt x="24" y="84"/>
                      <a:pt x="11" y="80"/>
                      <a:pt x="9" y="72"/>
                    </a:cubicBezTo>
                    <a:cubicBezTo>
                      <a:pt x="8" y="68"/>
                      <a:pt x="10" y="63"/>
                      <a:pt x="14" y="62"/>
                    </a:cubicBezTo>
                    <a:cubicBezTo>
                      <a:pt x="20" y="60"/>
                      <a:pt x="23" y="62"/>
                      <a:pt x="25" y="70"/>
                    </a:cubicBezTo>
                    <a:cubicBezTo>
                      <a:pt x="28" y="77"/>
                      <a:pt x="33" y="79"/>
                      <a:pt x="38" y="77"/>
                    </a:cubicBezTo>
                    <a:cubicBezTo>
                      <a:pt x="47" y="74"/>
                      <a:pt x="51" y="66"/>
                      <a:pt x="48" y="55"/>
                    </a:cubicBezTo>
                    <a:cubicBezTo>
                      <a:pt x="45" y="46"/>
                      <a:pt x="38" y="41"/>
                      <a:pt x="31" y="41"/>
                    </a:cubicBezTo>
                    <a:cubicBezTo>
                      <a:pt x="26" y="41"/>
                      <a:pt x="22" y="43"/>
                      <a:pt x="21" y="42"/>
                    </a:cubicBezTo>
                    <a:cubicBezTo>
                      <a:pt x="21" y="39"/>
                      <a:pt x="26" y="40"/>
                      <a:pt x="30" y="36"/>
                    </a:cubicBezTo>
                    <a:cubicBezTo>
                      <a:pt x="33" y="33"/>
                      <a:pt x="34" y="27"/>
                      <a:pt x="32" y="21"/>
                    </a:cubicBezTo>
                    <a:cubicBezTo>
                      <a:pt x="29" y="13"/>
                      <a:pt x="23" y="10"/>
                      <a:pt x="14" y="13"/>
                    </a:cubicBezTo>
                    <a:cubicBezTo>
                      <a:pt x="2" y="17"/>
                      <a:pt x="4" y="26"/>
                      <a:pt x="2" y="26"/>
                    </a:cubicBezTo>
                    <a:cubicBezTo>
                      <a:pt x="1" y="27"/>
                      <a:pt x="1" y="26"/>
                      <a:pt x="1" y="26"/>
                    </a:cubicBezTo>
                    <a:cubicBezTo>
                      <a:pt x="0" y="23"/>
                      <a:pt x="3" y="8"/>
                      <a:pt x="18" y="3"/>
                    </a:cubicBezTo>
                    <a:cubicBezTo>
                      <a:pt x="29" y="0"/>
                      <a:pt x="41" y="3"/>
                      <a:pt x="45" y="14"/>
                    </a:cubicBezTo>
                    <a:cubicBezTo>
                      <a:pt x="46" y="19"/>
                      <a:pt x="45" y="23"/>
                      <a:pt x="43" y="2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9"/>
              <p:cNvSpPr>
                <a:spLocks noEditPoints="1"/>
              </p:cNvSpPr>
              <p:nvPr/>
            </p:nvSpPr>
            <p:spPr bwMode="auto">
              <a:xfrm>
                <a:off x="1947444" y="-250327"/>
                <a:ext cx="5162972" cy="5160570"/>
              </a:xfrm>
              <a:custGeom>
                <a:avLst/>
                <a:gdLst>
                  <a:gd name="T0" fmla="*/ 454 w 907"/>
                  <a:gd name="T1" fmla="*/ 907 h 907"/>
                  <a:gd name="T2" fmla="*/ 277 w 907"/>
                  <a:gd name="T3" fmla="*/ 871 h 907"/>
                  <a:gd name="T4" fmla="*/ 133 w 907"/>
                  <a:gd name="T5" fmla="*/ 774 h 907"/>
                  <a:gd name="T6" fmla="*/ 36 w 907"/>
                  <a:gd name="T7" fmla="*/ 630 h 907"/>
                  <a:gd name="T8" fmla="*/ 0 w 907"/>
                  <a:gd name="T9" fmla="*/ 453 h 907"/>
                  <a:gd name="T10" fmla="*/ 36 w 907"/>
                  <a:gd name="T11" fmla="*/ 277 h 907"/>
                  <a:gd name="T12" fmla="*/ 133 w 907"/>
                  <a:gd name="T13" fmla="*/ 133 h 907"/>
                  <a:gd name="T14" fmla="*/ 277 w 907"/>
                  <a:gd name="T15" fmla="*/ 35 h 907"/>
                  <a:gd name="T16" fmla="*/ 454 w 907"/>
                  <a:gd name="T17" fmla="*/ 0 h 907"/>
                  <a:gd name="T18" fmla="*/ 630 w 907"/>
                  <a:gd name="T19" fmla="*/ 35 h 907"/>
                  <a:gd name="T20" fmla="*/ 774 w 907"/>
                  <a:gd name="T21" fmla="*/ 133 h 907"/>
                  <a:gd name="T22" fmla="*/ 871 w 907"/>
                  <a:gd name="T23" fmla="*/ 277 h 907"/>
                  <a:gd name="T24" fmla="*/ 907 w 907"/>
                  <a:gd name="T25" fmla="*/ 453 h 907"/>
                  <a:gd name="T26" fmla="*/ 871 w 907"/>
                  <a:gd name="T27" fmla="*/ 630 h 907"/>
                  <a:gd name="T28" fmla="*/ 774 w 907"/>
                  <a:gd name="T29" fmla="*/ 774 h 907"/>
                  <a:gd name="T30" fmla="*/ 630 w 907"/>
                  <a:gd name="T31" fmla="*/ 871 h 907"/>
                  <a:gd name="T32" fmla="*/ 454 w 907"/>
                  <a:gd name="T33" fmla="*/ 907 h 907"/>
                  <a:gd name="T34" fmla="*/ 454 w 907"/>
                  <a:gd name="T35" fmla="*/ 16 h 907"/>
                  <a:gd name="T36" fmla="*/ 16 w 907"/>
                  <a:gd name="T37" fmla="*/ 453 h 907"/>
                  <a:gd name="T38" fmla="*/ 454 w 907"/>
                  <a:gd name="T39" fmla="*/ 891 h 907"/>
                  <a:gd name="T40" fmla="*/ 891 w 907"/>
                  <a:gd name="T41" fmla="*/ 453 h 907"/>
                  <a:gd name="T42" fmla="*/ 454 w 907"/>
                  <a:gd name="T43" fmla="*/ 16 h 9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907" h="907">
                    <a:moveTo>
                      <a:pt x="454" y="907"/>
                    </a:moveTo>
                    <a:cubicBezTo>
                      <a:pt x="392" y="907"/>
                      <a:pt x="333" y="895"/>
                      <a:pt x="277" y="871"/>
                    </a:cubicBezTo>
                    <a:cubicBezTo>
                      <a:pt x="223" y="848"/>
                      <a:pt x="174" y="816"/>
                      <a:pt x="133" y="774"/>
                    </a:cubicBezTo>
                    <a:cubicBezTo>
                      <a:pt x="91" y="732"/>
                      <a:pt x="58" y="684"/>
                      <a:pt x="36" y="630"/>
                    </a:cubicBezTo>
                    <a:cubicBezTo>
                      <a:pt x="12" y="574"/>
                      <a:pt x="0" y="515"/>
                      <a:pt x="0" y="453"/>
                    </a:cubicBezTo>
                    <a:cubicBezTo>
                      <a:pt x="0" y="392"/>
                      <a:pt x="12" y="333"/>
                      <a:pt x="36" y="277"/>
                    </a:cubicBezTo>
                    <a:cubicBezTo>
                      <a:pt x="58" y="223"/>
                      <a:pt x="91" y="174"/>
                      <a:pt x="133" y="133"/>
                    </a:cubicBezTo>
                    <a:cubicBezTo>
                      <a:pt x="174" y="91"/>
                      <a:pt x="223" y="58"/>
                      <a:pt x="277" y="35"/>
                    </a:cubicBezTo>
                    <a:cubicBezTo>
                      <a:pt x="333" y="12"/>
                      <a:pt x="392" y="0"/>
                      <a:pt x="454" y="0"/>
                    </a:cubicBezTo>
                    <a:cubicBezTo>
                      <a:pt x="515" y="0"/>
                      <a:pt x="574" y="12"/>
                      <a:pt x="630" y="35"/>
                    </a:cubicBezTo>
                    <a:cubicBezTo>
                      <a:pt x="684" y="58"/>
                      <a:pt x="733" y="91"/>
                      <a:pt x="774" y="133"/>
                    </a:cubicBezTo>
                    <a:cubicBezTo>
                      <a:pt x="816" y="174"/>
                      <a:pt x="849" y="223"/>
                      <a:pt x="871" y="277"/>
                    </a:cubicBezTo>
                    <a:cubicBezTo>
                      <a:pt x="895" y="333"/>
                      <a:pt x="907" y="392"/>
                      <a:pt x="907" y="453"/>
                    </a:cubicBezTo>
                    <a:cubicBezTo>
                      <a:pt x="907" y="515"/>
                      <a:pt x="895" y="574"/>
                      <a:pt x="871" y="630"/>
                    </a:cubicBezTo>
                    <a:cubicBezTo>
                      <a:pt x="849" y="684"/>
                      <a:pt x="816" y="732"/>
                      <a:pt x="774" y="774"/>
                    </a:cubicBezTo>
                    <a:cubicBezTo>
                      <a:pt x="733" y="816"/>
                      <a:pt x="684" y="848"/>
                      <a:pt x="630" y="871"/>
                    </a:cubicBezTo>
                    <a:cubicBezTo>
                      <a:pt x="574" y="895"/>
                      <a:pt x="515" y="907"/>
                      <a:pt x="454" y="907"/>
                    </a:cubicBezTo>
                    <a:close/>
                    <a:moveTo>
                      <a:pt x="454" y="16"/>
                    </a:moveTo>
                    <a:cubicBezTo>
                      <a:pt x="212" y="16"/>
                      <a:pt x="16" y="212"/>
                      <a:pt x="16" y="453"/>
                    </a:cubicBezTo>
                    <a:cubicBezTo>
                      <a:pt x="16" y="695"/>
                      <a:pt x="212" y="891"/>
                      <a:pt x="454" y="891"/>
                    </a:cubicBezTo>
                    <a:cubicBezTo>
                      <a:pt x="695" y="891"/>
                      <a:pt x="891" y="695"/>
                      <a:pt x="891" y="453"/>
                    </a:cubicBezTo>
                    <a:cubicBezTo>
                      <a:pt x="891" y="212"/>
                      <a:pt x="695" y="16"/>
                      <a:pt x="454" y="1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30"/>
              <p:cNvSpPr/>
              <p:nvPr/>
            </p:nvSpPr>
            <p:spPr bwMode="auto">
              <a:xfrm>
                <a:off x="4111967" y="2531507"/>
                <a:ext cx="79246" cy="40823"/>
              </a:xfrm>
              <a:custGeom>
                <a:avLst/>
                <a:gdLst>
                  <a:gd name="T0" fmla="*/ 3 w 14"/>
                  <a:gd name="T1" fmla="*/ 6 h 7"/>
                  <a:gd name="T2" fmla="*/ 7 w 14"/>
                  <a:gd name="T3" fmla="*/ 7 h 7"/>
                  <a:gd name="T4" fmla="*/ 13 w 14"/>
                  <a:gd name="T5" fmla="*/ 4 h 7"/>
                  <a:gd name="T6" fmla="*/ 14 w 14"/>
                  <a:gd name="T7" fmla="*/ 4 h 7"/>
                  <a:gd name="T8" fmla="*/ 7 w 14"/>
                  <a:gd name="T9" fmla="*/ 0 h 7"/>
                  <a:gd name="T10" fmla="*/ 0 w 14"/>
                  <a:gd name="T11" fmla="*/ 3 h 7"/>
                  <a:gd name="T12" fmla="*/ 3 w 14"/>
                  <a:gd name="T13" fmla="*/ 6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7">
                    <a:moveTo>
                      <a:pt x="3" y="6"/>
                    </a:moveTo>
                    <a:cubicBezTo>
                      <a:pt x="4" y="7"/>
                      <a:pt x="5" y="7"/>
                      <a:pt x="7" y="7"/>
                    </a:cubicBezTo>
                    <a:cubicBezTo>
                      <a:pt x="10" y="7"/>
                      <a:pt x="12" y="5"/>
                      <a:pt x="13" y="4"/>
                    </a:cubicBezTo>
                    <a:cubicBezTo>
                      <a:pt x="13" y="4"/>
                      <a:pt x="14" y="4"/>
                      <a:pt x="14" y="4"/>
                    </a:cubicBezTo>
                    <a:cubicBezTo>
                      <a:pt x="14" y="2"/>
                      <a:pt x="9" y="0"/>
                      <a:pt x="7" y="0"/>
                    </a:cubicBezTo>
                    <a:cubicBezTo>
                      <a:pt x="4" y="0"/>
                      <a:pt x="0" y="3"/>
                      <a:pt x="0" y="3"/>
                    </a:cubicBezTo>
                    <a:cubicBezTo>
                      <a:pt x="0" y="4"/>
                      <a:pt x="2" y="6"/>
                      <a:pt x="3" y="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31"/>
              <p:cNvSpPr/>
              <p:nvPr/>
            </p:nvSpPr>
            <p:spPr bwMode="auto">
              <a:xfrm>
                <a:off x="3975090" y="2846089"/>
                <a:ext cx="316982" cy="62436"/>
              </a:xfrm>
              <a:custGeom>
                <a:avLst/>
                <a:gdLst>
                  <a:gd name="T0" fmla="*/ 55 w 56"/>
                  <a:gd name="T1" fmla="*/ 7 h 11"/>
                  <a:gd name="T2" fmla="*/ 40 w 56"/>
                  <a:gd name="T3" fmla="*/ 2 h 11"/>
                  <a:gd name="T4" fmla="*/ 5 w 56"/>
                  <a:gd name="T5" fmla="*/ 2 h 11"/>
                  <a:gd name="T6" fmla="*/ 1 w 56"/>
                  <a:gd name="T7" fmla="*/ 6 h 11"/>
                  <a:gd name="T8" fmla="*/ 24 w 56"/>
                  <a:gd name="T9" fmla="*/ 11 h 11"/>
                  <a:gd name="T10" fmla="*/ 33 w 56"/>
                  <a:gd name="T11" fmla="*/ 10 h 11"/>
                  <a:gd name="T12" fmla="*/ 55 w 56"/>
                  <a:gd name="T13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6" h="11">
                    <a:moveTo>
                      <a:pt x="55" y="7"/>
                    </a:moveTo>
                    <a:cubicBezTo>
                      <a:pt x="56" y="0"/>
                      <a:pt x="54" y="2"/>
                      <a:pt x="40" y="2"/>
                    </a:cubicBezTo>
                    <a:cubicBezTo>
                      <a:pt x="33" y="2"/>
                      <a:pt x="11" y="1"/>
                      <a:pt x="5" y="2"/>
                    </a:cubicBezTo>
                    <a:cubicBezTo>
                      <a:pt x="2" y="3"/>
                      <a:pt x="1" y="5"/>
                      <a:pt x="1" y="6"/>
                    </a:cubicBezTo>
                    <a:cubicBezTo>
                      <a:pt x="1" y="11"/>
                      <a:pt x="0" y="11"/>
                      <a:pt x="24" y="11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48" y="9"/>
                      <a:pt x="52" y="11"/>
                      <a:pt x="55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32"/>
              <p:cNvSpPr>
                <a:spLocks noEditPoints="1"/>
              </p:cNvSpPr>
              <p:nvPr/>
            </p:nvSpPr>
            <p:spPr bwMode="auto">
              <a:xfrm>
                <a:off x="3007332" y="773696"/>
                <a:ext cx="3136205" cy="3141008"/>
              </a:xfrm>
              <a:custGeom>
                <a:avLst/>
                <a:gdLst>
                  <a:gd name="T0" fmla="*/ 551 w 551"/>
                  <a:gd name="T1" fmla="*/ 169 h 552"/>
                  <a:gd name="T2" fmla="*/ 366 w 551"/>
                  <a:gd name="T3" fmla="*/ 5 h 552"/>
                  <a:gd name="T4" fmla="*/ 201 w 551"/>
                  <a:gd name="T5" fmla="*/ 16 h 552"/>
                  <a:gd name="T6" fmla="*/ 169 w 551"/>
                  <a:gd name="T7" fmla="*/ 0 h 552"/>
                  <a:gd name="T8" fmla="*/ 78 w 551"/>
                  <a:gd name="T9" fmla="*/ 172 h 552"/>
                  <a:gd name="T10" fmla="*/ 6 w 551"/>
                  <a:gd name="T11" fmla="*/ 259 h 552"/>
                  <a:gd name="T12" fmla="*/ 78 w 551"/>
                  <a:gd name="T13" fmla="*/ 268 h 552"/>
                  <a:gd name="T14" fmla="*/ 6 w 551"/>
                  <a:gd name="T15" fmla="*/ 355 h 552"/>
                  <a:gd name="T16" fmla="*/ 85 w 551"/>
                  <a:gd name="T17" fmla="*/ 349 h 552"/>
                  <a:gd name="T18" fmla="*/ 187 w 551"/>
                  <a:gd name="T19" fmla="*/ 486 h 552"/>
                  <a:gd name="T20" fmla="*/ 169 w 551"/>
                  <a:gd name="T21" fmla="*/ 552 h 552"/>
                  <a:gd name="T22" fmla="*/ 254 w 551"/>
                  <a:gd name="T23" fmla="*/ 486 h 552"/>
                  <a:gd name="T24" fmla="*/ 298 w 551"/>
                  <a:gd name="T25" fmla="*/ 477 h 552"/>
                  <a:gd name="T26" fmla="*/ 336 w 551"/>
                  <a:gd name="T27" fmla="*/ 477 h 552"/>
                  <a:gd name="T28" fmla="*/ 473 w 551"/>
                  <a:gd name="T29" fmla="*/ 379 h 552"/>
                  <a:gd name="T30" fmla="*/ 546 w 551"/>
                  <a:gd name="T31" fmla="*/ 395 h 552"/>
                  <a:gd name="T32" fmla="*/ 466 w 551"/>
                  <a:gd name="T33" fmla="*/ 268 h 552"/>
                  <a:gd name="T34" fmla="*/ 551 w 551"/>
                  <a:gd name="T35" fmla="*/ 355 h 552"/>
                  <a:gd name="T36" fmla="*/ 466 w 551"/>
                  <a:gd name="T37" fmla="*/ 165 h 552"/>
                  <a:gd name="T38" fmla="*/ 413 w 551"/>
                  <a:gd name="T39" fmla="*/ 178 h 552"/>
                  <a:gd name="T40" fmla="*/ 319 w 551"/>
                  <a:gd name="T41" fmla="*/ 143 h 552"/>
                  <a:gd name="T42" fmla="*/ 319 w 551"/>
                  <a:gd name="T43" fmla="*/ 143 h 552"/>
                  <a:gd name="T44" fmla="*/ 315 w 551"/>
                  <a:gd name="T45" fmla="*/ 209 h 552"/>
                  <a:gd name="T46" fmla="*/ 309 w 551"/>
                  <a:gd name="T47" fmla="*/ 215 h 552"/>
                  <a:gd name="T48" fmla="*/ 294 w 551"/>
                  <a:gd name="T49" fmla="*/ 138 h 552"/>
                  <a:gd name="T50" fmla="*/ 291 w 551"/>
                  <a:gd name="T51" fmla="*/ 237 h 552"/>
                  <a:gd name="T52" fmla="*/ 211 w 551"/>
                  <a:gd name="T53" fmla="*/ 419 h 552"/>
                  <a:gd name="T54" fmla="*/ 157 w 551"/>
                  <a:gd name="T55" fmla="*/ 404 h 552"/>
                  <a:gd name="T56" fmla="*/ 157 w 551"/>
                  <a:gd name="T57" fmla="*/ 372 h 552"/>
                  <a:gd name="T58" fmla="*/ 242 w 551"/>
                  <a:gd name="T59" fmla="*/ 393 h 552"/>
                  <a:gd name="T60" fmla="*/ 128 w 551"/>
                  <a:gd name="T61" fmla="*/ 379 h 552"/>
                  <a:gd name="T62" fmla="*/ 161 w 551"/>
                  <a:gd name="T63" fmla="*/ 308 h 552"/>
                  <a:gd name="T64" fmla="*/ 137 w 551"/>
                  <a:gd name="T65" fmla="*/ 335 h 552"/>
                  <a:gd name="T66" fmla="*/ 178 w 551"/>
                  <a:gd name="T67" fmla="*/ 296 h 552"/>
                  <a:gd name="T68" fmla="*/ 212 w 551"/>
                  <a:gd name="T69" fmla="*/ 304 h 552"/>
                  <a:gd name="T70" fmla="*/ 214 w 551"/>
                  <a:gd name="T71" fmla="*/ 334 h 552"/>
                  <a:gd name="T72" fmla="*/ 177 w 551"/>
                  <a:gd name="T73" fmla="*/ 314 h 552"/>
                  <a:gd name="T74" fmla="*/ 240 w 551"/>
                  <a:gd name="T75" fmla="*/ 326 h 552"/>
                  <a:gd name="T76" fmla="*/ 231 w 551"/>
                  <a:gd name="T77" fmla="*/ 298 h 552"/>
                  <a:gd name="T78" fmla="*/ 199 w 551"/>
                  <a:gd name="T79" fmla="*/ 226 h 552"/>
                  <a:gd name="T80" fmla="*/ 146 w 551"/>
                  <a:gd name="T81" fmla="*/ 181 h 552"/>
                  <a:gd name="T82" fmla="*/ 197 w 551"/>
                  <a:gd name="T83" fmla="*/ 131 h 552"/>
                  <a:gd name="T84" fmla="*/ 245 w 551"/>
                  <a:gd name="T85" fmla="*/ 170 h 552"/>
                  <a:gd name="T86" fmla="*/ 207 w 551"/>
                  <a:gd name="T87" fmla="*/ 85 h 552"/>
                  <a:gd name="T88" fmla="*/ 317 w 551"/>
                  <a:gd name="T89" fmla="*/ 392 h 552"/>
                  <a:gd name="T90" fmla="*/ 300 w 551"/>
                  <a:gd name="T91" fmla="*/ 392 h 552"/>
                  <a:gd name="T92" fmla="*/ 299 w 551"/>
                  <a:gd name="T93" fmla="*/ 354 h 552"/>
                  <a:gd name="T94" fmla="*/ 338 w 551"/>
                  <a:gd name="T95" fmla="*/ 314 h 552"/>
                  <a:gd name="T96" fmla="*/ 340 w 551"/>
                  <a:gd name="T97" fmla="*/ 395 h 552"/>
                  <a:gd name="T98" fmla="*/ 365 w 551"/>
                  <a:gd name="T99" fmla="*/ 294 h 552"/>
                  <a:gd name="T100" fmla="*/ 392 w 551"/>
                  <a:gd name="T101" fmla="*/ 429 h 552"/>
                  <a:gd name="T102" fmla="*/ 391 w 551"/>
                  <a:gd name="T103" fmla="*/ 291 h 552"/>
                  <a:gd name="T104" fmla="*/ 417 w 551"/>
                  <a:gd name="T105" fmla="*/ 409 h 552"/>
                  <a:gd name="T106" fmla="*/ 407 w 551"/>
                  <a:gd name="T107" fmla="*/ 289 h 552"/>
                  <a:gd name="T108" fmla="*/ 385 w 551"/>
                  <a:gd name="T109" fmla="*/ 267 h 552"/>
                  <a:gd name="T110" fmla="*/ 334 w 551"/>
                  <a:gd name="T111" fmla="*/ 272 h 552"/>
                  <a:gd name="T112" fmla="*/ 346 w 551"/>
                  <a:gd name="T113" fmla="*/ 190 h 552"/>
                  <a:gd name="T114" fmla="*/ 422 w 551"/>
                  <a:gd name="T115" fmla="*/ 190 h 552"/>
                  <a:gd name="T116" fmla="*/ 426 w 551"/>
                  <a:gd name="T117" fmla="*/ 261 h 5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551" h="552">
                    <a:moveTo>
                      <a:pt x="466" y="157"/>
                    </a:moveTo>
                    <a:cubicBezTo>
                      <a:pt x="466" y="163"/>
                      <a:pt x="469" y="168"/>
                      <a:pt x="473" y="172"/>
                    </a:cubicBezTo>
                    <a:cubicBezTo>
                      <a:pt x="473" y="172"/>
                      <a:pt x="473" y="172"/>
                      <a:pt x="473" y="172"/>
                    </a:cubicBezTo>
                    <a:cubicBezTo>
                      <a:pt x="545" y="244"/>
                      <a:pt x="545" y="244"/>
                      <a:pt x="545" y="244"/>
                    </a:cubicBezTo>
                    <a:cubicBezTo>
                      <a:pt x="545" y="244"/>
                      <a:pt x="545" y="244"/>
                      <a:pt x="545" y="244"/>
                    </a:cubicBezTo>
                    <a:cubicBezTo>
                      <a:pt x="549" y="248"/>
                      <a:pt x="551" y="253"/>
                      <a:pt x="551" y="259"/>
                    </a:cubicBezTo>
                    <a:cubicBezTo>
                      <a:pt x="551" y="169"/>
                      <a:pt x="551" y="169"/>
                      <a:pt x="551" y="169"/>
                    </a:cubicBezTo>
                    <a:cubicBezTo>
                      <a:pt x="551" y="165"/>
                      <a:pt x="549" y="159"/>
                      <a:pt x="546" y="156"/>
                    </a:cubicBezTo>
                    <a:cubicBezTo>
                      <a:pt x="395" y="5"/>
                      <a:pt x="395" y="5"/>
                      <a:pt x="395" y="5"/>
                    </a:cubicBezTo>
                    <a:cubicBezTo>
                      <a:pt x="392" y="2"/>
                      <a:pt x="386" y="0"/>
                      <a:pt x="382" y="0"/>
                    </a:cubicBezTo>
                    <a:cubicBezTo>
                      <a:pt x="371" y="0"/>
                      <a:pt x="371" y="0"/>
                      <a:pt x="371" y="0"/>
                    </a:cubicBezTo>
                    <a:cubicBezTo>
                      <a:pt x="371" y="0"/>
                      <a:pt x="371" y="0"/>
                      <a:pt x="371" y="0"/>
                    </a:cubicBezTo>
                    <a:cubicBezTo>
                      <a:pt x="371" y="0"/>
                      <a:pt x="371" y="0"/>
                      <a:pt x="371" y="0"/>
                    </a:cubicBezTo>
                    <a:cubicBezTo>
                      <a:pt x="368" y="0"/>
                      <a:pt x="366" y="2"/>
                      <a:pt x="366" y="5"/>
                    </a:cubicBezTo>
                    <a:cubicBezTo>
                      <a:pt x="366" y="77"/>
                      <a:pt x="366" y="77"/>
                      <a:pt x="366" y="77"/>
                    </a:cubicBezTo>
                    <a:cubicBezTo>
                      <a:pt x="366" y="81"/>
                      <a:pt x="362" y="85"/>
                      <a:pt x="358" y="85"/>
                    </a:cubicBezTo>
                    <a:cubicBezTo>
                      <a:pt x="350" y="85"/>
                      <a:pt x="350" y="85"/>
                      <a:pt x="350" y="85"/>
                    </a:cubicBezTo>
                    <a:cubicBezTo>
                      <a:pt x="350" y="16"/>
                      <a:pt x="350" y="16"/>
                      <a:pt x="350" y="16"/>
                    </a:cubicBezTo>
                    <a:cubicBezTo>
                      <a:pt x="350" y="7"/>
                      <a:pt x="343" y="0"/>
                      <a:pt x="334" y="0"/>
                    </a:cubicBezTo>
                    <a:cubicBezTo>
                      <a:pt x="217" y="0"/>
                      <a:pt x="217" y="0"/>
                      <a:pt x="217" y="0"/>
                    </a:cubicBezTo>
                    <a:cubicBezTo>
                      <a:pt x="208" y="0"/>
                      <a:pt x="201" y="7"/>
                      <a:pt x="201" y="16"/>
                    </a:cubicBezTo>
                    <a:cubicBezTo>
                      <a:pt x="201" y="85"/>
                      <a:pt x="201" y="85"/>
                      <a:pt x="201" y="85"/>
                    </a:cubicBezTo>
                    <a:cubicBezTo>
                      <a:pt x="193" y="85"/>
                      <a:pt x="193" y="85"/>
                      <a:pt x="193" y="85"/>
                    </a:cubicBezTo>
                    <a:cubicBezTo>
                      <a:pt x="189" y="85"/>
                      <a:pt x="185" y="81"/>
                      <a:pt x="185" y="77"/>
                    </a:cubicBezTo>
                    <a:cubicBezTo>
                      <a:pt x="185" y="5"/>
                      <a:pt x="185" y="5"/>
                      <a:pt x="185" y="5"/>
                    </a:cubicBezTo>
                    <a:cubicBezTo>
                      <a:pt x="185" y="2"/>
                      <a:pt x="183" y="0"/>
                      <a:pt x="180" y="0"/>
                    </a:cubicBezTo>
                    <a:cubicBezTo>
                      <a:pt x="180" y="0"/>
                      <a:pt x="180" y="0"/>
                      <a:pt x="180" y="0"/>
                    </a:cubicBezTo>
                    <a:cubicBezTo>
                      <a:pt x="169" y="0"/>
                      <a:pt x="169" y="0"/>
                      <a:pt x="169" y="0"/>
                    </a:cubicBezTo>
                    <a:cubicBezTo>
                      <a:pt x="165" y="0"/>
                      <a:pt x="159" y="2"/>
                      <a:pt x="156" y="5"/>
                    </a:cubicBezTo>
                    <a:cubicBezTo>
                      <a:pt x="5" y="156"/>
                      <a:pt x="5" y="156"/>
                      <a:pt x="5" y="156"/>
                    </a:cubicBezTo>
                    <a:cubicBezTo>
                      <a:pt x="2" y="159"/>
                      <a:pt x="0" y="165"/>
                      <a:pt x="0" y="169"/>
                    </a:cubicBezTo>
                    <a:cubicBezTo>
                      <a:pt x="0" y="259"/>
                      <a:pt x="0" y="259"/>
                      <a:pt x="0" y="259"/>
                    </a:cubicBezTo>
                    <a:cubicBezTo>
                      <a:pt x="0" y="253"/>
                      <a:pt x="2" y="248"/>
                      <a:pt x="6" y="244"/>
                    </a:cubicBezTo>
                    <a:cubicBezTo>
                      <a:pt x="6" y="244"/>
                      <a:pt x="6" y="244"/>
                      <a:pt x="6" y="244"/>
                    </a:cubicBezTo>
                    <a:cubicBezTo>
                      <a:pt x="78" y="172"/>
                      <a:pt x="78" y="172"/>
                      <a:pt x="78" y="172"/>
                    </a:cubicBezTo>
                    <a:cubicBezTo>
                      <a:pt x="78" y="172"/>
                      <a:pt x="78" y="172"/>
                      <a:pt x="78" y="172"/>
                    </a:cubicBezTo>
                    <a:cubicBezTo>
                      <a:pt x="82" y="168"/>
                      <a:pt x="85" y="163"/>
                      <a:pt x="85" y="157"/>
                    </a:cubicBezTo>
                    <a:cubicBezTo>
                      <a:pt x="85" y="165"/>
                      <a:pt x="85" y="165"/>
                      <a:pt x="85" y="165"/>
                    </a:cubicBezTo>
                    <a:cubicBezTo>
                      <a:pt x="85" y="172"/>
                      <a:pt x="85" y="172"/>
                      <a:pt x="85" y="172"/>
                    </a:cubicBezTo>
                    <a:cubicBezTo>
                      <a:pt x="85" y="178"/>
                      <a:pt x="82" y="183"/>
                      <a:pt x="78" y="187"/>
                    </a:cubicBezTo>
                    <a:cubicBezTo>
                      <a:pt x="78" y="187"/>
                      <a:pt x="78" y="187"/>
                      <a:pt x="78" y="187"/>
                    </a:cubicBezTo>
                    <a:cubicBezTo>
                      <a:pt x="6" y="259"/>
                      <a:pt x="6" y="259"/>
                      <a:pt x="6" y="259"/>
                    </a:cubicBezTo>
                    <a:cubicBezTo>
                      <a:pt x="6" y="259"/>
                      <a:pt x="6" y="259"/>
                      <a:pt x="6" y="259"/>
                    </a:cubicBezTo>
                    <a:cubicBezTo>
                      <a:pt x="2" y="263"/>
                      <a:pt x="0" y="268"/>
                      <a:pt x="0" y="274"/>
                    </a:cubicBezTo>
                    <a:cubicBezTo>
                      <a:pt x="0" y="355"/>
                      <a:pt x="0" y="355"/>
                      <a:pt x="0" y="355"/>
                    </a:cubicBezTo>
                    <a:cubicBezTo>
                      <a:pt x="0" y="350"/>
                      <a:pt x="2" y="344"/>
                      <a:pt x="6" y="340"/>
                    </a:cubicBezTo>
                    <a:cubicBezTo>
                      <a:pt x="6" y="340"/>
                      <a:pt x="6" y="340"/>
                      <a:pt x="6" y="340"/>
                    </a:cubicBezTo>
                    <a:cubicBezTo>
                      <a:pt x="78" y="269"/>
                      <a:pt x="78" y="269"/>
                      <a:pt x="78" y="269"/>
                    </a:cubicBezTo>
                    <a:cubicBezTo>
                      <a:pt x="78" y="268"/>
                      <a:pt x="78" y="268"/>
                      <a:pt x="78" y="268"/>
                    </a:cubicBezTo>
                    <a:cubicBezTo>
                      <a:pt x="82" y="265"/>
                      <a:pt x="85" y="259"/>
                      <a:pt x="85" y="253"/>
                    </a:cubicBezTo>
                    <a:cubicBezTo>
                      <a:pt x="85" y="262"/>
                      <a:pt x="85" y="262"/>
                      <a:pt x="85" y="262"/>
                    </a:cubicBezTo>
                    <a:cubicBezTo>
                      <a:pt x="85" y="268"/>
                      <a:pt x="85" y="268"/>
                      <a:pt x="85" y="268"/>
                    </a:cubicBezTo>
                    <a:cubicBezTo>
                      <a:pt x="85" y="274"/>
                      <a:pt x="82" y="279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6" y="355"/>
                      <a:pt x="6" y="355"/>
                      <a:pt x="6" y="355"/>
                    </a:cubicBezTo>
                    <a:cubicBezTo>
                      <a:pt x="6" y="355"/>
                      <a:pt x="6" y="355"/>
                      <a:pt x="6" y="355"/>
                    </a:cubicBezTo>
                    <a:cubicBezTo>
                      <a:pt x="2" y="359"/>
                      <a:pt x="0" y="364"/>
                      <a:pt x="0" y="370"/>
                    </a:cubicBezTo>
                    <a:cubicBezTo>
                      <a:pt x="0" y="382"/>
                      <a:pt x="0" y="382"/>
                      <a:pt x="0" y="382"/>
                    </a:cubicBezTo>
                    <a:cubicBezTo>
                      <a:pt x="0" y="387"/>
                      <a:pt x="2" y="392"/>
                      <a:pt x="5" y="395"/>
                    </a:cubicBezTo>
                    <a:cubicBezTo>
                      <a:pt x="26" y="417"/>
                      <a:pt x="26" y="417"/>
                      <a:pt x="26" y="417"/>
                    </a:cubicBezTo>
                    <a:cubicBezTo>
                      <a:pt x="78" y="365"/>
                      <a:pt x="78" y="365"/>
                      <a:pt x="78" y="365"/>
                    </a:cubicBezTo>
                    <a:cubicBezTo>
                      <a:pt x="78" y="365"/>
                      <a:pt x="78" y="365"/>
                      <a:pt x="78" y="365"/>
                    </a:cubicBezTo>
                    <a:cubicBezTo>
                      <a:pt x="82" y="361"/>
                      <a:pt x="85" y="355"/>
                      <a:pt x="85" y="349"/>
                    </a:cubicBezTo>
                    <a:cubicBezTo>
                      <a:pt x="85" y="358"/>
                      <a:pt x="85" y="358"/>
                      <a:pt x="85" y="358"/>
                    </a:cubicBezTo>
                    <a:cubicBezTo>
                      <a:pt x="85" y="364"/>
                      <a:pt x="85" y="364"/>
                      <a:pt x="85" y="364"/>
                    </a:cubicBezTo>
                    <a:cubicBezTo>
                      <a:pt x="85" y="370"/>
                      <a:pt x="82" y="375"/>
                      <a:pt x="78" y="379"/>
                    </a:cubicBezTo>
                    <a:cubicBezTo>
                      <a:pt x="78" y="379"/>
                      <a:pt x="78" y="379"/>
                      <a:pt x="78" y="379"/>
                    </a:cubicBezTo>
                    <a:cubicBezTo>
                      <a:pt x="34" y="424"/>
                      <a:pt x="34" y="424"/>
                      <a:pt x="34" y="424"/>
                    </a:cubicBezTo>
                    <a:cubicBezTo>
                      <a:pt x="155" y="545"/>
                      <a:pt x="155" y="545"/>
                      <a:pt x="155" y="545"/>
                    </a:cubicBezTo>
                    <a:cubicBezTo>
                      <a:pt x="187" y="486"/>
                      <a:pt x="187" y="486"/>
                      <a:pt x="187" y="486"/>
                    </a:cubicBezTo>
                    <a:cubicBezTo>
                      <a:pt x="190" y="481"/>
                      <a:pt x="196" y="477"/>
                      <a:pt x="202" y="477"/>
                    </a:cubicBezTo>
                    <a:cubicBezTo>
                      <a:pt x="207" y="477"/>
                      <a:pt x="207" y="477"/>
                      <a:pt x="207" y="477"/>
                    </a:cubicBezTo>
                    <a:cubicBezTo>
                      <a:pt x="215" y="477"/>
                      <a:pt x="215" y="477"/>
                      <a:pt x="215" y="477"/>
                    </a:cubicBezTo>
                    <a:cubicBezTo>
                      <a:pt x="208" y="477"/>
                      <a:pt x="203" y="481"/>
                      <a:pt x="200" y="486"/>
                    </a:cubicBezTo>
                    <a:cubicBezTo>
                      <a:pt x="200" y="486"/>
                      <a:pt x="200" y="486"/>
                      <a:pt x="200" y="486"/>
                    </a:cubicBezTo>
                    <a:cubicBezTo>
                      <a:pt x="164" y="551"/>
                      <a:pt x="164" y="551"/>
                      <a:pt x="164" y="551"/>
                    </a:cubicBezTo>
                    <a:cubicBezTo>
                      <a:pt x="166" y="551"/>
                      <a:pt x="167" y="552"/>
                      <a:pt x="169" y="552"/>
                    </a:cubicBezTo>
                    <a:cubicBezTo>
                      <a:pt x="231" y="552"/>
                      <a:pt x="231" y="552"/>
                      <a:pt x="231" y="552"/>
                    </a:cubicBezTo>
                    <a:cubicBezTo>
                      <a:pt x="243" y="486"/>
                      <a:pt x="243" y="486"/>
                      <a:pt x="243" y="486"/>
                    </a:cubicBezTo>
                    <a:cubicBezTo>
                      <a:pt x="244" y="481"/>
                      <a:pt x="248" y="477"/>
                      <a:pt x="253" y="477"/>
                    </a:cubicBezTo>
                    <a:cubicBezTo>
                      <a:pt x="254" y="477"/>
                      <a:pt x="254" y="477"/>
                      <a:pt x="254" y="477"/>
                    </a:cubicBezTo>
                    <a:cubicBezTo>
                      <a:pt x="255" y="477"/>
                      <a:pt x="255" y="477"/>
                      <a:pt x="255" y="477"/>
                    </a:cubicBezTo>
                    <a:cubicBezTo>
                      <a:pt x="264" y="477"/>
                      <a:pt x="264" y="477"/>
                      <a:pt x="264" y="477"/>
                    </a:cubicBezTo>
                    <a:cubicBezTo>
                      <a:pt x="259" y="477"/>
                      <a:pt x="255" y="481"/>
                      <a:pt x="254" y="486"/>
                    </a:cubicBezTo>
                    <a:cubicBezTo>
                      <a:pt x="242" y="552"/>
                      <a:pt x="242" y="552"/>
                      <a:pt x="242" y="552"/>
                    </a:cubicBezTo>
                    <a:cubicBezTo>
                      <a:pt x="309" y="552"/>
                      <a:pt x="309" y="552"/>
                      <a:pt x="309" y="552"/>
                    </a:cubicBezTo>
                    <a:cubicBezTo>
                      <a:pt x="297" y="486"/>
                      <a:pt x="297" y="486"/>
                      <a:pt x="297" y="486"/>
                    </a:cubicBezTo>
                    <a:cubicBezTo>
                      <a:pt x="296" y="481"/>
                      <a:pt x="292" y="477"/>
                      <a:pt x="287" y="477"/>
                    </a:cubicBezTo>
                    <a:cubicBezTo>
                      <a:pt x="296" y="477"/>
                      <a:pt x="296" y="477"/>
                      <a:pt x="296" y="477"/>
                    </a:cubicBezTo>
                    <a:cubicBezTo>
                      <a:pt x="297" y="477"/>
                      <a:pt x="297" y="477"/>
                      <a:pt x="297" y="477"/>
                    </a:cubicBezTo>
                    <a:cubicBezTo>
                      <a:pt x="298" y="477"/>
                      <a:pt x="298" y="477"/>
                      <a:pt x="298" y="477"/>
                    </a:cubicBezTo>
                    <a:cubicBezTo>
                      <a:pt x="303" y="477"/>
                      <a:pt x="307" y="481"/>
                      <a:pt x="308" y="486"/>
                    </a:cubicBezTo>
                    <a:cubicBezTo>
                      <a:pt x="320" y="552"/>
                      <a:pt x="320" y="552"/>
                      <a:pt x="320" y="552"/>
                    </a:cubicBezTo>
                    <a:cubicBezTo>
                      <a:pt x="382" y="552"/>
                      <a:pt x="382" y="552"/>
                      <a:pt x="382" y="552"/>
                    </a:cubicBezTo>
                    <a:cubicBezTo>
                      <a:pt x="384" y="552"/>
                      <a:pt x="385" y="551"/>
                      <a:pt x="387" y="551"/>
                    </a:cubicBezTo>
                    <a:cubicBezTo>
                      <a:pt x="351" y="486"/>
                      <a:pt x="351" y="486"/>
                      <a:pt x="351" y="486"/>
                    </a:cubicBezTo>
                    <a:cubicBezTo>
                      <a:pt x="351" y="486"/>
                      <a:pt x="351" y="486"/>
                      <a:pt x="351" y="486"/>
                    </a:cubicBezTo>
                    <a:cubicBezTo>
                      <a:pt x="348" y="481"/>
                      <a:pt x="343" y="477"/>
                      <a:pt x="336" y="477"/>
                    </a:cubicBezTo>
                    <a:cubicBezTo>
                      <a:pt x="344" y="477"/>
                      <a:pt x="344" y="477"/>
                      <a:pt x="344" y="477"/>
                    </a:cubicBezTo>
                    <a:cubicBezTo>
                      <a:pt x="349" y="477"/>
                      <a:pt x="349" y="477"/>
                      <a:pt x="349" y="477"/>
                    </a:cubicBezTo>
                    <a:cubicBezTo>
                      <a:pt x="355" y="477"/>
                      <a:pt x="361" y="481"/>
                      <a:pt x="364" y="486"/>
                    </a:cubicBezTo>
                    <a:cubicBezTo>
                      <a:pt x="396" y="545"/>
                      <a:pt x="396" y="545"/>
                      <a:pt x="396" y="545"/>
                    </a:cubicBezTo>
                    <a:cubicBezTo>
                      <a:pt x="517" y="424"/>
                      <a:pt x="517" y="424"/>
                      <a:pt x="517" y="424"/>
                    </a:cubicBezTo>
                    <a:cubicBezTo>
                      <a:pt x="473" y="379"/>
                      <a:pt x="473" y="379"/>
                      <a:pt x="473" y="379"/>
                    </a:cubicBezTo>
                    <a:cubicBezTo>
                      <a:pt x="473" y="379"/>
                      <a:pt x="473" y="379"/>
                      <a:pt x="473" y="379"/>
                    </a:cubicBezTo>
                    <a:cubicBezTo>
                      <a:pt x="469" y="375"/>
                      <a:pt x="466" y="370"/>
                      <a:pt x="466" y="364"/>
                    </a:cubicBezTo>
                    <a:cubicBezTo>
                      <a:pt x="466" y="358"/>
                      <a:pt x="466" y="358"/>
                      <a:pt x="466" y="358"/>
                    </a:cubicBezTo>
                    <a:cubicBezTo>
                      <a:pt x="466" y="349"/>
                      <a:pt x="466" y="349"/>
                      <a:pt x="466" y="349"/>
                    </a:cubicBezTo>
                    <a:cubicBezTo>
                      <a:pt x="466" y="355"/>
                      <a:pt x="469" y="361"/>
                      <a:pt x="473" y="365"/>
                    </a:cubicBezTo>
                    <a:cubicBezTo>
                      <a:pt x="473" y="365"/>
                      <a:pt x="473" y="365"/>
                      <a:pt x="473" y="365"/>
                    </a:cubicBezTo>
                    <a:cubicBezTo>
                      <a:pt x="525" y="417"/>
                      <a:pt x="525" y="417"/>
                      <a:pt x="525" y="417"/>
                    </a:cubicBezTo>
                    <a:cubicBezTo>
                      <a:pt x="546" y="395"/>
                      <a:pt x="546" y="395"/>
                      <a:pt x="546" y="395"/>
                    </a:cubicBezTo>
                    <a:cubicBezTo>
                      <a:pt x="549" y="392"/>
                      <a:pt x="551" y="387"/>
                      <a:pt x="551" y="382"/>
                    </a:cubicBezTo>
                    <a:cubicBezTo>
                      <a:pt x="551" y="370"/>
                      <a:pt x="551" y="370"/>
                      <a:pt x="551" y="370"/>
                    </a:cubicBezTo>
                    <a:cubicBezTo>
                      <a:pt x="551" y="364"/>
                      <a:pt x="549" y="359"/>
                      <a:pt x="545" y="355"/>
                    </a:cubicBezTo>
                    <a:cubicBezTo>
                      <a:pt x="545" y="355"/>
                      <a:pt x="545" y="355"/>
                      <a:pt x="545" y="355"/>
                    </a:cubicBezTo>
                    <a:cubicBezTo>
                      <a:pt x="473" y="283"/>
                      <a:pt x="473" y="283"/>
                      <a:pt x="473" y="283"/>
                    </a:cubicBezTo>
                    <a:cubicBezTo>
                      <a:pt x="473" y="283"/>
                      <a:pt x="473" y="283"/>
                      <a:pt x="473" y="283"/>
                    </a:cubicBezTo>
                    <a:cubicBezTo>
                      <a:pt x="469" y="279"/>
                      <a:pt x="466" y="274"/>
                      <a:pt x="466" y="268"/>
                    </a:cubicBezTo>
                    <a:cubicBezTo>
                      <a:pt x="466" y="262"/>
                      <a:pt x="466" y="262"/>
                      <a:pt x="466" y="262"/>
                    </a:cubicBezTo>
                    <a:cubicBezTo>
                      <a:pt x="466" y="253"/>
                      <a:pt x="466" y="253"/>
                      <a:pt x="466" y="253"/>
                    </a:cubicBezTo>
                    <a:cubicBezTo>
                      <a:pt x="466" y="259"/>
                      <a:pt x="469" y="265"/>
                      <a:pt x="473" y="268"/>
                    </a:cubicBezTo>
                    <a:cubicBezTo>
                      <a:pt x="473" y="269"/>
                      <a:pt x="473" y="269"/>
                      <a:pt x="473" y="269"/>
                    </a:cubicBezTo>
                    <a:cubicBezTo>
                      <a:pt x="545" y="340"/>
                      <a:pt x="545" y="340"/>
                      <a:pt x="545" y="340"/>
                    </a:cubicBezTo>
                    <a:cubicBezTo>
                      <a:pt x="545" y="340"/>
                      <a:pt x="545" y="340"/>
                      <a:pt x="545" y="340"/>
                    </a:cubicBezTo>
                    <a:cubicBezTo>
                      <a:pt x="549" y="344"/>
                      <a:pt x="551" y="350"/>
                      <a:pt x="551" y="355"/>
                    </a:cubicBezTo>
                    <a:cubicBezTo>
                      <a:pt x="551" y="274"/>
                      <a:pt x="551" y="274"/>
                      <a:pt x="551" y="274"/>
                    </a:cubicBezTo>
                    <a:cubicBezTo>
                      <a:pt x="551" y="268"/>
                      <a:pt x="549" y="263"/>
                      <a:pt x="545" y="259"/>
                    </a:cubicBezTo>
                    <a:cubicBezTo>
                      <a:pt x="545" y="259"/>
                      <a:pt x="545" y="259"/>
                      <a:pt x="545" y="259"/>
                    </a:cubicBezTo>
                    <a:cubicBezTo>
                      <a:pt x="473" y="187"/>
                      <a:pt x="473" y="187"/>
                      <a:pt x="473" y="187"/>
                    </a:cubicBezTo>
                    <a:cubicBezTo>
                      <a:pt x="473" y="187"/>
                      <a:pt x="473" y="187"/>
                      <a:pt x="473" y="187"/>
                    </a:cubicBezTo>
                    <a:cubicBezTo>
                      <a:pt x="469" y="183"/>
                      <a:pt x="466" y="178"/>
                      <a:pt x="466" y="172"/>
                    </a:cubicBezTo>
                    <a:cubicBezTo>
                      <a:pt x="466" y="165"/>
                      <a:pt x="466" y="165"/>
                      <a:pt x="466" y="165"/>
                    </a:cubicBezTo>
                    <a:lnTo>
                      <a:pt x="466" y="157"/>
                    </a:lnTo>
                    <a:close/>
                    <a:moveTo>
                      <a:pt x="334" y="162"/>
                    </a:moveTo>
                    <a:cubicBezTo>
                      <a:pt x="337" y="139"/>
                      <a:pt x="337" y="142"/>
                      <a:pt x="350" y="137"/>
                    </a:cubicBezTo>
                    <a:cubicBezTo>
                      <a:pt x="364" y="134"/>
                      <a:pt x="372" y="132"/>
                      <a:pt x="380" y="132"/>
                    </a:cubicBezTo>
                    <a:cubicBezTo>
                      <a:pt x="388" y="133"/>
                      <a:pt x="405" y="133"/>
                      <a:pt x="420" y="139"/>
                    </a:cubicBezTo>
                    <a:cubicBezTo>
                      <a:pt x="427" y="141"/>
                      <a:pt x="424" y="144"/>
                      <a:pt x="425" y="169"/>
                    </a:cubicBezTo>
                    <a:cubicBezTo>
                      <a:pt x="424" y="179"/>
                      <a:pt x="423" y="177"/>
                      <a:pt x="413" y="178"/>
                    </a:cubicBezTo>
                    <a:cubicBezTo>
                      <a:pt x="405" y="178"/>
                      <a:pt x="401" y="179"/>
                      <a:pt x="390" y="176"/>
                    </a:cubicBezTo>
                    <a:cubicBezTo>
                      <a:pt x="387" y="171"/>
                      <a:pt x="383" y="149"/>
                      <a:pt x="375" y="151"/>
                    </a:cubicBezTo>
                    <a:cubicBezTo>
                      <a:pt x="372" y="154"/>
                      <a:pt x="375" y="154"/>
                      <a:pt x="369" y="165"/>
                    </a:cubicBezTo>
                    <a:cubicBezTo>
                      <a:pt x="368" y="167"/>
                      <a:pt x="366" y="172"/>
                      <a:pt x="364" y="175"/>
                    </a:cubicBezTo>
                    <a:cubicBezTo>
                      <a:pt x="356" y="178"/>
                      <a:pt x="350" y="177"/>
                      <a:pt x="341" y="178"/>
                    </a:cubicBezTo>
                    <a:cubicBezTo>
                      <a:pt x="332" y="177"/>
                      <a:pt x="335" y="173"/>
                      <a:pt x="334" y="162"/>
                    </a:cubicBezTo>
                    <a:close/>
                    <a:moveTo>
                      <a:pt x="319" y="143"/>
                    </a:moveTo>
                    <a:cubicBezTo>
                      <a:pt x="319" y="138"/>
                      <a:pt x="319" y="137"/>
                      <a:pt x="323" y="137"/>
                    </a:cubicBezTo>
                    <a:cubicBezTo>
                      <a:pt x="329" y="137"/>
                      <a:pt x="329" y="139"/>
                      <a:pt x="329" y="142"/>
                    </a:cubicBezTo>
                    <a:cubicBezTo>
                      <a:pt x="329" y="147"/>
                      <a:pt x="329" y="157"/>
                      <a:pt x="329" y="166"/>
                    </a:cubicBezTo>
                    <a:cubicBezTo>
                      <a:pt x="329" y="172"/>
                      <a:pt x="329" y="183"/>
                      <a:pt x="324" y="185"/>
                    </a:cubicBezTo>
                    <a:cubicBezTo>
                      <a:pt x="320" y="185"/>
                      <a:pt x="317" y="186"/>
                      <a:pt x="317" y="180"/>
                    </a:cubicBezTo>
                    <a:cubicBezTo>
                      <a:pt x="317" y="177"/>
                      <a:pt x="318" y="172"/>
                      <a:pt x="319" y="168"/>
                    </a:cubicBezTo>
                    <a:cubicBezTo>
                      <a:pt x="320" y="163"/>
                      <a:pt x="319" y="149"/>
                      <a:pt x="319" y="143"/>
                    </a:cubicBezTo>
                    <a:close/>
                    <a:moveTo>
                      <a:pt x="322" y="199"/>
                    </a:moveTo>
                    <a:cubicBezTo>
                      <a:pt x="327" y="202"/>
                      <a:pt x="327" y="219"/>
                      <a:pt x="327" y="219"/>
                    </a:cubicBezTo>
                    <a:cubicBezTo>
                      <a:pt x="328" y="221"/>
                      <a:pt x="328" y="237"/>
                      <a:pt x="328" y="242"/>
                    </a:cubicBezTo>
                    <a:cubicBezTo>
                      <a:pt x="328" y="247"/>
                      <a:pt x="328" y="251"/>
                      <a:pt x="328" y="253"/>
                    </a:cubicBezTo>
                    <a:cubicBezTo>
                      <a:pt x="326" y="254"/>
                      <a:pt x="324" y="255"/>
                      <a:pt x="321" y="254"/>
                    </a:cubicBezTo>
                    <a:cubicBezTo>
                      <a:pt x="318" y="253"/>
                      <a:pt x="317" y="239"/>
                      <a:pt x="317" y="234"/>
                    </a:cubicBezTo>
                    <a:cubicBezTo>
                      <a:pt x="317" y="230"/>
                      <a:pt x="317" y="220"/>
                      <a:pt x="315" y="209"/>
                    </a:cubicBezTo>
                    <a:cubicBezTo>
                      <a:pt x="314" y="199"/>
                      <a:pt x="315" y="200"/>
                      <a:pt x="322" y="199"/>
                    </a:cubicBezTo>
                    <a:close/>
                    <a:moveTo>
                      <a:pt x="300" y="190"/>
                    </a:moveTo>
                    <a:cubicBezTo>
                      <a:pt x="301" y="182"/>
                      <a:pt x="303" y="157"/>
                      <a:pt x="302" y="150"/>
                    </a:cubicBezTo>
                    <a:cubicBezTo>
                      <a:pt x="303" y="146"/>
                      <a:pt x="302" y="140"/>
                      <a:pt x="303" y="135"/>
                    </a:cubicBezTo>
                    <a:cubicBezTo>
                      <a:pt x="304" y="133"/>
                      <a:pt x="306" y="133"/>
                      <a:pt x="310" y="133"/>
                    </a:cubicBezTo>
                    <a:cubicBezTo>
                      <a:pt x="316" y="131"/>
                      <a:pt x="314" y="152"/>
                      <a:pt x="314" y="152"/>
                    </a:cubicBezTo>
                    <a:cubicBezTo>
                      <a:pt x="314" y="170"/>
                      <a:pt x="309" y="206"/>
                      <a:pt x="309" y="215"/>
                    </a:cubicBezTo>
                    <a:cubicBezTo>
                      <a:pt x="307" y="230"/>
                      <a:pt x="314" y="271"/>
                      <a:pt x="310" y="275"/>
                    </a:cubicBezTo>
                    <a:cubicBezTo>
                      <a:pt x="309" y="276"/>
                      <a:pt x="304" y="276"/>
                      <a:pt x="303" y="274"/>
                    </a:cubicBezTo>
                    <a:cubicBezTo>
                      <a:pt x="299" y="263"/>
                      <a:pt x="299" y="246"/>
                      <a:pt x="298" y="232"/>
                    </a:cubicBezTo>
                    <a:cubicBezTo>
                      <a:pt x="297" y="215"/>
                      <a:pt x="300" y="197"/>
                      <a:pt x="300" y="190"/>
                    </a:cubicBezTo>
                    <a:close/>
                    <a:moveTo>
                      <a:pt x="285" y="166"/>
                    </a:moveTo>
                    <a:cubicBezTo>
                      <a:pt x="287" y="155"/>
                      <a:pt x="286" y="143"/>
                      <a:pt x="287" y="139"/>
                    </a:cubicBezTo>
                    <a:cubicBezTo>
                      <a:pt x="288" y="138"/>
                      <a:pt x="291" y="137"/>
                      <a:pt x="294" y="138"/>
                    </a:cubicBezTo>
                    <a:cubicBezTo>
                      <a:pt x="298" y="141"/>
                      <a:pt x="299" y="177"/>
                      <a:pt x="290" y="184"/>
                    </a:cubicBezTo>
                    <a:cubicBezTo>
                      <a:pt x="288" y="184"/>
                      <a:pt x="284" y="184"/>
                      <a:pt x="283" y="182"/>
                    </a:cubicBezTo>
                    <a:cubicBezTo>
                      <a:pt x="282" y="180"/>
                      <a:pt x="283" y="174"/>
                      <a:pt x="285" y="166"/>
                    </a:cubicBezTo>
                    <a:close/>
                    <a:moveTo>
                      <a:pt x="280" y="214"/>
                    </a:moveTo>
                    <a:cubicBezTo>
                      <a:pt x="280" y="200"/>
                      <a:pt x="281" y="197"/>
                      <a:pt x="284" y="193"/>
                    </a:cubicBezTo>
                    <a:cubicBezTo>
                      <a:pt x="287" y="191"/>
                      <a:pt x="291" y="193"/>
                      <a:pt x="293" y="195"/>
                    </a:cubicBezTo>
                    <a:cubicBezTo>
                      <a:pt x="295" y="200"/>
                      <a:pt x="291" y="225"/>
                      <a:pt x="291" y="237"/>
                    </a:cubicBezTo>
                    <a:cubicBezTo>
                      <a:pt x="290" y="248"/>
                      <a:pt x="294" y="259"/>
                      <a:pt x="289" y="261"/>
                    </a:cubicBezTo>
                    <a:cubicBezTo>
                      <a:pt x="285" y="262"/>
                      <a:pt x="281" y="261"/>
                      <a:pt x="281" y="258"/>
                    </a:cubicBezTo>
                    <a:cubicBezTo>
                      <a:pt x="279" y="244"/>
                      <a:pt x="280" y="214"/>
                      <a:pt x="280" y="214"/>
                    </a:cubicBezTo>
                    <a:close/>
                    <a:moveTo>
                      <a:pt x="267" y="388"/>
                    </a:moveTo>
                    <a:cubicBezTo>
                      <a:pt x="266" y="407"/>
                      <a:pt x="266" y="405"/>
                      <a:pt x="253" y="405"/>
                    </a:cubicBezTo>
                    <a:cubicBezTo>
                      <a:pt x="242" y="405"/>
                      <a:pt x="214" y="405"/>
                      <a:pt x="212" y="406"/>
                    </a:cubicBezTo>
                    <a:cubicBezTo>
                      <a:pt x="212" y="408"/>
                      <a:pt x="211" y="414"/>
                      <a:pt x="211" y="419"/>
                    </a:cubicBezTo>
                    <a:cubicBezTo>
                      <a:pt x="212" y="426"/>
                      <a:pt x="216" y="428"/>
                      <a:pt x="186" y="431"/>
                    </a:cubicBezTo>
                    <a:cubicBezTo>
                      <a:pt x="179" y="432"/>
                      <a:pt x="134" y="430"/>
                      <a:pt x="131" y="425"/>
                    </a:cubicBezTo>
                    <a:cubicBezTo>
                      <a:pt x="128" y="419"/>
                      <a:pt x="122" y="411"/>
                      <a:pt x="127" y="403"/>
                    </a:cubicBezTo>
                    <a:cubicBezTo>
                      <a:pt x="133" y="408"/>
                      <a:pt x="139" y="412"/>
                      <a:pt x="153" y="417"/>
                    </a:cubicBezTo>
                    <a:cubicBezTo>
                      <a:pt x="164" y="419"/>
                      <a:pt x="181" y="420"/>
                      <a:pt x="191" y="418"/>
                    </a:cubicBezTo>
                    <a:cubicBezTo>
                      <a:pt x="197" y="415"/>
                      <a:pt x="197" y="413"/>
                      <a:pt x="196" y="406"/>
                    </a:cubicBezTo>
                    <a:cubicBezTo>
                      <a:pt x="175" y="405"/>
                      <a:pt x="164" y="404"/>
                      <a:pt x="157" y="404"/>
                    </a:cubicBezTo>
                    <a:cubicBezTo>
                      <a:pt x="146" y="403"/>
                      <a:pt x="146" y="403"/>
                      <a:pt x="146" y="397"/>
                    </a:cubicBezTo>
                    <a:cubicBezTo>
                      <a:pt x="147" y="392"/>
                      <a:pt x="148" y="391"/>
                      <a:pt x="155" y="392"/>
                    </a:cubicBezTo>
                    <a:cubicBezTo>
                      <a:pt x="160" y="392"/>
                      <a:pt x="168" y="393"/>
                      <a:pt x="180" y="393"/>
                    </a:cubicBezTo>
                    <a:cubicBezTo>
                      <a:pt x="189" y="393"/>
                      <a:pt x="196" y="393"/>
                      <a:pt x="196" y="393"/>
                    </a:cubicBezTo>
                    <a:cubicBezTo>
                      <a:pt x="196" y="384"/>
                      <a:pt x="196" y="384"/>
                      <a:pt x="196" y="384"/>
                    </a:cubicBezTo>
                    <a:cubicBezTo>
                      <a:pt x="196" y="384"/>
                      <a:pt x="180" y="384"/>
                      <a:pt x="174" y="384"/>
                    </a:cubicBezTo>
                    <a:cubicBezTo>
                      <a:pt x="155" y="383"/>
                      <a:pt x="158" y="381"/>
                      <a:pt x="157" y="372"/>
                    </a:cubicBezTo>
                    <a:cubicBezTo>
                      <a:pt x="159" y="356"/>
                      <a:pt x="159" y="358"/>
                      <a:pt x="173" y="357"/>
                    </a:cubicBezTo>
                    <a:cubicBezTo>
                      <a:pt x="185" y="357"/>
                      <a:pt x="219" y="357"/>
                      <a:pt x="228" y="357"/>
                    </a:cubicBezTo>
                    <a:cubicBezTo>
                      <a:pt x="242" y="358"/>
                      <a:pt x="240" y="359"/>
                      <a:pt x="240" y="371"/>
                    </a:cubicBezTo>
                    <a:cubicBezTo>
                      <a:pt x="238" y="378"/>
                      <a:pt x="241" y="381"/>
                      <a:pt x="227" y="383"/>
                    </a:cubicBezTo>
                    <a:cubicBezTo>
                      <a:pt x="225" y="383"/>
                      <a:pt x="212" y="384"/>
                      <a:pt x="212" y="384"/>
                    </a:cubicBezTo>
                    <a:cubicBezTo>
                      <a:pt x="212" y="393"/>
                      <a:pt x="212" y="393"/>
                      <a:pt x="212" y="393"/>
                    </a:cubicBezTo>
                    <a:cubicBezTo>
                      <a:pt x="242" y="393"/>
                      <a:pt x="242" y="393"/>
                      <a:pt x="242" y="393"/>
                    </a:cubicBezTo>
                    <a:cubicBezTo>
                      <a:pt x="242" y="393"/>
                      <a:pt x="253" y="393"/>
                      <a:pt x="253" y="384"/>
                    </a:cubicBezTo>
                    <a:cubicBezTo>
                      <a:pt x="253" y="375"/>
                      <a:pt x="255" y="361"/>
                      <a:pt x="255" y="361"/>
                    </a:cubicBezTo>
                    <a:cubicBezTo>
                      <a:pt x="255" y="361"/>
                      <a:pt x="255" y="351"/>
                      <a:pt x="245" y="351"/>
                    </a:cubicBezTo>
                    <a:cubicBezTo>
                      <a:pt x="236" y="351"/>
                      <a:pt x="184" y="350"/>
                      <a:pt x="163" y="351"/>
                    </a:cubicBezTo>
                    <a:cubicBezTo>
                      <a:pt x="147" y="351"/>
                      <a:pt x="146" y="354"/>
                      <a:pt x="145" y="359"/>
                    </a:cubicBezTo>
                    <a:cubicBezTo>
                      <a:pt x="144" y="366"/>
                      <a:pt x="142" y="392"/>
                      <a:pt x="138" y="390"/>
                    </a:cubicBezTo>
                    <a:cubicBezTo>
                      <a:pt x="125" y="387"/>
                      <a:pt x="128" y="386"/>
                      <a:pt x="128" y="379"/>
                    </a:cubicBezTo>
                    <a:cubicBezTo>
                      <a:pt x="129" y="369"/>
                      <a:pt x="130" y="359"/>
                      <a:pt x="132" y="350"/>
                    </a:cubicBezTo>
                    <a:cubicBezTo>
                      <a:pt x="135" y="343"/>
                      <a:pt x="136" y="339"/>
                      <a:pt x="176" y="339"/>
                    </a:cubicBezTo>
                    <a:cubicBezTo>
                      <a:pt x="195" y="339"/>
                      <a:pt x="249" y="339"/>
                      <a:pt x="249" y="339"/>
                    </a:cubicBezTo>
                    <a:cubicBezTo>
                      <a:pt x="261" y="340"/>
                      <a:pt x="265" y="340"/>
                      <a:pt x="267" y="352"/>
                    </a:cubicBezTo>
                    <a:cubicBezTo>
                      <a:pt x="269" y="369"/>
                      <a:pt x="268" y="375"/>
                      <a:pt x="267" y="388"/>
                    </a:cubicBezTo>
                    <a:close/>
                    <a:moveTo>
                      <a:pt x="146" y="306"/>
                    </a:moveTo>
                    <a:cubicBezTo>
                      <a:pt x="146" y="309"/>
                      <a:pt x="151" y="309"/>
                      <a:pt x="161" y="308"/>
                    </a:cubicBezTo>
                    <a:cubicBezTo>
                      <a:pt x="169" y="308"/>
                      <a:pt x="168" y="307"/>
                      <a:pt x="169" y="313"/>
                    </a:cubicBezTo>
                    <a:cubicBezTo>
                      <a:pt x="169" y="316"/>
                      <a:pt x="169" y="317"/>
                      <a:pt x="163" y="317"/>
                    </a:cubicBezTo>
                    <a:cubicBezTo>
                      <a:pt x="144" y="318"/>
                      <a:pt x="146" y="317"/>
                      <a:pt x="146" y="322"/>
                    </a:cubicBezTo>
                    <a:cubicBezTo>
                      <a:pt x="146" y="326"/>
                      <a:pt x="149" y="325"/>
                      <a:pt x="161" y="324"/>
                    </a:cubicBezTo>
                    <a:cubicBezTo>
                      <a:pt x="168" y="324"/>
                      <a:pt x="169" y="323"/>
                      <a:pt x="169" y="328"/>
                    </a:cubicBezTo>
                    <a:cubicBezTo>
                      <a:pt x="170" y="331"/>
                      <a:pt x="169" y="333"/>
                      <a:pt x="169" y="333"/>
                    </a:cubicBezTo>
                    <a:cubicBezTo>
                      <a:pt x="164" y="333"/>
                      <a:pt x="143" y="335"/>
                      <a:pt x="137" y="335"/>
                    </a:cubicBezTo>
                    <a:cubicBezTo>
                      <a:pt x="132" y="334"/>
                      <a:pt x="132" y="334"/>
                      <a:pt x="132" y="323"/>
                    </a:cubicBezTo>
                    <a:cubicBezTo>
                      <a:pt x="133" y="313"/>
                      <a:pt x="133" y="304"/>
                      <a:pt x="136" y="295"/>
                    </a:cubicBezTo>
                    <a:cubicBezTo>
                      <a:pt x="138" y="290"/>
                      <a:pt x="138" y="291"/>
                      <a:pt x="160" y="290"/>
                    </a:cubicBezTo>
                    <a:cubicBezTo>
                      <a:pt x="171" y="290"/>
                      <a:pt x="170" y="289"/>
                      <a:pt x="171" y="297"/>
                    </a:cubicBezTo>
                    <a:cubicBezTo>
                      <a:pt x="171" y="300"/>
                      <a:pt x="171" y="300"/>
                      <a:pt x="153" y="301"/>
                    </a:cubicBezTo>
                    <a:cubicBezTo>
                      <a:pt x="145" y="301"/>
                      <a:pt x="146" y="300"/>
                      <a:pt x="146" y="306"/>
                    </a:cubicBezTo>
                    <a:close/>
                    <a:moveTo>
                      <a:pt x="178" y="296"/>
                    </a:moveTo>
                    <a:cubicBezTo>
                      <a:pt x="177" y="295"/>
                      <a:pt x="181" y="290"/>
                      <a:pt x="183" y="289"/>
                    </a:cubicBezTo>
                    <a:cubicBezTo>
                      <a:pt x="186" y="290"/>
                      <a:pt x="193" y="294"/>
                      <a:pt x="195" y="295"/>
                    </a:cubicBezTo>
                    <a:cubicBezTo>
                      <a:pt x="196" y="295"/>
                      <a:pt x="198" y="296"/>
                      <a:pt x="201" y="298"/>
                    </a:cubicBezTo>
                    <a:cubicBezTo>
                      <a:pt x="202" y="297"/>
                      <a:pt x="203" y="296"/>
                      <a:pt x="204" y="296"/>
                    </a:cubicBezTo>
                    <a:cubicBezTo>
                      <a:pt x="206" y="295"/>
                      <a:pt x="217" y="289"/>
                      <a:pt x="220" y="289"/>
                    </a:cubicBezTo>
                    <a:cubicBezTo>
                      <a:pt x="221" y="289"/>
                      <a:pt x="225" y="296"/>
                      <a:pt x="222" y="297"/>
                    </a:cubicBezTo>
                    <a:cubicBezTo>
                      <a:pt x="219" y="300"/>
                      <a:pt x="215" y="303"/>
                      <a:pt x="212" y="304"/>
                    </a:cubicBezTo>
                    <a:cubicBezTo>
                      <a:pt x="215" y="306"/>
                      <a:pt x="218" y="307"/>
                      <a:pt x="218" y="307"/>
                    </a:cubicBezTo>
                    <a:cubicBezTo>
                      <a:pt x="223" y="309"/>
                      <a:pt x="224" y="310"/>
                      <a:pt x="223" y="315"/>
                    </a:cubicBezTo>
                    <a:cubicBezTo>
                      <a:pt x="223" y="316"/>
                      <a:pt x="221" y="318"/>
                      <a:pt x="220" y="318"/>
                    </a:cubicBezTo>
                    <a:cubicBezTo>
                      <a:pt x="218" y="319"/>
                      <a:pt x="215" y="321"/>
                      <a:pt x="213" y="322"/>
                    </a:cubicBezTo>
                    <a:cubicBezTo>
                      <a:pt x="215" y="323"/>
                      <a:pt x="217" y="324"/>
                      <a:pt x="219" y="325"/>
                    </a:cubicBezTo>
                    <a:cubicBezTo>
                      <a:pt x="227" y="329"/>
                      <a:pt x="227" y="328"/>
                      <a:pt x="224" y="333"/>
                    </a:cubicBezTo>
                    <a:cubicBezTo>
                      <a:pt x="221" y="337"/>
                      <a:pt x="216" y="335"/>
                      <a:pt x="214" y="334"/>
                    </a:cubicBezTo>
                    <a:cubicBezTo>
                      <a:pt x="213" y="333"/>
                      <a:pt x="207" y="331"/>
                      <a:pt x="201" y="327"/>
                    </a:cubicBezTo>
                    <a:cubicBezTo>
                      <a:pt x="197" y="330"/>
                      <a:pt x="192" y="332"/>
                      <a:pt x="188" y="334"/>
                    </a:cubicBezTo>
                    <a:cubicBezTo>
                      <a:pt x="182" y="337"/>
                      <a:pt x="181" y="337"/>
                      <a:pt x="179" y="334"/>
                    </a:cubicBezTo>
                    <a:cubicBezTo>
                      <a:pt x="175" y="329"/>
                      <a:pt x="178" y="329"/>
                      <a:pt x="184" y="325"/>
                    </a:cubicBezTo>
                    <a:cubicBezTo>
                      <a:pt x="184" y="325"/>
                      <a:pt x="187" y="324"/>
                      <a:pt x="189" y="322"/>
                    </a:cubicBezTo>
                    <a:cubicBezTo>
                      <a:pt x="187" y="321"/>
                      <a:pt x="184" y="320"/>
                      <a:pt x="180" y="318"/>
                    </a:cubicBezTo>
                    <a:cubicBezTo>
                      <a:pt x="180" y="317"/>
                      <a:pt x="177" y="316"/>
                      <a:pt x="177" y="314"/>
                    </a:cubicBezTo>
                    <a:cubicBezTo>
                      <a:pt x="177" y="312"/>
                      <a:pt x="176" y="310"/>
                      <a:pt x="183" y="306"/>
                    </a:cubicBezTo>
                    <a:cubicBezTo>
                      <a:pt x="185" y="305"/>
                      <a:pt x="187" y="304"/>
                      <a:pt x="189" y="303"/>
                    </a:cubicBezTo>
                    <a:cubicBezTo>
                      <a:pt x="184" y="301"/>
                      <a:pt x="180" y="299"/>
                      <a:pt x="178" y="296"/>
                    </a:cubicBezTo>
                    <a:close/>
                    <a:moveTo>
                      <a:pt x="264" y="333"/>
                    </a:moveTo>
                    <a:cubicBezTo>
                      <a:pt x="260" y="334"/>
                      <a:pt x="234" y="335"/>
                      <a:pt x="234" y="335"/>
                    </a:cubicBezTo>
                    <a:cubicBezTo>
                      <a:pt x="231" y="334"/>
                      <a:pt x="231" y="335"/>
                      <a:pt x="231" y="331"/>
                    </a:cubicBezTo>
                    <a:cubicBezTo>
                      <a:pt x="231" y="326"/>
                      <a:pt x="231" y="326"/>
                      <a:pt x="240" y="326"/>
                    </a:cubicBezTo>
                    <a:cubicBezTo>
                      <a:pt x="248" y="326"/>
                      <a:pt x="255" y="327"/>
                      <a:pt x="255" y="322"/>
                    </a:cubicBezTo>
                    <a:cubicBezTo>
                      <a:pt x="255" y="318"/>
                      <a:pt x="254" y="317"/>
                      <a:pt x="240" y="318"/>
                    </a:cubicBezTo>
                    <a:cubicBezTo>
                      <a:pt x="232" y="318"/>
                      <a:pt x="233" y="318"/>
                      <a:pt x="232" y="316"/>
                    </a:cubicBezTo>
                    <a:cubicBezTo>
                      <a:pt x="231" y="311"/>
                      <a:pt x="230" y="309"/>
                      <a:pt x="237" y="308"/>
                    </a:cubicBezTo>
                    <a:cubicBezTo>
                      <a:pt x="247" y="307"/>
                      <a:pt x="255" y="308"/>
                      <a:pt x="255" y="306"/>
                    </a:cubicBezTo>
                    <a:cubicBezTo>
                      <a:pt x="256" y="302"/>
                      <a:pt x="255" y="300"/>
                      <a:pt x="248" y="301"/>
                    </a:cubicBezTo>
                    <a:cubicBezTo>
                      <a:pt x="232" y="302"/>
                      <a:pt x="231" y="303"/>
                      <a:pt x="231" y="298"/>
                    </a:cubicBezTo>
                    <a:cubicBezTo>
                      <a:pt x="231" y="293"/>
                      <a:pt x="229" y="292"/>
                      <a:pt x="241" y="291"/>
                    </a:cubicBezTo>
                    <a:cubicBezTo>
                      <a:pt x="254" y="291"/>
                      <a:pt x="264" y="289"/>
                      <a:pt x="265" y="295"/>
                    </a:cubicBezTo>
                    <a:cubicBezTo>
                      <a:pt x="267" y="302"/>
                      <a:pt x="268" y="311"/>
                      <a:pt x="268" y="324"/>
                    </a:cubicBezTo>
                    <a:cubicBezTo>
                      <a:pt x="268" y="333"/>
                      <a:pt x="268" y="333"/>
                      <a:pt x="264" y="333"/>
                    </a:cubicBezTo>
                    <a:close/>
                    <a:moveTo>
                      <a:pt x="262" y="279"/>
                    </a:moveTo>
                    <a:cubicBezTo>
                      <a:pt x="258" y="281"/>
                      <a:pt x="241" y="259"/>
                      <a:pt x="230" y="244"/>
                    </a:cubicBezTo>
                    <a:cubicBezTo>
                      <a:pt x="226" y="239"/>
                      <a:pt x="212" y="227"/>
                      <a:pt x="199" y="226"/>
                    </a:cubicBezTo>
                    <a:cubicBezTo>
                      <a:pt x="179" y="225"/>
                      <a:pt x="153" y="259"/>
                      <a:pt x="146" y="271"/>
                    </a:cubicBezTo>
                    <a:cubicBezTo>
                      <a:pt x="142" y="276"/>
                      <a:pt x="139" y="282"/>
                      <a:pt x="133" y="279"/>
                    </a:cubicBezTo>
                    <a:cubicBezTo>
                      <a:pt x="128" y="276"/>
                      <a:pt x="128" y="276"/>
                      <a:pt x="131" y="267"/>
                    </a:cubicBezTo>
                    <a:cubicBezTo>
                      <a:pt x="136" y="254"/>
                      <a:pt x="160" y="228"/>
                      <a:pt x="171" y="220"/>
                    </a:cubicBezTo>
                    <a:cubicBezTo>
                      <a:pt x="182" y="210"/>
                      <a:pt x="184" y="209"/>
                      <a:pt x="188" y="197"/>
                    </a:cubicBezTo>
                    <a:cubicBezTo>
                      <a:pt x="190" y="174"/>
                      <a:pt x="189" y="169"/>
                      <a:pt x="183" y="168"/>
                    </a:cubicBezTo>
                    <a:cubicBezTo>
                      <a:pt x="176" y="167"/>
                      <a:pt x="147" y="163"/>
                      <a:pt x="146" y="181"/>
                    </a:cubicBezTo>
                    <a:cubicBezTo>
                      <a:pt x="145" y="196"/>
                      <a:pt x="145" y="203"/>
                      <a:pt x="145" y="209"/>
                    </a:cubicBezTo>
                    <a:cubicBezTo>
                      <a:pt x="145" y="218"/>
                      <a:pt x="145" y="216"/>
                      <a:pt x="136" y="216"/>
                    </a:cubicBezTo>
                    <a:cubicBezTo>
                      <a:pt x="130" y="216"/>
                      <a:pt x="133" y="186"/>
                      <a:pt x="133" y="166"/>
                    </a:cubicBezTo>
                    <a:cubicBezTo>
                      <a:pt x="136" y="153"/>
                      <a:pt x="144" y="155"/>
                      <a:pt x="156" y="154"/>
                    </a:cubicBezTo>
                    <a:cubicBezTo>
                      <a:pt x="162" y="155"/>
                      <a:pt x="171" y="154"/>
                      <a:pt x="175" y="154"/>
                    </a:cubicBezTo>
                    <a:cubicBezTo>
                      <a:pt x="185" y="154"/>
                      <a:pt x="188" y="149"/>
                      <a:pt x="188" y="141"/>
                    </a:cubicBezTo>
                    <a:cubicBezTo>
                      <a:pt x="189" y="132"/>
                      <a:pt x="190" y="132"/>
                      <a:pt x="197" y="131"/>
                    </a:cubicBezTo>
                    <a:cubicBezTo>
                      <a:pt x="204" y="130"/>
                      <a:pt x="203" y="135"/>
                      <a:pt x="204" y="141"/>
                    </a:cubicBezTo>
                    <a:cubicBezTo>
                      <a:pt x="207" y="151"/>
                      <a:pt x="203" y="152"/>
                      <a:pt x="218" y="153"/>
                    </a:cubicBezTo>
                    <a:cubicBezTo>
                      <a:pt x="230" y="153"/>
                      <a:pt x="239" y="153"/>
                      <a:pt x="245" y="154"/>
                    </a:cubicBezTo>
                    <a:cubicBezTo>
                      <a:pt x="257" y="155"/>
                      <a:pt x="263" y="154"/>
                      <a:pt x="264" y="172"/>
                    </a:cubicBezTo>
                    <a:cubicBezTo>
                      <a:pt x="265" y="188"/>
                      <a:pt x="269" y="202"/>
                      <a:pt x="264" y="208"/>
                    </a:cubicBezTo>
                    <a:cubicBezTo>
                      <a:pt x="262" y="210"/>
                      <a:pt x="256" y="213"/>
                      <a:pt x="252" y="213"/>
                    </a:cubicBezTo>
                    <a:cubicBezTo>
                      <a:pt x="247" y="210"/>
                      <a:pt x="258" y="176"/>
                      <a:pt x="245" y="170"/>
                    </a:cubicBezTo>
                    <a:cubicBezTo>
                      <a:pt x="237" y="166"/>
                      <a:pt x="216" y="166"/>
                      <a:pt x="209" y="169"/>
                    </a:cubicBezTo>
                    <a:cubicBezTo>
                      <a:pt x="203" y="172"/>
                      <a:pt x="206" y="184"/>
                      <a:pt x="205" y="193"/>
                    </a:cubicBezTo>
                    <a:cubicBezTo>
                      <a:pt x="205" y="200"/>
                      <a:pt x="205" y="207"/>
                      <a:pt x="219" y="217"/>
                    </a:cubicBezTo>
                    <a:cubicBezTo>
                      <a:pt x="234" y="227"/>
                      <a:pt x="247" y="240"/>
                      <a:pt x="260" y="256"/>
                    </a:cubicBezTo>
                    <a:cubicBezTo>
                      <a:pt x="268" y="264"/>
                      <a:pt x="275" y="275"/>
                      <a:pt x="262" y="279"/>
                    </a:cubicBezTo>
                    <a:close/>
                    <a:moveTo>
                      <a:pt x="270" y="85"/>
                    </a:moveTo>
                    <a:cubicBezTo>
                      <a:pt x="207" y="85"/>
                      <a:pt x="207" y="85"/>
                      <a:pt x="207" y="85"/>
                    </a:cubicBezTo>
                    <a:cubicBezTo>
                      <a:pt x="207" y="76"/>
                      <a:pt x="214" y="69"/>
                      <a:pt x="222" y="69"/>
                    </a:cubicBezTo>
                    <a:cubicBezTo>
                      <a:pt x="262" y="69"/>
                      <a:pt x="262" y="69"/>
                      <a:pt x="262" y="69"/>
                    </a:cubicBezTo>
                    <a:cubicBezTo>
                      <a:pt x="267" y="69"/>
                      <a:pt x="270" y="73"/>
                      <a:pt x="270" y="77"/>
                    </a:cubicBezTo>
                    <a:lnTo>
                      <a:pt x="270" y="85"/>
                    </a:lnTo>
                    <a:close/>
                    <a:moveTo>
                      <a:pt x="331" y="360"/>
                    </a:moveTo>
                    <a:cubicBezTo>
                      <a:pt x="328" y="363"/>
                      <a:pt x="319" y="364"/>
                      <a:pt x="317" y="367"/>
                    </a:cubicBezTo>
                    <a:cubicBezTo>
                      <a:pt x="315" y="370"/>
                      <a:pt x="316" y="391"/>
                      <a:pt x="317" y="392"/>
                    </a:cubicBezTo>
                    <a:cubicBezTo>
                      <a:pt x="319" y="394"/>
                      <a:pt x="323" y="393"/>
                      <a:pt x="330" y="392"/>
                    </a:cubicBezTo>
                    <a:cubicBezTo>
                      <a:pt x="335" y="392"/>
                      <a:pt x="336" y="407"/>
                      <a:pt x="333" y="408"/>
                    </a:cubicBezTo>
                    <a:cubicBezTo>
                      <a:pt x="329" y="409"/>
                      <a:pt x="315" y="410"/>
                      <a:pt x="307" y="411"/>
                    </a:cubicBezTo>
                    <a:cubicBezTo>
                      <a:pt x="300" y="412"/>
                      <a:pt x="295" y="412"/>
                      <a:pt x="287" y="412"/>
                    </a:cubicBezTo>
                    <a:cubicBezTo>
                      <a:pt x="280" y="412"/>
                      <a:pt x="280" y="409"/>
                      <a:pt x="280" y="403"/>
                    </a:cubicBezTo>
                    <a:cubicBezTo>
                      <a:pt x="280" y="397"/>
                      <a:pt x="279" y="395"/>
                      <a:pt x="285" y="396"/>
                    </a:cubicBezTo>
                    <a:cubicBezTo>
                      <a:pt x="291" y="396"/>
                      <a:pt x="294" y="397"/>
                      <a:pt x="300" y="392"/>
                    </a:cubicBezTo>
                    <a:cubicBezTo>
                      <a:pt x="303" y="389"/>
                      <a:pt x="301" y="381"/>
                      <a:pt x="302" y="375"/>
                    </a:cubicBezTo>
                    <a:cubicBezTo>
                      <a:pt x="301" y="370"/>
                      <a:pt x="303" y="365"/>
                      <a:pt x="295" y="367"/>
                    </a:cubicBezTo>
                    <a:cubicBezTo>
                      <a:pt x="285" y="370"/>
                      <a:pt x="284" y="371"/>
                      <a:pt x="284" y="353"/>
                    </a:cubicBezTo>
                    <a:cubicBezTo>
                      <a:pt x="284" y="347"/>
                      <a:pt x="284" y="341"/>
                      <a:pt x="284" y="336"/>
                    </a:cubicBezTo>
                    <a:cubicBezTo>
                      <a:pt x="285" y="328"/>
                      <a:pt x="283" y="323"/>
                      <a:pt x="294" y="321"/>
                    </a:cubicBezTo>
                    <a:cubicBezTo>
                      <a:pt x="299" y="320"/>
                      <a:pt x="296" y="334"/>
                      <a:pt x="296" y="341"/>
                    </a:cubicBezTo>
                    <a:cubicBezTo>
                      <a:pt x="296" y="347"/>
                      <a:pt x="295" y="354"/>
                      <a:pt x="299" y="354"/>
                    </a:cubicBezTo>
                    <a:cubicBezTo>
                      <a:pt x="308" y="355"/>
                      <a:pt x="303" y="334"/>
                      <a:pt x="303" y="317"/>
                    </a:cubicBezTo>
                    <a:cubicBezTo>
                      <a:pt x="304" y="306"/>
                      <a:pt x="301" y="301"/>
                      <a:pt x="310" y="300"/>
                    </a:cubicBezTo>
                    <a:cubicBezTo>
                      <a:pt x="318" y="298"/>
                      <a:pt x="316" y="301"/>
                      <a:pt x="317" y="311"/>
                    </a:cubicBezTo>
                    <a:cubicBezTo>
                      <a:pt x="317" y="319"/>
                      <a:pt x="316" y="350"/>
                      <a:pt x="320" y="350"/>
                    </a:cubicBezTo>
                    <a:cubicBezTo>
                      <a:pt x="328" y="349"/>
                      <a:pt x="326" y="323"/>
                      <a:pt x="326" y="319"/>
                    </a:cubicBezTo>
                    <a:cubicBezTo>
                      <a:pt x="325" y="312"/>
                      <a:pt x="324" y="309"/>
                      <a:pt x="331" y="308"/>
                    </a:cubicBezTo>
                    <a:cubicBezTo>
                      <a:pt x="337" y="308"/>
                      <a:pt x="337" y="308"/>
                      <a:pt x="338" y="314"/>
                    </a:cubicBezTo>
                    <a:cubicBezTo>
                      <a:pt x="339" y="320"/>
                      <a:pt x="339" y="326"/>
                      <a:pt x="339" y="331"/>
                    </a:cubicBezTo>
                    <a:cubicBezTo>
                      <a:pt x="339" y="337"/>
                      <a:pt x="338" y="341"/>
                      <a:pt x="337" y="348"/>
                    </a:cubicBezTo>
                    <a:cubicBezTo>
                      <a:pt x="336" y="355"/>
                      <a:pt x="333" y="358"/>
                      <a:pt x="331" y="360"/>
                    </a:cubicBezTo>
                    <a:close/>
                    <a:moveTo>
                      <a:pt x="364" y="430"/>
                    </a:moveTo>
                    <a:cubicBezTo>
                      <a:pt x="360" y="431"/>
                      <a:pt x="359" y="431"/>
                      <a:pt x="354" y="430"/>
                    </a:cubicBezTo>
                    <a:cubicBezTo>
                      <a:pt x="350" y="429"/>
                      <a:pt x="348" y="425"/>
                      <a:pt x="345" y="416"/>
                    </a:cubicBezTo>
                    <a:cubicBezTo>
                      <a:pt x="344" y="411"/>
                      <a:pt x="343" y="406"/>
                      <a:pt x="340" y="395"/>
                    </a:cubicBezTo>
                    <a:cubicBezTo>
                      <a:pt x="339" y="382"/>
                      <a:pt x="337" y="371"/>
                      <a:pt x="340" y="364"/>
                    </a:cubicBezTo>
                    <a:cubicBezTo>
                      <a:pt x="341" y="359"/>
                      <a:pt x="344" y="352"/>
                      <a:pt x="347" y="346"/>
                    </a:cubicBezTo>
                    <a:cubicBezTo>
                      <a:pt x="349" y="341"/>
                      <a:pt x="351" y="337"/>
                      <a:pt x="354" y="327"/>
                    </a:cubicBezTo>
                    <a:cubicBezTo>
                      <a:pt x="356" y="318"/>
                      <a:pt x="356" y="317"/>
                      <a:pt x="354" y="309"/>
                    </a:cubicBezTo>
                    <a:cubicBezTo>
                      <a:pt x="353" y="305"/>
                      <a:pt x="351" y="301"/>
                      <a:pt x="350" y="297"/>
                    </a:cubicBezTo>
                    <a:cubicBezTo>
                      <a:pt x="347" y="291"/>
                      <a:pt x="345" y="288"/>
                      <a:pt x="352" y="288"/>
                    </a:cubicBezTo>
                    <a:cubicBezTo>
                      <a:pt x="361" y="287"/>
                      <a:pt x="361" y="288"/>
                      <a:pt x="365" y="294"/>
                    </a:cubicBezTo>
                    <a:cubicBezTo>
                      <a:pt x="369" y="305"/>
                      <a:pt x="369" y="309"/>
                      <a:pt x="370" y="312"/>
                    </a:cubicBezTo>
                    <a:cubicBezTo>
                      <a:pt x="371" y="320"/>
                      <a:pt x="370" y="329"/>
                      <a:pt x="363" y="345"/>
                    </a:cubicBezTo>
                    <a:cubicBezTo>
                      <a:pt x="356" y="359"/>
                      <a:pt x="353" y="365"/>
                      <a:pt x="354" y="379"/>
                    </a:cubicBezTo>
                    <a:cubicBezTo>
                      <a:pt x="355" y="394"/>
                      <a:pt x="358" y="410"/>
                      <a:pt x="360" y="416"/>
                    </a:cubicBezTo>
                    <a:cubicBezTo>
                      <a:pt x="362" y="420"/>
                      <a:pt x="367" y="429"/>
                      <a:pt x="364" y="430"/>
                    </a:cubicBezTo>
                    <a:close/>
                    <a:moveTo>
                      <a:pt x="387" y="409"/>
                    </a:moveTo>
                    <a:cubicBezTo>
                      <a:pt x="390" y="419"/>
                      <a:pt x="396" y="428"/>
                      <a:pt x="392" y="429"/>
                    </a:cubicBezTo>
                    <a:cubicBezTo>
                      <a:pt x="389" y="430"/>
                      <a:pt x="383" y="429"/>
                      <a:pt x="381" y="427"/>
                    </a:cubicBezTo>
                    <a:cubicBezTo>
                      <a:pt x="377" y="423"/>
                      <a:pt x="373" y="415"/>
                      <a:pt x="371" y="402"/>
                    </a:cubicBezTo>
                    <a:cubicBezTo>
                      <a:pt x="369" y="388"/>
                      <a:pt x="367" y="379"/>
                      <a:pt x="369" y="366"/>
                    </a:cubicBezTo>
                    <a:cubicBezTo>
                      <a:pt x="373" y="347"/>
                      <a:pt x="383" y="341"/>
                      <a:pt x="385" y="325"/>
                    </a:cubicBezTo>
                    <a:cubicBezTo>
                      <a:pt x="385" y="315"/>
                      <a:pt x="384" y="312"/>
                      <a:pt x="383" y="307"/>
                    </a:cubicBezTo>
                    <a:cubicBezTo>
                      <a:pt x="380" y="300"/>
                      <a:pt x="371" y="288"/>
                      <a:pt x="382" y="288"/>
                    </a:cubicBezTo>
                    <a:cubicBezTo>
                      <a:pt x="388" y="288"/>
                      <a:pt x="388" y="289"/>
                      <a:pt x="391" y="291"/>
                    </a:cubicBezTo>
                    <a:cubicBezTo>
                      <a:pt x="395" y="294"/>
                      <a:pt x="399" y="308"/>
                      <a:pt x="400" y="316"/>
                    </a:cubicBezTo>
                    <a:cubicBezTo>
                      <a:pt x="401" y="327"/>
                      <a:pt x="395" y="339"/>
                      <a:pt x="391" y="349"/>
                    </a:cubicBezTo>
                    <a:cubicBezTo>
                      <a:pt x="387" y="361"/>
                      <a:pt x="382" y="367"/>
                      <a:pt x="382" y="378"/>
                    </a:cubicBezTo>
                    <a:cubicBezTo>
                      <a:pt x="383" y="386"/>
                      <a:pt x="384" y="396"/>
                      <a:pt x="387" y="409"/>
                    </a:cubicBezTo>
                    <a:close/>
                    <a:moveTo>
                      <a:pt x="424" y="337"/>
                    </a:moveTo>
                    <a:cubicBezTo>
                      <a:pt x="419" y="357"/>
                      <a:pt x="414" y="354"/>
                      <a:pt x="410" y="376"/>
                    </a:cubicBezTo>
                    <a:cubicBezTo>
                      <a:pt x="410" y="384"/>
                      <a:pt x="415" y="402"/>
                      <a:pt x="417" y="409"/>
                    </a:cubicBezTo>
                    <a:cubicBezTo>
                      <a:pt x="418" y="415"/>
                      <a:pt x="424" y="428"/>
                      <a:pt x="421" y="429"/>
                    </a:cubicBezTo>
                    <a:cubicBezTo>
                      <a:pt x="418" y="429"/>
                      <a:pt x="411" y="428"/>
                      <a:pt x="409" y="426"/>
                    </a:cubicBezTo>
                    <a:cubicBezTo>
                      <a:pt x="405" y="423"/>
                      <a:pt x="402" y="411"/>
                      <a:pt x="401" y="406"/>
                    </a:cubicBezTo>
                    <a:cubicBezTo>
                      <a:pt x="398" y="394"/>
                      <a:pt x="393" y="373"/>
                      <a:pt x="402" y="355"/>
                    </a:cubicBezTo>
                    <a:cubicBezTo>
                      <a:pt x="405" y="350"/>
                      <a:pt x="409" y="342"/>
                      <a:pt x="411" y="328"/>
                    </a:cubicBezTo>
                    <a:cubicBezTo>
                      <a:pt x="411" y="309"/>
                      <a:pt x="410" y="307"/>
                      <a:pt x="407" y="298"/>
                    </a:cubicBezTo>
                    <a:cubicBezTo>
                      <a:pt x="405" y="293"/>
                      <a:pt x="402" y="289"/>
                      <a:pt x="407" y="289"/>
                    </a:cubicBezTo>
                    <a:cubicBezTo>
                      <a:pt x="421" y="289"/>
                      <a:pt x="420" y="293"/>
                      <a:pt x="424" y="302"/>
                    </a:cubicBezTo>
                    <a:cubicBezTo>
                      <a:pt x="426" y="313"/>
                      <a:pt x="427" y="318"/>
                      <a:pt x="424" y="337"/>
                    </a:cubicBezTo>
                    <a:close/>
                    <a:moveTo>
                      <a:pt x="420" y="272"/>
                    </a:moveTo>
                    <a:cubicBezTo>
                      <a:pt x="413" y="275"/>
                      <a:pt x="413" y="271"/>
                      <a:pt x="413" y="260"/>
                    </a:cubicBezTo>
                    <a:cubicBezTo>
                      <a:pt x="413" y="253"/>
                      <a:pt x="414" y="231"/>
                      <a:pt x="404" y="227"/>
                    </a:cubicBezTo>
                    <a:cubicBezTo>
                      <a:pt x="396" y="223"/>
                      <a:pt x="388" y="223"/>
                      <a:pt x="386" y="226"/>
                    </a:cubicBezTo>
                    <a:cubicBezTo>
                      <a:pt x="385" y="228"/>
                      <a:pt x="385" y="267"/>
                      <a:pt x="385" y="267"/>
                    </a:cubicBezTo>
                    <a:cubicBezTo>
                      <a:pt x="385" y="276"/>
                      <a:pt x="381" y="275"/>
                      <a:pt x="377" y="274"/>
                    </a:cubicBezTo>
                    <a:cubicBezTo>
                      <a:pt x="369" y="272"/>
                      <a:pt x="370" y="267"/>
                      <a:pt x="370" y="260"/>
                    </a:cubicBezTo>
                    <a:cubicBezTo>
                      <a:pt x="370" y="253"/>
                      <a:pt x="370" y="227"/>
                      <a:pt x="369" y="225"/>
                    </a:cubicBezTo>
                    <a:cubicBezTo>
                      <a:pt x="368" y="224"/>
                      <a:pt x="353" y="223"/>
                      <a:pt x="350" y="239"/>
                    </a:cubicBezTo>
                    <a:cubicBezTo>
                      <a:pt x="348" y="254"/>
                      <a:pt x="346" y="264"/>
                      <a:pt x="346" y="267"/>
                    </a:cubicBezTo>
                    <a:cubicBezTo>
                      <a:pt x="345" y="269"/>
                      <a:pt x="345" y="271"/>
                      <a:pt x="344" y="272"/>
                    </a:cubicBezTo>
                    <a:cubicBezTo>
                      <a:pt x="341" y="273"/>
                      <a:pt x="335" y="274"/>
                      <a:pt x="334" y="272"/>
                    </a:cubicBezTo>
                    <a:cubicBezTo>
                      <a:pt x="333" y="267"/>
                      <a:pt x="334" y="258"/>
                      <a:pt x="335" y="249"/>
                    </a:cubicBezTo>
                    <a:cubicBezTo>
                      <a:pt x="337" y="239"/>
                      <a:pt x="339" y="232"/>
                      <a:pt x="342" y="223"/>
                    </a:cubicBezTo>
                    <a:cubicBezTo>
                      <a:pt x="343" y="217"/>
                      <a:pt x="359" y="214"/>
                      <a:pt x="367" y="210"/>
                    </a:cubicBezTo>
                    <a:cubicBezTo>
                      <a:pt x="373" y="209"/>
                      <a:pt x="371" y="201"/>
                      <a:pt x="369" y="200"/>
                    </a:cubicBezTo>
                    <a:cubicBezTo>
                      <a:pt x="367" y="200"/>
                      <a:pt x="356" y="201"/>
                      <a:pt x="350" y="202"/>
                    </a:cubicBezTo>
                    <a:cubicBezTo>
                      <a:pt x="346" y="202"/>
                      <a:pt x="342" y="205"/>
                      <a:pt x="338" y="198"/>
                    </a:cubicBezTo>
                    <a:cubicBezTo>
                      <a:pt x="336" y="194"/>
                      <a:pt x="336" y="190"/>
                      <a:pt x="346" y="190"/>
                    </a:cubicBezTo>
                    <a:cubicBezTo>
                      <a:pt x="360" y="189"/>
                      <a:pt x="360" y="189"/>
                      <a:pt x="360" y="189"/>
                    </a:cubicBezTo>
                    <a:cubicBezTo>
                      <a:pt x="360" y="189"/>
                      <a:pt x="370" y="188"/>
                      <a:pt x="371" y="187"/>
                    </a:cubicBezTo>
                    <a:cubicBezTo>
                      <a:pt x="371" y="184"/>
                      <a:pt x="371" y="179"/>
                      <a:pt x="373" y="175"/>
                    </a:cubicBezTo>
                    <a:cubicBezTo>
                      <a:pt x="374" y="174"/>
                      <a:pt x="378" y="175"/>
                      <a:pt x="381" y="175"/>
                    </a:cubicBezTo>
                    <a:cubicBezTo>
                      <a:pt x="386" y="177"/>
                      <a:pt x="384" y="177"/>
                      <a:pt x="385" y="183"/>
                    </a:cubicBezTo>
                    <a:cubicBezTo>
                      <a:pt x="385" y="186"/>
                      <a:pt x="384" y="187"/>
                      <a:pt x="401" y="187"/>
                    </a:cubicBezTo>
                    <a:cubicBezTo>
                      <a:pt x="414" y="186"/>
                      <a:pt x="423" y="185"/>
                      <a:pt x="422" y="190"/>
                    </a:cubicBezTo>
                    <a:cubicBezTo>
                      <a:pt x="422" y="192"/>
                      <a:pt x="422" y="197"/>
                      <a:pt x="421" y="198"/>
                    </a:cubicBezTo>
                    <a:cubicBezTo>
                      <a:pt x="419" y="200"/>
                      <a:pt x="416" y="199"/>
                      <a:pt x="410" y="200"/>
                    </a:cubicBezTo>
                    <a:cubicBezTo>
                      <a:pt x="402" y="200"/>
                      <a:pt x="388" y="200"/>
                      <a:pt x="386" y="201"/>
                    </a:cubicBezTo>
                    <a:cubicBezTo>
                      <a:pt x="384" y="201"/>
                      <a:pt x="385" y="204"/>
                      <a:pt x="385" y="206"/>
                    </a:cubicBezTo>
                    <a:cubicBezTo>
                      <a:pt x="386" y="208"/>
                      <a:pt x="385" y="208"/>
                      <a:pt x="393" y="210"/>
                    </a:cubicBezTo>
                    <a:cubicBezTo>
                      <a:pt x="419" y="218"/>
                      <a:pt x="419" y="217"/>
                      <a:pt x="423" y="234"/>
                    </a:cubicBezTo>
                    <a:cubicBezTo>
                      <a:pt x="426" y="248"/>
                      <a:pt x="426" y="256"/>
                      <a:pt x="426" y="261"/>
                    </a:cubicBezTo>
                    <a:cubicBezTo>
                      <a:pt x="426" y="266"/>
                      <a:pt x="428" y="269"/>
                      <a:pt x="420" y="27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33"/>
              <p:cNvSpPr/>
              <p:nvPr/>
            </p:nvSpPr>
            <p:spPr bwMode="auto">
              <a:xfrm>
                <a:off x="5250222" y="1604574"/>
                <a:ext cx="112866" cy="108062"/>
              </a:xfrm>
              <a:custGeom>
                <a:avLst/>
                <a:gdLst>
                  <a:gd name="T0" fmla="*/ 10 w 20"/>
                  <a:gd name="T1" fmla="*/ 18 h 19"/>
                  <a:gd name="T2" fmla="*/ 17 w 20"/>
                  <a:gd name="T3" fmla="*/ 17 h 19"/>
                  <a:gd name="T4" fmla="*/ 18 w 20"/>
                  <a:gd name="T5" fmla="*/ 5 h 19"/>
                  <a:gd name="T6" fmla="*/ 4 w 20"/>
                  <a:gd name="T7" fmla="*/ 1 h 19"/>
                  <a:gd name="T8" fmla="*/ 0 w 20"/>
                  <a:gd name="T9" fmla="*/ 5 h 19"/>
                  <a:gd name="T10" fmla="*/ 10 w 20"/>
                  <a:gd name="T11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0" h="19">
                    <a:moveTo>
                      <a:pt x="10" y="18"/>
                    </a:moveTo>
                    <a:cubicBezTo>
                      <a:pt x="17" y="17"/>
                      <a:pt x="17" y="17"/>
                      <a:pt x="17" y="17"/>
                    </a:cubicBezTo>
                    <a:cubicBezTo>
                      <a:pt x="20" y="17"/>
                      <a:pt x="20" y="12"/>
                      <a:pt x="18" y="5"/>
                    </a:cubicBezTo>
                    <a:cubicBezTo>
                      <a:pt x="16" y="0"/>
                      <a:pt x="10" y="0"/>
                      <a:pt x="4" y="1"/>
                    </a:cubicBezTo>
                    <a:cubicBezTo>
                      <a:pt x="1" y="1"/>
                      <a:pt x="0" y="1"/>
                      <a:pt x="0" y="5"/>
                    </a:cubicBezTo>
                    <a:cubicBezTo>
                      <a:pt x="3" y="19"/>
                      <a:pt x="3" y="17"/>
                      <a:pt x="10" y="1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34"/>
              <p:cNvSpPr/>
              <p:nvPr/>
            </p:nvSpPr>
            <p:spPr bwMode="auto">
              <a:xfrm>
                <a:off x="4971662" y="1616582"/>
                <a:ext cx="100857" cy="96055"/>
              </a:xfrm>
              <a:custGeom>
                <a:avLst/>
                <a:gdLst>
                  <a:gd name="T0" fmla="*/ 3 w 18"/>
                  <a:gd name="T1" fmla="*/ 17 h 17"/>
                  <a:gd name="T2" fmla="*/ 8 w 18"/>
                  <a:gd name="T3" fmla="*/ 16 h 17"/>
                  <a:gd name="T4" fmla="*/ 18 w 18"/>
                  <a:gd name="T5" fmla="*/ 3 h 17"/>
                  <a:gd name="T6" fmla="*/ 8 w 18"/>
                  <a:gd name="T7" fmla="*/ 1 h 17"/>
                  <a:gd name="T8" fmla="*/ 2 w 18"/>
                  <a:gd name="T9" fmla="*/ 6 h 17"/>
                  <a:gd name="T10" fmla="*/ 3 w 18"/>
                  <a:gd name="T11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7">
                    <a:moveTo>
                      <a:pt x="3" y="17"/>
                    </a:moveTo>
                    <a:cubicBezTo>
                      <a:pt x="8" y="16"/>
                      <a:pt x="8" y="16"/>
                      <a:pt x="8" y="16"/>
                    </a:cubicBezTo>
                    <a:cubicBezTo>
                      <a:pt x="17" y="16"/>
                      <a:pt x="17" y="11"/>
                      <a:pt x="18" y="3"/>
                    </a:cubicBezTo>
                    <a:cubicBezTo>
                      <a:pt x="18" y="0"/>
                      <a:pt x="13" y="0"/>
                      <a:pt x="8" y="1"/>
                    </a:cubicBezTo>
                    <a:cubicBezTo>
                      <a:pt x="3" y="2"/>
                      <a:pt x="3" y="2"/>
                      <a:pt x="2" y="6"/>
                    </a:cubicBezTo>
                    <a:cubicBezTo>
                      <a:pt x="1" y="9"/>
                      <a:pt x="0" y="16"/>
                      <a:pt x="3" y="1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842742"/>
            <a:ext cx="10972800" cy="757458"/>
          </a:xfrm>
        </p:spPr>
        <p:txBody>
          <a:bodyPr>
            <a:normAutofit/>
          </a:bodyPr>
          <a:lstStyle>
            <a:lvl1pPr algn="l">
              <a:defRPr sz="4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719480"/>
            <a:ext cx="10972800" cy="440668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935F4044-894B-B74C-BA70-A76DFBF0261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内容占位符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25953"/>
            <a:ext cx="12191999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935F4044-894B-B74C-BA70-A76DFBF0261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椭圆 5"/>
          <p:cNvSpPr/>
          <p:nvPr/>
        </p:nvSpPr>
        <p:spPr>
          <a:xfrm>
            <a:off x="-960755" y="-11260455"/>
            <a:ext cx="13681710" cy="13460730"/>
          </a:xfrm>
          <a:prstGeom prst="ellipse">
            <a:avLst/>
          </a:prstGeom>
          <a:solidFill>
            <a:srgbClr val="950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321935" y="0"/>
            <a:ext cx="1356360" cy="400685"/>
            <a:chOff x="159979" y="292937"/>
            <a:chExt cx="1955144" cy="577398"/>
          </a:xfrm>
        </p:grpSpPr>
        <p:pic>
          <p:nvPicPr>
            <p:cNvPr id="8" name="深圳大学"/>
            <p:cNvPicPr>
              <a:picLocks noChangeAspect="1"/>
            </p:cNvPicPr>
            <p:nvPr/>
          </p:nvPicPr>
          <p:blipFill>
            <a:blip r:embed="rId3" cstate="email"/>
            <a:stretch>
              <a:fillRect/>
            </a:stretch>
          </p:blipFill>
          <p:spPr>
            <a:xfrm>
              <a:off x="860396" y="292937"/>
              <a:ext cx="1254727" cy="577398"/>
            </a:xfrm>
            <a:prstGeom prst="rect">
              <a:avLst/>
            </a:prstGeom>
            <a:solidFill>
              <a:srgbClr val="950045"/>
            </a:solidFill>
            <a:effectLst>
              <a:softEdge rad="0"/>
            </a:effectLst>
          </p:spPr>
        </p:pic>
        <p:grpSp>
          <p:nvGrpSpPr>
            <p:cNvPr id="9" name="组合 8"/>
            <p:cNvGrpSpPr/>
            <p:nvPr/>
          </p:nvGrpSpPr>
          <p:grpSpPr>
            <a:xfrm>
              <a:off x="159979" y="299569"/>
              <a:ext cx="545640" cy="545388"/>
              <a:chOff x="1947444" y="-250327"/>
              <a:chExt cx="5162972" cy="5160570"/>
            </a:xfrm>
            <a:solidFill>
              <a:sysClr val="window" lastClr="FFFFFF"/>
            </a:solidFill>
          </p:grpSpPr>
          <p:sp>
            <p:nvSpPr>
              <p:cNvPr id="10" name="Freeform 5"/>
              <p:cNvSpPr/>
              <p:nvPr/>
            </p:nvSpPr>
            <p:spPr bwMode="auto">
              <a:xfrm>
                <a:off x="4714715" y="29267"/>
                <a:ext cx="449059" cy="487480"/>
              </a:xfrm>
              <a:custGeom>
                <a:avLst/>
                <a:gdLst>
                  <a:gd name="T0" fmla="*/ 59 w 79"/>
                  <a:gd name="T1" fmla="*/ 63 h 86"/>
                  <a:gd name="T2" fmla="*/ 28 w 79"/>
                  <a:gd name="T3" fmla="*/ 84 h 86"/>
                  <a:gd name="T4" fmla="*/ 2 w 79"/>
                  <a:gd name="T5" fmla="*/ 60 h 86"/>
                  <a:gd name="T6" fmla="*/ 10 w 79"/>
                  <a:gd name="T7" fmla="*/ 11 h 86"/>
                  <a:gd name="T8" fmla="*/ 1 w 79"/>
                  <a:gd name="T9" fmla="*/ 2 h 86"/>
                  <a:gd name="T10" fmla="*/ 4 w 79"/>
                  <a:gd name="T11" fmla="*/ 0 h 86"/>
                  <a:gd name="T12" fmla="*/ 19 w 79"/>
                  <a:gd name="T13" fmla="*/ 3 h 86"/>
                  <a:gd name="T14" fmla="*/ 35 w 79"/>
                  <a:gd name="T15" fmla="*/ 5 h 86"/>
                  <a:gd name="T16" fmla="*/ 37 w 79"/>
                  <a:gd name="T17" fmla="*/ 7 h 86"/>
                  <a:gd name="T18" fmla="*/ 26 w 79"/>
                  <a:gd name="T19" fmla="*/ 13 h 86"/>
                  <a:gd name="T20" fmla="*/ 19 w 79"/>
                  <a:gd name="T21" fmla="*/ 62 h 86"/>
                  <a:gd name="T22" fmla="*/ 33 w 79"/>
                  <a:gd name="T23" fmla="*/ 81 h 86"/>
                  <a:gd name="T24" fmla="*/ 56 w 79"/>
                  <a:gd name="T25" fmla="*/ 63 h 86"/>
                  <a:gd name="T26" fmla="*/ 61 w 79"/>
                  <a:gd name="T27" fmla="*/ 30 h 86"/>
                  <a:gd name="T28" fmla="*/ 55 w 79"/>
                  <a:gd name="T29" fmla="*/ 11 h 86"/>
                  <a:gd name="T30" fmla="*/ 52 w 79"/>
                  <a:gd name="T31" fmla="*/ 9 h 86"/>
                  <a:gd name="T32" fmla="*/ 54 w 79"/>
                  <a:gd name="T33" fmla="*/ 8 h 86"/>
                  <a:gd name="T34" fmla="*/ 66 w 79"/>
                  <a:gd name="T35" fmla="*/ 10 h 86"/>
                  <a:gd name="T36" fmla="*/ 77 w 79"/>
                  <a:gd name="T37" fmla="*/ 12 h 86"/>
                  <a:gd name="T38" fmla="*/ 79 w 79"/>
                  <a:gd name="T39" fmla="*/ 13 h 86"/>
                  <a:gd name="T40" fmla="*/ 75 w 79"/>
                  <a:gd name="T41" fmla="*/ 15 h 86"/>
                  <a:gd name="T42" fmla="*/ 64 w 79"/>
                  <a:gd name="T43" fmla="*/ 30 h 86"/>
                  <a:gd name="T44" fmla="*/ 59 w 79"/>
                  <a:gd name="T45" fmla="*/ 63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79" h="86">
                    <a:moveTo>
                      <a:pt x="59" y="63"/>
                    </a:moveTo>
                    <a:cubicBezTo>
                      <a:pt x="56" y="80"/>
                      <a:pt x="43" y="86"/>
                      <a:pt x="28" y="84"/>
                    </a:cubicBezTo>
                    <a:cubicBezTo>
                      <a:pt x="10" y="81"/>
                      <a:pt x="0" y="71"/>
                      <a:pt x="2" y="60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1" y="2"/>
                      <a:pt x="1" y="5"/>
                      <a:pt x="1" y="2"/>
                    </a:cubicBezTo>
                    <a:cubicBezTo>
                      <a:pt x="2" y="1"/>
                      <a:pt x="2" y="0"/>
                      <a:pt x="4" y="0"/>
                    </a:cubicBezTo>
                    <a:cubicBezTo>
                      <a:pt x="10" y="1"/>
                      <a:pt x="15" y="2"/>
                      <a:pt x="19" y="3"/>
                    </a:cubicBezTo>
                    <a:cubicBezTo>
                      <a:pt x="24" y="4"/>
                      <a:pt x="29" y="4"/>
                      <a:pt x="35" y="5"/>
                    </a:cubicBezTo>
                    <a:cubicBezTo>
                      <a:pt x="37" y="6"/>
                      <a:pt x="37" y="6"/>
                      <a:pt x="37" y="7"/>
                    </a:cubicBezTo>
                    <a:cubicBezTo>
                      <a:pt x="37" y="10"/>
                      <a:pt x="28" y="4"/>
                      <a:pt x="26" y="13"/>
                    </a:cubicBezTo>
                    <a:cubicBezTo>
                      <a:pt x="19" y="62"/>
                      <a:pt x="19" y="62"/>
                      <a:pt x="19" y="62"/>
                    </a:cubicBezTo>
                    <a:cubicBezTo>
                      <a:pt x="17" y="71"/>
                      <a:pt x="24" y="80"/>
                      <a:pt x="33" y="81"/>
                    </a:cubicBezTo>
                    <a:cubicBezTo>
                      <a:pt x="45" y="83"/>
                      <a:pt x="54" y="77"/>
                      <a:pt x="56" y="63"/>
                    </a:cubicBezTo>
                    <a:cubicBezTo>
                      <a:pt x="61" y="30"/>
                      <a:pt x="61" y="30"/>
                      <a:pt x="61" y="30"/>
                    </a:cubicBezTo>
                    <a:cubicBezTo>
                      <a:pt x="63" y="20"/>
                      <a:pt x="60" y="14"/>
                      <a:pt x="55" y="11"/>
                    </a:cubicBezTo>
                    <a:cubicBezTo>
                      <a:pt x="54" y="11"/>
                      <a:pt x="52" y="10"/>
                      <a:pt x="52" y="9"/>
                    </a:cubicBezTo>
                    <a:cubicBezTo>
                      <a:pt x="52" y="9"/>
                      <a:pt x="52" y="8"/>
                      <a:pt x="54" y="8"/>
                    </a:cubicBezTo>
                    <a:cubicBezTo>
                      <a:pt x="57" y="9"/>
                      <a:pt x="61" y="10"/>
                      <a:pt x="66" y="10"/>
                    </a:cubicBezTo>
                    <a:cubicBezTo>
                      <a:pt x="70" y="11"/>
                      <a:pt x="75" y="11"/>
                      <a:pt x="77" y="12"/>
                    </a:cubicBezTo>
                    <a:cubicBezTo>
                      <a:pt x="79" y="12"/>
                      <a:pt x="79" y="13"/>
                      <a:pt x="79" y="13"/>
                    </a:cubicBezTo>
                    <a:cubicBezTo>
                      <a:pt x="79" y="14"/>
                      <a:pt x="77" y="14"/>
                      <a:pt x="75" y="15"/>
                    </a:cubicBezTo>
                    <a:cubicBezTo>
                      <a:pt x="70" y="15"/>
                      <a:pt x="65" y="20"/>
                      <a:pt x="64" y="30"/>
                    </a:cubicBezTo>
                    <a:lnTo>
                      <a:pt x="59" y="6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11" name="Freeform 6"/>
              <p:cNvSpPr/>
              <p:nvPr/>
            </p:nvSpPr>
            <p:spPr bwMode="auto">
              <a:xfrm>
                <a:off x="5118147" y="137330"/>
                <a:ext cx="609952" cy="573930"/>
              </a:xfrm>
              <a:custGeom>
                <a:avLst/>
                <a:gdLst>
                  <a:gd name="T0" fmla="*/ 21 w 107"/>
                  <a:gd name="T1" fmla="*/ 61 h 101"/>
                  <a:gd name="T2" fmla="*/ 22 w 107"/>
                  <a:gd name="T3" fmla="*/ 76 h 101"/>
                  <a:gd name="T4" fmla="*/ 27 w 107"/>
                  <a:gd name="T5" fmla="*/ 81 h 101"/>
                  <a:gd name="T6" fmla="*/ 25 w 107"/>
                  <a:gd name="T7" fmla="*/ 81 h 101"/>
                  <a:gd name="T8" fmla="*/ 13 w 107"/>
                  <a:gd name="T9" fmla="*/ 76 h 101"/>
                  <a:gd name="T10" fmla="*/ 1 w 107"/>
                  <a:gd name="T11" fmla="*/ 71 h 101"/>
                  <a:gd name="T12" fmla="*/ 0 w 107"/>
                  <a:gd name="T13" fmla="*/ 69 h 101"/>
                  <a:gd name="T14" fmla="*/ 7 w 107"/>
                  <a:gd name="T15" fmla="*/ 70 h 101"/>
                  <a:gd name="T16" fmla="*/ 19 w 107"/>
                  <a:gd name="T17" fmla="*/ 59 h 101"/>
                  <a:gd name="T18" fmla="*/ 39 w 107"/>
                  <a:gd name="T19" fmla="*/ 14 h 101"/>
                  <a:gd name="T20" fmla="*/ 32 w 107"/>
                  <a:gd name="T21" fmla="*/ 3 h 101"/>
                  <a:gd name="T22" fmla="*/ 30 w 107"/>
                  <a:gd name="T23" fmla="*/ 1 h 101"/>
                  <a:gd name="T24" fmla="*/ 32 w 107"/>
                  <a:gd name="T25" fmla="*/ 0 h 101"/>
                  <a:gd name="T26" fmla="*/ 43 w 107"/>
                  <a:gd name="T27" fmla="*/ 5 h 101"/>
                  <a:gd name="T28" fmla="*/ 55 w 107"/>
                  <a:gd name="T29" fmla="*/ 11 h 101"/>
                  <a:gd name="T30" fmla="*/ 71 w 107"/>
                  <a:gd name="T31" fmla="*/ 74 h 101"/>
                  <a:gd name="T32" fmla="*/ 72 w 107"/>
                  <a:gd name="T33" fmla="*/ 74 h 101"/>
                  <a:gd name="T34" fmla="*/ 85 w 107"/>
                  <a:gd name="T35" fmla="*/ 43 h 101"/>
                  <a:gd name="T36" fmla="*/ 84 w 107"/>
                  <a:gd name="T37" fmla="*/ 27 h 101"/>
                  <a:gd name="T38" fmla="*/ 80 w 107"/>
                  <a:gd name="T39" fmla="*/ 23 h 101"/>
                  <a:gd name="T40" fmla="*/ 82 w 107"/>
                  <a:gd name="T41" fmla="*/ 22 h 101"/>
                  <a:gd name="T42" fmla="*/ 93 w 107"/>
                  <a:gd name="T43" fmla="*/ 28 h 101"/>
                  <a:gd name="T44" fmla="*/ 105 w 107"/>
                  <a:gd name="T45" fmla="*/ 33 h 101"/>
                  <a:gd name="T46" fmla="*/ 106 w 107"/>
                  <a:gd name="T47" fmla="*/ 34 h 101"/>
                  <a:gd name="T48" fmla="*/ 100 w 107"/>
                  <a:gd name="T49" fmla="*/ 34 h 101"/>
                  <a:gd name="T50" fmla="*/ 88 w 107"/>
                  <a:gd name="T51" fmla="*/ 44 h 101"/>
                  <a:gd name="T52" fmla="*/ 64 w 107"/>
                  <a:gd name="T53" fmla="*/ 97 h 101"/>
                  <a:gd name="T54" fmla="*/ 62 w 107"/>
                  <a:gd name="T55" fmla="*/ 100 h 101"/>
                  <a:gd name="T56" fmla="*/ 60 w 107"/>
                  <a:gd name="T57" fmla="*/ 97 h 101"/>
                  <a:gd name="T58" fmla="*/ 40 w 107"/>
                  <a:gd name="T59" fmla="*/ 19 h 101"/>
                  <a:gd name="T60" fmla="*/ 40 w 107"/>
                  <a:gd name="T61" fmla="*/ 19 h 101"/>
                  <a:gd name="T62" fmla="*/ 21 w 107"/>
                  <a:gd name="T63" fmla="*/ 61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07" h="101">
                    <a:moveTo>
                      <a:pt x="21" y="61"/>
                    </a:moveTo>
                    <a:cubicBezTo>
                      <a:pt x="18" y="69"/>
                      <a:pt x="20" y="74"/>
                      <a:pt x="22" y="76"/>
                    </a:cubicBezTo>
                    <a:cubicBezTo>
                      <a:pt x="24" y="79"/>
                      <a:pt x="28" y="79"/>
                      <a:pt x="27" y="81"/>
                    </a:cubicBezTo>
                    <a:cubicBezTo>
                      <a:pt x="26" y="82"/>
                      <a:pt x="26" y="82"/>
                      <a:pt x="25" y="81"/>
                    </a:cubicBezTo>
                    <a:cubicBezTo>
                      <a:pt x="21" y="80"/>
                      <a:pt x="17" y="78"/>
                      <a:pt x="13" y="76"/>
                    </a:cubicBezTo>
                    <a:cubicBezTo>
                      <a:pt x="9" y="74"/>
                      <a:pt x="5" y="73"/>
                      <a:pt x="1" y="71"/>
                    </a:cubicBezTo>
                    <a:cubicBezTo>
                      <a:pt x="0" y="70"/>
                      <a:pt x="0" y="70"/>
                      <a:pt x="0" y="69"/>
                    </a:cubicBezTo>
                    <a:cubicBezTo>
                      <a:pt x="1" y="67"/>
                      <a:pt x="3" y="70"/>
                      <a:pt x="7" y="70"/>
                    </a:cubicBezTo>
                    <a:cubicBezTo>
                      <a:pt x="10" y="70"/>
                      <a:pt x="15" y="68"/>
                      <a:pt x="19" y="59"/>
                    </a:cubicBezTo>
                    <a:cubicBezTo>
                      <a:pt x="39" y="14"/>
                      <a:pt x="39" y="14"/>
                      <a:pt x="39" y="14"/>
                    </a:cubicBezTo>
                    <a:cubicBezTo>
                      <a:pt x="38" y="8"/>
                      <a:pt x="35" y="5"/>
                      <a:pt x="32" y="3"/>
                    </a:cubicBezTo>
                    <a:cubicBezTo>
                      <a:pt x="31" y="2"/>
                      <a:pt x="30" y="2"/>
                      <a:pt x="30" y="1"/>
                    </a:cubicBezTo>
                    <a:cubicBezTo>
                      <a:pt x="31" y="0"/>
                      <a:pt x="31" y="0"/>
                      <a:pt x="32" y="0"/>
                    </a:cubicBezTo>
                    <a:cubicBezTo>
                      <a:pt x="36" y="2"/>
                      <a:pt x="39" y="4"/>
                      <a:pt x="43" y="5"/>
                    </a:cubicBezTo>
                    <a:cubicBezTo>
                      <a:pt x="55" y="11"/>
                      <a:pt x="55" y="11"/>
                      <a:pt x="55" y="11"/>
                    </a:cubicBezTo>
                    <a:cubicBezTo>
                      <a:pt x="71" y="74"/>
                      <a:pt x="71" y="74"/>
                      <a:pt x="71" y="74"/>
                    </a:cubicBezTo>
                    <a:cubicBezTo>
                      <a:pt x="72" y="74"/>
                      <a:pt x="72" y="74"/>
                      <a:pt x="72" y="74"/>
                    </a:cubicBezTo>
                    <a:cubicBezTo>
                      <a:pt x="85" y="43"/>
                      <a:pt x="85" y="43"/>
                      <a:pt x="85" y="43"/>
                    </a:cubicBezTo>
                    <a:cubicBezTo>
                      <a:pt x="89" y="35"/>
                      <a:pt x="87" y="30"/>
                      <a:pt x="84" y="27"/>
                    </a:cubicBezTo>
                    <a:cubicBezTo>
                      <a:pt x="82" y="25"/>
                      <a:pt x="79" y="24"/>
                      <a:pt x="80" y="23"/>
                    </a:cubicBezTo>
                    <a:cubicBezTo>
                      <a:pt x="80" y="22"/>
                      <a:pt x="80" y="22"/>
                      <a:pt x="82" y="22"/>
                    </a:cubicBezTo>
                    <a:cubicBezTo>
                      <a:pt x="85" y="24"/>
                      <a:pt x="89" y="26"/>
                      <a:pt x="93" y="28"/>
                    </a:cubicBezTo>
                    <a:cubicBezTo>
                      <a:pt x="98" y="29"/>
                      <a:pt x="102" y="31"/>
                      <a:pt x="105" y="33"/>
                    </a:cubicBezTo>
                    <a:cubicBezTo>
                      <a:pt x="107" y="33"/>
                      <a:pt x="106" y="34"/>
                      <a:pt x="106" y="34"/>
                    </a:cubicBezTo>
                    <a:cubicBezTo>
                      <a:pt x="105" y="36"/>
                      <a:pt x="103" y="34"/>
                      <a:pt x="100" y="34"/>
                    </a:cubicBezTo>
                    <a:cubicBezTo>
                      <a:pt x="96" y="34"/>
                      <a:pt x="91" y="36"/>
                      <a:pt x="88" y="44"/>
                    </a:cubicBezTo>
                    <a:cubicBezTo>
                      <a:pt x="64" y="97"/>
                      <a:pt x="64" y="97"/>
                      <a:pt x="64" y="97"/>
                    </a:cubicBezTo>
                    <a:cubicBezTo>
                      <a:pt x="63" y="99"/>
                      <a:pt x="62" y="101"/>
                      <a:pt x="62" y="100"/>
                    </a:cubicBezTo>
                    <a:cubicBezTo>
                      <a:pt x="61" y="100"/>
                      <a:pt x="60" y="98"/>
                      <a:pt x="60" y="97"/>
                    </a:cubicBezTo>
                    <a:cubicBezTo>
                      <a:pt x="40" y="19"/>
                      <a:pt x="40" y="19"/>
                      <a:pt x="40" y="19"/>
                    </a:cubicBezTo>
                    <a:cubicBezTo>
                      <a:pt x="40" y="19"/>
                      <a:pt x="40" y="19"/>
                      <a:pt x="40" y="19"/>
                    </a:cubicBezTo>
                    <a:lnTo>
                      <a:pt x="21" y="6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12" name="Freeform 7"/>
              <p:cNvSpPr/>
              <p:nvPr/>
            </p:nvSpPr>
            <p:spPr bwMode="auto">
              <a:xfrm>
                <a:off x="5586416" y="403883"/>
                <a:ext cx="415440" cy="477875"/>
              </a:xfrm>
              <a:custGeom>
                <a:avLst/>
                <a:gdLst>
                  <a:gd name="T0" fmla="*/ 47 w 73"/>
                  <a:gd name="T1" fmla="*/ 13 h 84"/>
                  <a:gd name="T2" fmla="*/ 43 w 73"/>
                  <a:gd name="T3" fmla="*/ 1 h 84"/>
                  <a:gd name="T4" fmla="*/ 46 w 73"/>
                  <a:gd name="T5" fmla="*/ 1 h 84"/>
                  <a:gd name="T6" fmla="*/ 59 w 73"/>
                  <a:gd name="T7" fmla="*/ 11 h 84"/>
                  <a:gd name="T8" fmla="*/ 72 w 73"/>
                  <a:gd name="T9" fmla="*/ 20 h 84"/>
                  <a:gd name="T10" fmla="*/ 73 w 73"/>
                  <a:gd name="T11" fmla="*/ 22 h 84"/>
                  <a:gd name="T12" fmla="*/ 60 w 73"/>
                  <a:gd name="T13" fmla="*/ 23 h 84"/>
                  <a:gd name="T14" fmla="*/ 26 w 73"/>
                  <a:gd name="T15" fmla="*/ 71 h 84"/>
                  <a:gd name="T16" fmla="*/ 29 w 73"/>
                  <a:gd name="T17" fmla="*/ 83 h 84"/>
                  <a:gd name="T18" fmla="*/ 27 w 73"/>
                  <a:gd name="T19" fmla="*/ 83 h 84"/>
                  <a:gd name="T20" fmla="*/ 14 w 73"/>
                  <a:gd name="T21" fmla="*/ 73 h 84"/>
                  <a:gd name="T22" fmla="*/ 1 w 73"/>
                  <a:gd name="T23" fmla="*/ 64 h 84"/>
                  <a:gd name="T24" fmla="*/ 0 w 73"/>
                  <a:gd name="T25" fmla="*/ 62 h 84"/>
                  <a:gd name="T26" fmla="*/ 13 w 73"/>
                  <a:gd name="T27" fmla="*/ 61 h 84"/>
                  <a:gd name="T28" fmla="*/ 47 w 73"/>
                  <a:gd name="T29" fmla="*/ 13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3" h="84">
                    <a:moveTo>
                      <a:pt x="47" y="13"/>
                    </a:moveTo>
                    <a:cubicBezTo>
                      <a:pt x="52" y="6"/>
                      <a:pt x="42" y="4"/>
                      <a:pt x="43" y="1"/>
                    </a:cubicBezTo>
                    <a:cubicBezTo>
                      <a:pt x="44" y="1"/>
                      <a:pt x="45" y="0"/>
                      <a:pt x="46" y="1"/>
                    </a:cubicBezTo>
                    <a:cubicBezTo>
                      <a:pt x="51" y="5"/>
                      <a:pt x="55" y="8"/>
                      <a:pt x="59" y="11"/>
                    </a:cubicBezTo>
                    <a:cubicBezTo>
                      <a:pt x="62" y="13"/>
                      <a:pt x="67" y="16"/>
                      <a:pt x="72" y="20"/>
                    </a:cubicBezTo>
                    <a:cubicBezTo>
                      <a:pt x="73" y="21"/>
                      <a:pt x="73" y="22"/>
                      <a:pt x="73" y="22"/>
                    </a:cubicBezTo>
                    <a:cubicBezTo>
                      <a:pt x="71" y="25"/>
                      <a:pt x="65" y="16"/>
                      <a:pt x="60" y="23"/>
                    </a:cubicBezTo>
                    <a:cubicBezTo>
                      <a:pt x="26" y="71"/>
                      <a:pt x="26" y="71"/>
                      <a:pt x="26" y="71"/>
                    </a:cubicBezTo>
                    <a:cubicBezTo>
                      <a:pt x="21" y="78"/>
                      <a:pt x="31" y="80"/>
                      <a:pt x="29" y="83"/>
                    </a:cubicBezTo>
                    <a:cubicBezTo>
                      <a:pt x="29" y="83"/>
                      <a:pt x="28" y="84"/>
                      <a:pt x="27" y="83"/>
                    </a:cubicBezTo>
                    <a:cubicBezTo>
                      <a:pt x="22" y="79"/>
                      <a:pt x="18" y="76"/>
                      <a:pt x="14" y="73"/>
                    </a:cubicBezTo>
                    <a:cubicBezTo>
                      <a:pt x="10" y="71"/>
                      <a:pt x="6" y="68"/>
                      <a:pt x="1" y="64"/>
                    </a:cubicBezTo>
                    <a:cubicBezTo>
                      <a:pt x="0" y="63"/>
                      <a:pt x="0" y="62"/>
                      <a:pt x="0" y="62"/>
                    </a:cubicBezTo>
                    <a:cubicBezTo>
                      <a:pt x="2" y="59"/>
                      <a:pt x="7" y="68"/>
                      <a:pt x="13" y="61"/>
                    </a:cubicBezTo>
                    <a:lnTo>
                      <a:pt x="47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13" name="Freeform 8"/>
              <p:cNvSpPr/>
              <p:nvPr/>
            </p:nvSpPr>
            <p:spPr bwMode="auto">
              <a:xfrm>
                <a:off x="5927412" y="598395"/>
                <a:ext cx="489882" cy="465868"/>
              </a:xfrm>
              <a:custGeom>
                <a:avLst/>
                <a:gdLst>
                  <a:gd name="T0" fmla="*/ 58 w 86"/>
                  <a:gd name="T1" fmla="*/ 57 h 82"/>
                  <a:gd name="T2" fmla="*/ 65 w 86"/>
                  <a:gd name="T3" fmla="*/ 53 h 82"/>
                  <a:gd name="T4" fmla="*/ 66 w 86"/>
                  <a:gd name="T5" fmla="*/ 38 h 82"/>
                  <a:gd name="T6" fmla="*/ 68 w 86"/>
                  <a:gd name="T7" fmla="*/ 39 h 82"/>
                  <a:gd name="T8" fmla="*/ 76 w 86"/>
                  <a:gd name="T9" fmla="*/ 47 h 82"/>
                  <a:gd name="T10" fmla="*/ 84 w 86"/>
                  <a:gd name="T11" fmla="*/ 55 h 82"/>
                  <a:gd name="T12" fmla="*/ 85 w 86"/>
                  <a:gd name="T13" fmla="*/ 59 h 82"/>
                  <a:gd name="T14" fmla="*/ 64 w 86"/>
                  <a:gd name="T15" fmla="*/ 58 h 82"/>
                  <a:gd name="T16" fmla="*/ 4 w 86"/>
                  <a:gd name="T17" fmla="*/ 81 h 82"/>
                  <a:gd name="T18" fmla="*/ 0 w 86"/>
                  <a:gd name="T19" fmla="*/ 82 h 82"/>
                  <a:gd name="T20" fmla="*/ 1 w 86"/>
                  <a:gd name="T21" fmla="*/ 79 h 82"/>
                  <a:gd name="T22" fmla="*/ 30 w 86"/>
                  <a:gd name="T23" fmla="*/ 14 h 82"/>
                  <a:gd name="T24" fmla="*/ 30 w 86"/>
                  <a:gd name="T25" fmla="*/ 0 h 82"/>
                  <a:gd name="T26" fmla="*/ 32 w 86"/>
                  <a:gd name="T27" fmla="*/ 0 h 82"/>
                  <a:gd name="T28" fmla="*/ 42 w 86"/>
                  <a:gd name="T29" fmla="*/ 12 h 82"/>
                  <a:gd name="T30" fmla="*/ 53 w 86"/>
                  <a:gd name="T31" fmla="*/ 23 h 82"/>
                  <a:gd name="T32" fmla="*/ 54 w 86"/>
                  <a:gd name="T33" fmla="*/ 26 h 82"/>
                  <a:gd name="T34" fmla="*/ 45 w 86"/>
                  <a:gd name="T35" fmla="*/ 24 h 82"/>
                  <a:gd name="T36" fmla="*/ 42 w 86"/>
                  <a:gd name="T37" fmla="*/ 27 h 82"/>
                  <a:gd name="T38" fmla="*/ 22 w 86"/>
                  <a:gd name="T39" fmla="*/ 71 h 82"/>
                  <a:gd name="T40" fmla="*/ 58 w 86"/>
                  <a:gd name="T41" fmla="*/ 57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86" h="82">
                    <a:moveTo>
                      <a:pt x="58" y="57"/>
                    </a:moveTo>
                    <a:cubicBezTo>
                      <a:pt x="60" y="56"/>
                      <a:pt x="63" y="55"/>
                      <a:pt x="65" y="53"/>
                    </a:cubicBezTo>
                    <a:cubicBezTo>
                      <a:pt x="73" y="46"/>
                      <a:pt x="64" y="40"/>
                      <a:pt x="66" y="38"/>
                    </a:cubicBezTo>
                    <a:cubicBezTo>
                      <a:pt x="66" y="38"/>
                      <a:pt x="67" y="38"/>
                      <a:pt x="68" y="39"/>
                    </a:cubicBezTo>
                    <a:cubicBezTo>
                      <a:pt x="71" y="42"/>
                      <a:pt x="73" y="45"/>
                      <a:pt x="76" y="47"/>
                    </a:cubicBezTo>
                    <a:cubicBezTo>
                      <a:pt x="78" y="50"/>
                      <a:pt x="81" y="53"/>
                      <a:pt x="84" y="55"/>
                    </a:cubicBezTo>
                    <a:cubicBezTo>
                      <a:pt x="85" y="57"/>
                      <a:pt x="86" y="58"/>
                      <a:pt x="85" y="59"/>
                    </a:cubicBezTo>
                    <a:cubicBezTo>
                      <a:pt x="83" y="61"/>
                      <a:pt x="80" y="52"/>
                      <a:pt x="64" y="58"/>
                    </a:cubicBezTo>
                    <a:cubicBezTo>
                      <a:pt x="4" y="81"/>
                      <a:pt x="4" y="81"/>
                      <a:pt x="4" y="81"/>
                    </a:cubicBezTo>
                    <a:cubicBezTo>
                      <a:pt x="2" y="82"/>
                      <a:pt x="1" y="82"/>
                      <a:pt x="0" y="82"/>
                    </a:cubicBezTo>
                    <a:cubicBezTo>
                      <a:pt x="0" y="81"/>
                      <a:pt x="0" y="80"/>
                      <a:pt x="1" y="79"/>
                    </a:cubicBezTo>
                    <a:cubicBezTo>
                      <a:pt x="30" y="14"/>
                      <a:pt x="30" y="14"/>
                      <a:pt x="30" y="14"/>
                    </a:cubicBezTo>
                    <a:cubicBezTo>
                      <a:pt x="34" y="4"/>
                      <a:pt x="28" y="1"/>
                      <a:pt x="30" y="0"/>
                    </a:cubicBezTo>
                    <a:cubicBezTo>
                      <a:pt x="30" y="0"/>
                      <a:pt x="31" y="0"/>
                      <a:pt x="32" y="0"/>
                    </a:cubicBezTo>
                    <a:cubicBezTo>
                      <a:pt x="36" y="4"/>
                      <a:pt x="39" y="8"/>
                      <a:pt x="42" y="12"/>
                    </a:cubicBezTo>
                    <a:cubicBezTo>
                      <a:pt x="46" y="16"/>
                      <a:pt x="50" y="19"/>
                      <a:pt x="53" y="23"/>
                    </a:cubicBezTo>
                    <a:cubicBezTo>
                      <a:pt x="55" y="25"/>
                      <a:pt x="55" y="25"/>
                      <a:pt x="54" y="26"/>
                    </a:cubicBezTo>
                    <a:cubicBezTo>
                      <a:pt x="52" y="28"/>
                      <a:pt x="49" y="20"/>
                      <a:pt x="45" y="24"/>
                    </a:cubicBezTo>
                    <a:cubicBezTo>
                      <a:pt x="44" y="25"/>
                      <a:pt x="43" y="26"/>
                      <a:pt x="42" y="27"/>
                    </a:cubicBezTo>
                    <a:cubicBezTo>
                      <a:pt x="22" y="71"/>
                      <a:pt x="22" y="71"/>
                      <a:pt x="22" y="71"/>
                    </a:cubicBezTo>
                    <a:lnTo>
                      <a:pt x="58" y="5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14" name="Freeform 9"/>
              <p:cNvSpPr/>
              <p:nvPr/>
            </p:nvSpPr>
            <p:spPr bwMode="auto">
              <a:xfrm>
                <a:off x="6085903" y="989820"/>
                <a:ext cx="547515" cy="535507"/>
              </a:xfrm>
              <a:custGeom>
                <a:avLst/>
                <a:gdLst>
                  <a:gd name="T0" fmla="*/ 63 w 96"/>
                  <a:gd name="T1" fmla="*/ 13 h 94"/>
                  <a:gd name="T2" fmla="*/ 65 w 96"/>
                  <a:gd name="T3" fmla="*/ 1 h 94"/>
                  <a:gd name="T4" fmla="*/ 67 w 96"/>
                  <a:gd name="T5" fmla="*/ 2 h 94"/>
                  <a:gd name="T6" fmla="*/ 75 w 96"/>
                  <a:gd name="T7" fmla="*/ 16 h 94"/>
                  <a:gd name="T8" fmla="*/ 96 w 96"/>
                  <a:gd name="T9" fmla="*/ 51 h 94"/>
                  <a:gd name="T10" fmla="*/ 80 w 96"/>
                  <a:gd name="T11" fmla="*/ 67 h 94"/>
                  <a:gd name="T12" fmla="*/ 78 w 96"/>
                  <a:gd name="T13" fmla="*/ 69 h 94"/>
                  <a:gd name="T14" fmla="*/ 77 w 96"/>
                  <a:gd name="T15" fmla="*/ 68 h 94"/>
                  <a:gd name="T16" fmla="*/ 82 w 96"/>
                  <a:gd name="T17" fmla="*/ 59 h 94"/>
                  <a:gd name="T18" fmla="*/ 80 w 96"/>
                  <a:gd name="T19" fmla="*/ 29 h 94"/>
                  <a:gd name="T20" fmla="*/ 77 w 96"/>
                  <a:gd name="T21" fmla="*/ 24 h 94"/>
                  <a:gd name="T22" fmla="*/ 49 w 96"/>
                  <a:gd name="T23" fmla="*/ 41 h 94"/>
                  <a:gd name="T24" fmla="*/ 50 w 96"/>
                  <a:gd name="T25" fmla="*/ 43 h 94"/>
                  <a:gd name="T26" fmla="*/ 70 w 96"/>
                  <a:gd name="T27" fmla="*/ 48 h 94"/>
                  <a:gd name="T28" fmla="*/ 73 w 96"/>
                  <a:gd name="T29" fmla="*/ 48 h 94"/>
                  <a:gd name="T30" fmla="*/ 72 w 96"/>
                  <a:gd name="T31" fmla="*/ 50 h 94"/>
                  <a:gd name="T32" fmla="*/ 42 w 96"/>
                  <a:gd name="T33" fmla="*/ 68 h 94"/>
                  <a:gd name="T34" fmla="*/ 40 w 96"/>
                  <a:gd name="T35" fmla="*/ 67 h 94"/>
                  <a:gd name="T36" fmla="*/ 42 w 96"/>
                  <a:gd name="T37" fmla="*/ 65 h 94"/>
                  <a:gd name="T38" fmla="*/ 48 w 96"/>
                  <a:gd name="T39" fmla="*/ 45 h 94"/>
                  <a:gd name="T40" fmla="*/ 47 w 96"/>
                  <a:gd name="T41" fmla="*/ 42 h 94"/>
                  <a:gd name="T42" fmla="*/ 22 w 96"/>
                  <a:gd name="T43" fmla="*/ 57 h 94"/>
                  <a:gd name="T44" fmla="*/ 20 w 96"/>
                  <a:gd name="T45" fmla="*/ 69 h 94"/>
                  <a:gd name="T46" fmla="*/ 56 w 96"/>
                  <a:gd name="T47" fmla="*/ 83 h 94"/>
                  <a:gd name="T48" fmla="*/ 60 w 96"/>
                  <a:gd name="T49" fmla="*/ 83 h 94"/>
                  <a:gd name="T50" fmla="*/ 59 w 96"/>
                  <a:gd name="T51" fmla="*/ 85 h 94"/>
                  <a:gd name="T52" fmla="*/ 56 w 96"/>
                  <a:gd name="T53" fmla="*/ 86 h 94"/>
                  <a:gd name="T54" fmla="*/ 32 w 96"/>
                  <a:gd name="T55" fmla="*/ 94 h 94"/>
                  <a:gd name="T56" fmla="*/ 9 w 96"/>
                  <a:gd name="T57" fmla="*/ 55 h 94"/>
                  <a:gd name="T58" fmla="*/ 1 w 96"/>
                  <a:gd name="T59" fmla="*/ 42 h 94"/>
                  <a:gd name="T60" fmla="*/ 1 w 96"/>
                  <a:gd name="T61" fmla="*/ 39 h 94"/>
                  <a:gd name="T62" fmla="*/ 12 w 96"/>
                  <a:gd name="T63" fmla="*/ 43 h 94"/>
                  <a:gd name="T64" fmla="*/ 63 w 96"/>
                  <a:gd name="T65" fmla="*/ 13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96" h="94">
                    <a:moveTo>
                      <a:pt x="63" y="13"/>
                    </a:moveTo>
                    <a:cubicBezTo>
                      <a:pt x="71" y="9"/>
                      <a:pt x="62" y="3"/>
                      <a:pt x="65" y="1"/>
                    </a:cubicBezTo>
                    <a:cubicBezTo>
                      <a:pt x="65" y="0"/>
                      <a:pt x="66" y="1"/>
                      <a:pt x="67" y="2"/>
                    </a:cubicBezTo>
                    <a:cubicBezTo>
                      <a:pt x="70" y="7"/>
                      <a:pt x="72" y="12"/>
                      <a:pt x="75" y="16"/>
                    </a:cubicBezTo>
                    <a:cubicBezTo>
                      <a:pt x="82" y="28"/>
                      <a:pt x="89" y="39"/>
                      <a:pt x="96" y="51"/>
                    </a:cubicBezTo>
                    <a:cubicBezTo>
                      <a:pt x="80" y="67"/>
                      <a:pt x="80" y="67"/>
                      <a:pt x="80" y="67"/>
                    </a:cubicBezTo>
                    <a:cubicBezTo>
                      <a:pt x="79" y="68"/>
                      <a:pt x="78" y="68"/>
                      <a:pt x="78" y="69"/>
                    </a:cubicBezTo>
                    <a:cubicBezTo>
                      <a:pt x="78" y="69"/>
                      <a:pt x="77" y="69"/>
                      <a:pt x="77" y="68"/>
                    </a:cubicBezTo>
                    <a:cubicBezTo>
                      <a:pt x="76" y="67"/>
                      <a:pt x="78" y="66"/>
                      <a:pt x="82" y="59"/>
                    </a:cubicBezTo>
                    <a:cubicBezTo>
                      <a:pt x="87" y="50"/>
                      <a:pt x="87" y="41"/>
                      <a:pt x="80" y="29"/>
                    </a:cubicBezTo>
                    <a:cubicBezTo>
                      <a:pt x="77" y="24"/>
                      <a:pt x="77" y="24"/>
                      <a:pt x="77" y="24"/>
                    </a:cubicBezTo>
                    <a:cubicBezTo>
                      <a:pt x="49" y="41"/>
                      <a:pt x="49" y="41"/>
                      <a:pt x="49" y="41"/>
                    </a:cubicBezTo>
                    <a:cubicBezTo>
                      <a:pt x="50" y="43"/>
                      <a:pt x="50" y="43"/>
                      <a:pt x="50" y="43"/>
                    </a:cubicBezTo>
                    <a:cubicBezTo>
                      <a:pt x="54" y="50"/>
                      <a:pt x="62" y="52"/>
                      <a:pt x="70" y="48"/>
                    </a:cubicBezTo>
                    <a:cubicBezTo>
                      <a:pt x="72" y="47"/>
                      <a:pt x="72" y="47"/>
                      <a:pt x="73" y="48"/>
                    </a:cubicBezTo>
                    <a:cubicBezTo>
                      <a:pt x="73" y="49"/>
                      <a:pt x="73" y="49"/>
                      <a:pt x="72" y="50"/>
                    </a:cubicBezTo>
                    <a:cubicBezTo>
                      <a:pt x="42" y="68"/>
                      <a:pt x="42" y="68"/>
                      <a:pt x="42" y="68"/>
                    </a:cubicBezTo>
                    <a:cubicBezTo>
                      <a:pt x="42" y="68"/>
                      <a:pt x="41" y="68"/>
                      <a:pt x="40" y="67"/>
                    </a:cubicBezTo>
                    <a:cubicBezTo>
                      <a:pt x="40" y="67"/>
                      <a:pt x="40" y="66"/>
                      <a:pt x="42" y="65"/>
                    </a:cubicBezTo>
                    <a:cubicBezTo>
                      <a:pt x="50" y="59"/>
                      <a:pt x="52" y="51"/>
                      <a:pt x="48" y="45"/>
                    </a:cubicBezTo>
                    <a:cubicBezTo>
                      <a:pt x="47" y="42"/>
                      <a:pt x="47" y="42"/>
                      <a:pt x="47" y="42"/>
                    </a:cubicBezTo>
                    <a:cubicBezTo>
                      <a:pt x="22" y="57"/>
                      <a:pt x="22" y="57"/>
                      <a:pt x="22" y="57"/>
                    </a:cubicBezTo>
                    <a:cubicBezTo>
                      <a:pt x="18" y="59"/>
                      <a:pt x="16" y="63"/>
                      <a:pt x="20" y="69"/>
                    </a:cubicBezTo>
                    <a:cubicBezTo>
                      <a:pt x="29" y="84"/>
                      <a:pt x="45" y="86"/>
                      <a:pt x="56" y="83"/>
                    </a:cubicBezTo>
                    <a:cubicBezTo>
                      <a:pt x="58" y="82"/>
                      <a:pt x="59" y="82"/>
                      <a:pt x="60" y="83"/>
                    </a:cubicBezTo>
                    <a:cubicBezTo>
                      <a:pt x="60" y="84"/>
                      <a:pt x="60" y="84"/>
                      <a:pt x="59" y="85"/>
                    </a:cubicBezTo>
                    <a:cubicBezTo>
                      <a:pt x="59" y="85"/>
                      <a:pt x="57" y="85"/>
                      <a:pt x="56" y="86"/>
                    </a:cubicBezTo>
                    <a:cubicBezTo>
                      <a:pt x="32" y="94"/>
                      <a:pt x="32" y="94"/>
                      <a:pt x="32" y="94"/>
                    </a:cubicBezTo>
                    <a:cubicBezTo>
                      <a:pt x="25" y="82"/>
                      <a:pt x="17" y="69"/>
                      <a:pt x="9" y="55"/>
                    </a:cubicBezTo>
                    <a:cubicBezTo>
                      <a:pt x="7" y="51"/>
                      <a:pt x="4" y="47"/>
                      <a:pt x="1" y="42"/>
                    </a:cubicBezTo>
                    <a:cubicBezTo>
                      <a:pt x="0" y="40"/>
                      <a:pt x="0" y="39"/>
                      <a:pt x="1" y="39"/>
                    </a:cubicBezTo>
                    <a:cubicBezTo>
                      <a:pt x="3" y="37"/>
                      <a:pt x="5" y="48"/>
                      <a:pt x="12" y="43"/>
                    </a:cubicBezTo>
                    <a:lnTo>
                      <a:pt x="63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15" name="Freeform 10"/>
              <p:cNvSpPr>
                <a:spLocks noEditPoints="1"/>
              </p:cNvSpPr>
              <p:nvPr/>
            </p:nvSpPr>
            <p:spPr bwMode="auto">
              <a:xfrm>
                <a:off x="6314036" y="1496513"/>
                <a:ext cx="511495" cy="557120"/>
              </a:xfrm>
              <a:custGeom>
                <a:avLst/>
                <a:gdLst>
                  <a:gd name="T0" fmla="*/ 39 w 90"/>
                  <a:gd name="T1" fmla="*/ 52 h 98"/>
                  <a:gd name="T2" fmla="*/ 42 w 90"/>
                  <a:gd name="T3" fmla="*/ 36 h 98"/>
                  <a:gd name="T4" fmla="*/ 16 w 90"/>
                  <a:gd name="T5" fmla="*/ 44 h 98"/>
                  <a:gd name="T6" fmla="*/ 12 w 90"/>
                  <a:gd name="T7" fmla="*/ 55 h 98"/>
                  <a:gd name="T8" fmla="*/ 10 w 90"/>
                  <a:gd name="T9" fmla="*/ 54 h 98"/>
                  <a:gd name="T10" fmla="*/ 5 w 90"/>
                  <a:gd name="T11" fmla="*/ 38 h 98"/>
                  <a:gd name="T12" fmla="*/ 1 w 90"/>
                  <a:gd name="T13" fmla="*/ 23 h 98"/>
                  <a:gd name="T14" fmla="*/ 1 w 90"/>
                  <a:gd name="T15" fmla="*/ 21 h 98"/>
                  <a:gd name="T16" fmla="*/ 12 w 90"/>
                  <a:gd name="T17" fmla="*/ 28 h 98"/>
                  <a:gd name="T18" fmla="*/ 68 w 90"/>
                  <a:gd name="T19" fmla="*/ 11 h 98"/>
                  <a:gd name="T20" fmla="*/ 73 w 90"/>
                  <a:gd name="T21" fmla="*/ 0 h 98"/>
                  <a:gd name="T22" fmla="*/ 75 w 90"/>
                  <a:gd name="T23" fmla="*/ 2 h 98"/>
                  <a:gd name="T24" fmla="*/ 79 w 90"/>
                  <a:gd name="T25" fmla="*/ 17 h 98"/>
                  <a:gd name="T26" fmla="*/ 84 w 90"/>
                  <a:gd name="T27" fmla="*/ 34 h 98"/>
                  <a:gd name="T28" fmla="*/ 73 w 90"/>
                  <a:gd name="T29" fmla="*/ 68 h 98"/>
                  <a:gd name="T30" fmla="*/ 46 w 90"/>
                  <a:gd name="T31" fmla="*/ 46 h 98"/>
                  <a:gd name="T32" fmla="*/ 46 w 90"/>
                  <a:gd name="T33" fmla="*/ 46 h 98"/>
                  <a:gd name="T34" fmla="*/ 41 w 90"/>
                  <a:gd name="T35" fmla="*/ 71 h 98"/>
                  <a:gd name="T36" fmla="*/ 28 w 90"/>
                  <a:gd name="T37" fmla="*/ 84 h 98"/>
                  <a:gd name="T38" fmla="*/ 24 w 90"/>
                  <a:gd name="T39" fmla="*/ 98 h 98"/>
                  <a:gd name="T40" fmla="*/ 22 w 90"/>
                  <a:gd name="T41" fmla="*/ 97 h 98"/>
                  <a:gd name="T42" fmla="*/ 19 w 90"/>
                  <a:gd name="T43" fmla="*/ 85 h 98"/>
                  <a:gd name="T44" fmla="*/ 16 w 90"/>
                  <a:gd name="T45" fmla="*/ 73 h 98"/>
                  <a:gd name="T46" fmla="*/ 39 w 90"/>
                  <a:gd name="T47" fmla="*/ 52 h 98"/>
                  <a:gd name="T48" fmla="*/ 44 w 90"/>
                  <a:gd name="T49" fmla="*/ 35 h 98"/>
                  <a:gd name="T50" fmla="*/ 46 w 90"/>
                  <a:gd name="T51" fmla="*/ 40 h 98"/>
                  <a:gd name="T52" fmla="*/ 68 w 90"/>
                  <a:gd name="T53" fmla="*/ 52 h 98"/>
                  <a:gd name="T54" fmla="*/ 81 w 90"/>
                  <a:gd name="T55" fmla="*/ 32 h 98"/>
                  <a:gd name="T56" fmla="*/ 79 w 90"/>
                  <a:gd name="T57" fmla="*/ 25 h 98"/>
                  <a:gd name="T58" fmla="*/ 44 w 90"/>
                  <a:gd name="T59" fmla="*/ 35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90" h="98">
                    <a:moveTo>
                      <a:pt x="39" y="52"/>
                    </a:moveTo>
                    <a:cubicBezTo>
                      <a:pt x="44" y="48"/>
                      <a:pt x="44" y="42"/>
                      <a:pt x="42" y="36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8" y="46"/>
                      <a:pt x="15" y="54"/>
                      <a:pt x="12" y="55"/>
                    </a:cubicBezTo>
                    <a:cubicBezTo>
                      <a:pt x="11" y="56"/>
                      <a:pt x="10" y="55"/>
                      <a:pt x="10" y="54"/>
                    </a:cubicBezTo>
                    <a:cubicBezTo>
                      <a:pt x="8" y="48"/>
                      <a:pt x="7" y="43"/>
                      <a:pt x="5" y="38"/>
                    </a:cubicBezTo>
                    <a:cubicBezTo>
                      <a:pt x="4" y="34"/>
                      <a:pt x="2" y="29"/>
                      <a:pt x="1" y="23"/>
                    </a:cubicBezTo>
                    <a:cubicBezTo>
                      <a:pt x="0" y="22"/>
                      <a:pt x="1" y="21"/>
                      <a:pt x="1" y="21"/>
                    </a:cubicBezTo>
                    <a:cubicBezTo>
                      <a:pt x="4" y="20"/>
                      <a:pt x="3" y="30"/>
                      <a:pt x="12" y="28"/>
                    </a:cubicBezTo>
                    <a:cubicBezTo>
                      <a:pt x="68" y="11"/>
                      <a:pt x="68" y="11"/>
                      <a:pt x="68" y="11"/>
                    </a:cubicBezTo>
                    <a:cubicBezTo>
                      <a:pt x="77" y="9"/>
                      <a:pt x="70" y="1"/>
                      <a:pt x="73" y="0"/>
                    </a:cubicBezTo>
                    <a:cubicBezTo>
                      <a:pt x="74" y="0"/>
                      <a:pt x="74" y="0"/>
                      <a:pt x="75" y="2"/>
                    </a:cubicBezTo>
                    <a:cubicBezTo>
                      <a:pt x="76" y="7"/>
                      <a:pt x="78" y="12"/>
                      <a:pt x="79" y="17"/>
                    </a:cubicBezTo>
                    <a:cubicBezTo>
                      <a:pt x="81" y="22"/>
                      <a:pt x="82" y="27"/>
                      <a:pt x="84" y="34"/>
                    </a:cubicBezTo>
                    <a:cubicBezTo>
                      <a:pt x="90" y="52"/>
                      <a:pt x="84" y="65"/>
                      <a:pt x="73" y="68"/>
                    </a:cubicBezTo>
                    <a:cubicBezTo>
                      <a:pt x="64" y="71"/>
                      <a:pt x="55" y="67"/>
                      <a:pt x="46" y="46"/>
                    </a:cubicBezTo>
                    <a:cubicBezTo>
                      <a:pt x="46" y="46"/>
                      <a:pt x="46" y="46"/>
                      <a:pt x="46" y="46"/>
                    </a:cubicBezTo>
                    <a:cubicBezTo>
                      <a:pt x="49" y="57"/>
                      <a:pt x="48" y="64"/>
                      <a:pt x="41" y="71"/>
                    </a:cubicBezTo>
                    <a:cubicBezTo>
                      <a:pt x="28" y="84"/>
                      <a:pt x="28" y="84"/>
                      <a:pt x="28" y="84"/>
                    </a:cubicBezTo>
                    <a:cubicBezTo>
                      <a:pt x="21" y="91"/>
                      <a:pt x="27" y="97"/>
                      <a:pt x="24" y="98"/>
                    </a:cubicBezTo>
                    <a:cubicBezTo>
                      <a:pt x="23" y="98"/>
                      <a:pt x="23" y="98"/>
                      <a:pt x="22" y="97"/>
                    </a:cubicBezTo>
                    <a:cubicBezTo>
                      <a:pt x="21" y="93"/>
                      <a:pt x="20" y="89"/>
                      <a:pt x="19" y="85"/>
                    </a:cubicBezTo>
                    <a:cubicBezTo>
                      <a:pt x="16" y="73"/>
                      <a:pt x="16" y="73"/>
                      <a:pt x="16" y="73"/>
                    </a:cubicBezTo>
                    <a:lnTo>
                      <a:pt x="39" y="52"/>
                    </a:lnTo>
                    <a:close/>
                    <a:moveTo>
                      <a:pt x="44" y="35"/>
                    </a:moveTo>
                    <a:cubicBezTo>
                      <a:pt x="46" y="40"/>
                      <a:pt x="46" y="40"/>
                      <a:pt x="46" y="40"/>
                    </a:cubicBezTo>
                    <a:cubicBezTo>
                      <a:pt x="49" y="52"/>
                      <a:pt x="57" y="56"/>
                      <a:pt x="68" y="52"/>
                    </a:cubicBezTo>
                    <a:cubicBezTo>
                      <a:pt x="80" y="49"/>
                      <a:pt x="84" y="41"/>
                      <a:pt x="81" y="32"/>
                    </a:cubicBezTo>
                    <a:cubicBezTo>
                      <a:pt x="79" y="25"/>
                      <a:pt x="79" y="25"/>
                      <a:pt x="79" y="25"/>
                    </a:cubicBezTo>
                    <a:lnTo>
                      <a:pt x="44" y="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16" name="Freeform 11"/>
              <p:cNvSpPr/>
              <p:nvPr/>
            </p:nvSpPr>
            <p:spPr bwMode="auto">
              <a:xfrm>
                <a:off x="6434105" y="2077647"/>
                <a:ext cx="461065" cy="340996"/>
              </a:xfrm>
              <a:custGeom>
                <a:avLst/>
                <a:gdLst>
                  <a:gd name="T0" fmla="*/ 33 w 81"/>
                  <a:gd name="T1" fmla="*/ 1 h 60"/>
                  <a:gd name="T2" fmla="*/ 35 w 81"/>
                  <a:gd name="T3" fmla="*/ 3 h 60"/>
                  <a:gd name="T4" fmla="*/ 31 w 81"/>
                  <a:gd name="T5" fmla="*/ 4 h 60"/>
                  <a:gd name="T6" fmla="*/ 3 w 81"/>
                  <a:gd name="T7" fmla="*/ 31 h 60"/>
                  <a:gd name="T8" fmla="*/ 19 w 81"/>
                  <a:gd name="T9" fmla="*/ 48 h 60"/>
                  <a:gd name="T10" fmla="*/ 56 w 81"/>
                  <a:gd name="T11" fmla="*/ 1 h 60"/>
                  <a:gd name="T12" fmla="*/ 81 w 81"/>
                  <a:gd name="T13" fmla="*/ 25 h 60"/>
                  <a:gd name="T14" fmla="*/ 77 w 81"/>
                  <a:gd name="T15" fmla="*/ 45 h 60"/>
                  <a:gd name="T16" fmla="*/ 81 w 81"/>
                  <a:gd name="T17" fmla="*/ 49 h 60"/>
                  <a:gd name="T18" fmla="*/ 79 w 81"/>
                  <a:gd name="T19" fmla="*/ 50 h 60"/>
                  <a:gd name="T20" fmla="*/ 57 w 81"/>
                  <a:gd name="T21" fmla="*/ 53 h 60"/>
                  <a:gd name="T22" fmla="*/ 54 w 81"/>
                  <a:gd name="T23" fmla="*/ 54 h 60"/>
                  <a:gd name="T24" fmla="*/ 52 w 81"/>
                  <a:gd name="T25" fmla="*/ 53 h 60"/>
                  <a:gd name="T26" fmla="*/ 59 w 81"/>
                  <a:gd name="T27" fmla="*/ 50 h 60"/>
                  <a:gd name="T28" fmla="*/ 78 w 81"/>
                  <a:gd name="T29" fmla="*/ 25 h 60"/>
                  <a:gd name="T30" fmla="*/ 65 w 81"/>
                  <a:gd name="T31" fmla="*/ 11 h 60"/>
                  <a:gd name="T32" fmla="*/ 29 w 81"/>
                  <a:gd name="T33" fmla="*/ 59 h 60"/>
                  <a:gd name="T34" fmla="*/ 1 w 81"/>
                  <a:gd name="T35" fmla="*/ 31 h 60"/>
                  <a:gd name="T36" fmla="*/ 5 w 81"/>
                  <a:gd name="T37" fmla="*/ 9 h 60"/>
                  <a:gd name="T38" fmla="*/ 1 w 81"/>
                  <a:gd name="T39" fmla="*/ 4 h 60"/>
                  <a:gd name="T40" fmla="*/ 2 w 81"/>
                  <a:gd name="T41" fmla="*/ 3 h 60"/>
                  <a:gd name="T42" fmla="*/ 33 w 81"/>
                  <a:gd name="T43" fmla="*/ 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" h="60">
                    <a:moveTo>
                      <a:pt x="33" y="1"/>
                    </a:moveTo>
                    <a:cubicBezTo>
                      <a:pt x="34" y="1"/>
                      <a:pt x="35" y="2"/>
                      <a:pt x="35" y="3"/>
                    </a:cubicBezTo>
                    <a:cubicBezTo>
                      <a:pt x="35" y="4"/>
                      <a:pt x="33" y="4"/>
                      <a:pt x="31" y="4"/>
                    </a:cubicBezTo>
                    <a:cubicBezTo>
                      <a:pt x="17" y="8"/>
                      <a:pt x="3" y="14"/>
                      <a:pt x="3" y="31"/>
                    </a:cubicBezTo>
                    <a:cubicBezTo>
                      <a:pt x="4" y="42"/>
                      <a:pt x="10" y="48"/>
                      <a:pt x="19" y="48"/>
                    </a:cubicBezTo>
                    <a:cubicBezTo>
                      <a:pt x="42" y="47"/>
                      <a:pt x="28" y="2"/>
                      <a:pt x="56" y="1"/>
                    </a:cubicBezTo>
                    <a:cubicBezTo>
                      <a:pt x="70" y="0"/>
                      <a:pt x="80" y="11"/>
                      <a:pt x="81" y="25"/>
                    </a:cubicBezTo>
                    <a:cubicBezTo>
                      <a:pt x="81" y="36"/>
                      <a:pt x="77" y="42"/>
                      <a:pt x="77" y="45"/>
                    </a:cubicBezTo>
                    <a:cubicBezTo>
                      <a:pt x="77" y="49"/>
                      <a:pt x="80" y="47"/>
                      <a:pt x="81" y="49"/>
                    </a:cubicBezTo>
                    <a:cubicBezTo>
                      <a:pt x="81" y="50"/>
                      <a:pt x="80" y="50"/>
                      <a:pt x="79" y="50"/>
                    </a:cubicBezTo>
                    <a:cubicBezTo>
                      <a:pt x="57" y="53"/>
                      <a:pt x="57" y="53"/>
                      <a:pt x="57" y="53"/>
                    </a:cubicBezTo>
                    <a:cubicBezTo>
                      <a:pt x="55" y="54"/>
                      <a:pt x="54" y="54"/>
                      <a:pt x="54" y="54"/>
                    </a:cubicBezTo>
                    <a:cubicBezTo>
                      <a:pt x="53" y="54"/>
                      <a:pt x="52" y="54"/>
                      <a:pt x="52" y="53"/>
                    </a:cubicBezTo>
                    <a:cubicBezTo>
                      <a:pt x="52" y="52"/>
                      <a:pt x="55" y="52"/>
                      <a:pt x="59" y="50"/>
                    </a:cubicBezTo>
                    <a:cubicBezTo>
                      <a:pt x="72" y="44"/>
                      <a:pt x="79" y="38"/>
                      <a:pt x="78" y="25"/>
                    </a:cubicBezTo>
                    <a:cubicBezTo>
                      <a:pt x="78" y="17"/>
                      <a:pt x="74" y="11"/>
                      <a:pt x="65" y="11"/>
                    </a:cubicBezTo>
                    <a:cubicBezTo>
                      <a:pt x="47" y="12"/>
                      <a:pt x="59" y="58"/>
                      <a:pt x="29" y="59"/>
                    </a:cubicBezTo>
                    <a:cubicBezTo>
                      <a:pt x="14" y="60"/>
                      <a:pt x="1" y="48"/>
                      <a:pt x="1" y="31"/>
                    </a:cubicBezTo>
                    <a:cubicBezTo>
                      <a:pt x="0" y="19"/>
                      <a:pt x="5" y="14"/>
                      <a:pt x="5" y="9"/>
                    </a:cubicBezTo>
                    <a:cubicBezTo>
                      <a:pt x="5" y="5"/>
                      <a:pt x="1" y="6"/>
                      <a:pt x="1" y="4"/>
                    </a:cubicBezTo>
                    <a:cubicBezTo>
                      <a:pt x="1" y="3"/>
                      <a:pt x="1" y="3"/>
                      <a:pt x="2" y="3"/>
                    </a:cubicBezTo>
                    <a:lnTo>
                      <a:pt x="3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17" name="Freeform 12"/>
              <p:cNvSpPr/>
              <p:nvPr/>
            </p:nvSpPr>
            <p:spPr bwMode="auto">
              <a:xfrm>
                <a:off x="6417294" y="2493085"/>
                <a:ext cx="461065" cy="261750"/>
              </a:xfrm>
              <a:custGeom>
                <a:avLst/>
                <a:gdLst>
                  <a:gd name="T0" fmla="*/ 71 w 81"/>
                  <a:gd name="T1" fmla="*/ 19 h 46"/>
                  <a:gd name="T2" fmla="*/ 80 w 81"/>
                  <a:gd name="T3" fmla="*/ 10 h 46"/>
                  <a:gd name="T4" fmla="*/ 81 w 81"/>
                  <a:gd name="T5" fmla="*/ 13 h 46"/>
                  <a:gd name="T6" fmla="*/ 79 w 81"/>
                  <a:gd name="T7" fmla="*/ 28 h 46"/>
                  <a:gd name="T8" fmla="*/ 77 w 81"/>
                  <a:gd name="T9" fmla="*/ 44 h 46"/>
                  <a:gd name="T10" fmla="*/ 75 w 81"/>
                  <a:gd name="T11" fmla="*/ 46 h 46"/>
                  <a:gd name="T12" fmla="*/ 69 w 81"/>
                  <a:gd name="T13" fmla="*/ 35 h 46"/>
                  <a:gd name="T14" fmla="*/ 11 w 81"/>
                  <a:gd name="T15" fmla="*/ 27 h 46"/>
                  <a:gd name="T16" fmla="*/ 2 w 81"/>
                  <a:gd name="T17" fmla="*/ 36 h 46"/>
                  <a:gd name="T18" fmla="*/ 1 w 81"/>
                  <a:gd name="T19" fmla="*/ 34 h 46"/>
                  <a:gd name="T20" fmla="*/ 3 w 81"/>
                  <a:gd name="T21" fmla="*/ 18 h 46"/>
                  <a:gd name="T22" fmla="*/ 5 w 81"/>
                  <a:gd name="T23" fmla="*/ 2 h 46"/>
                  <a:gd name="T24" fmla="*/ 7 w 81"/>
                  <a:gd name="T25" fmla="*/ 0 h 46"/>
                  <a:gd name="T26" fmla="*/ 13 w 81"/>
                  <a:gd name="T27" fmla="*/ 11 h 46"/>
                  <a:gd name="T28" fmla="*/ 71 w 81"/>
                  <a:gd name="T29" fmla="*/ 19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1" h="46">
                    <a:moveTo>
                      <a:pt x="71" y="19"/>
                    </a:moveTo>
                    <a:cubicBezTo>
                      <a:pt x="80" y="20"/>
                      <a:pt x="77" y="10"/>
                      <a:pt x="80" y="10"/>
                    </a:cubicBezTo>
                    <a:cubicBezTo>
                      <a:pt x="81" y="10"/>
                      <a:pt x="81" y="11"/>
                      <a:pt x="81" y="13"/>
                    </a:cubicBezTo>
                    <a:cubicBezTo>
                      <a:pt x="80" y="18"/>
                      <a:pt x="80" y="24"/>
                      <a:pt x="79" y="28"/>
                    </a:cubicBezTo>
                    <a:cubicBezTo>
                      <a:pt x="78" y="33"/>
                      <a:pt x="78" y="38"/>
                      <a:pt x="77" y="44"/>
                    </a:cubicBezTo>
                    <a:cubicBezTo>
                      <a:pt x="77" y="46"/>
                      <a:pt x="76" y="46"/>
                      <a:pt x="75" y="46"/>
                    </a:cubicBezTo>
                    <a:cubicBezTo>
                      <a:pt x="72" y="45"/>
                      <a:pt x="78" y="36"/>
                      <a:pt x="69" y="35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2" y="26"/>
                      <a:pt x="5" y="36"/>
                      <a:pt x="2" y="36"/>
                    </a:cubicBezTo>
                    <a:cubicBezTo>
                      <a:pt x="1" y="36"/>
                      <a:pt x="0" y="35"/>
                      <a:pt x="1" y="34"/>
                    </a:cubicBezTo>
                    <a:cubicBezTo>
                      <a:pt x="1" y="28"/>
                      <a:pt x="2" y="22"/>
                      <a:pt x="3" y="18"/>
                    </a:cubicBezTo>
                    <a:cubicBezTo>
                      <a:pt x="3" y="14"/>
                      <a:pt x="4" y="8"/>
                      <a:pt x="5" y="2"/>
                    </a:cubicBezTo>
                    <a:cubicBezTo>
                      <a:pt x="5" y="1"/>
                      <a:pt x="6" y="0"/>
                      <a:pt x="7" y="0"/>
                    </a:cubicBezTo>
                    <a:cubicBezTo>
                      <a:pt x="10" y="1"/>
                      <a:pt x="4" y="10"/>
                      <a:pt x="13" y="11"/>
                    </a:cubicBezTo>
                    <a:lnTo>
                      <a:pt x="71" y="1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18" name="Freeform 13"/>
              <p:cNvSpPr/>
              <p:nvPr/>
            </p:nvSpPr>
            <p:spPr bwMode="auto">
              <a:xfrm>
                <a:off x="6318838" y="2834081"/>
                <a:ext cx="513896" cy="415438"/>
              </a:xfrm>
              <a:custGeom>
                <a:avLst/>
                <a:gdLst>
                  <a:gd name="T0" fmla="*/ 79 w 90"/>
                  <a:gd name="T1" fmla="*/ 34 h 73"/>
                  <a:gd name="T2" fmla="*/ 65 w 90"/>
                  <a:gd name="T3" fmla="*/ 2 h 73"/>
                  <a:gd name="T4" fmla="*/ 66 w 90"/>
                  <a:gd name="T5" fmla="*/ 2 h 73"/>
                  <a:gd name="T6" fmla="*/ 70 w 90"/>
                  <a:gd name="T7" fmla="*/ 3 h 73"/>
                  <a:gd name="T8" fmla="*/ 88 w 90"/>
                  <a:gd name="T9" fmla="*/ 14 h 73"/>
                  <a:gd name="T10" fmla="*/ 90 w 90"/>
                  <a:gd name="T11" fmla="*/ 15 h 73"/>
                  <a:gd name="T12" fmla="*/ 88 w 90"/>
                  <a:gd name="T13" fmla="*/ 17 h 73"/>
                  <a:gd name="T14" fmla="*/ 87 w 90"/>
                  <a:gd name="T15" fmla="*/ 19 h 73"/>
                  <a:gd name="T16" fmla="*/ 70 w 90"/>
                  <a:gd name="T17" fmla="*/ 67 h 73"/>
                  <a:gd name="T18" fmla="*/ 70 w 90"/>
                  <a:gd name="T19" fmla="*/ 70 h 73"/>
                  <a:gd name="T20" fmla="*/ 71 w 90"/>
                  <a:gd name="T21" fmla="*/ 72 h 73"/>
                  <a:gd name="T22" fmla="*/ 68 w 90"/>
                  <a:gd name="T23" fmla="*/ 73 h 73"/>
                  <a:gd name="T24" fmla="*/ 47 w 90"/>
                  <a:gd name="T25" fmla="*/ 69 h 73"/>
                  <a:gd name="T26" fmla="*/ 43 w 90"/>
                  <a:gd name="T27" fmla="*/ 69 h 73"/>
                  <a:gd name="T28" fmla="*/ 43 w 90"/>
                  <a:gd name="T29" fmla="*/ 67 h 73"/>
                  <a:gd name="T30" fmla="*/ 73 w 90"/>
                  <a:gd name="T31" fmla="*/ 50 h 73"/>
                  <a:gd name="T32" fmla="*/ 14 w 90"/>
                  <a:gd name="T33" fmla="*/ 30 h 73"/>
                  <a:gd name="T34" fmla="*/ 3 w 90"/>
                  <a:gd name="T35" fmla="*/ 36 h 73"/>
                  <a:gd name="T36" fmla="*/ 1 w 90"/>
                  <a:gd name="T37" fmla="*/ 37 h 73"/>
                  <a:gd name="T38" fmla="*/ 0 w 90"/>
                  <a:gd name="T39" fmla="*/ 35 h 73"/>
                  <a:gd name="T40" fmla="*/ 6 w 90"/>
                  <a:gd name="T41" fmla="*/ 19 h 73"/>
                  <a:gd name="T42" fmla="*/ 11 w 90"/>
                  <a:gd name="T43" fmla="*/ 2 h 73"/>
                  <a:gd name="T44" fmla="*/ 13 w 90"/>
                  <a:gd name="T45" fmla="*/ 1 h 73"/>
                  <a:gd name="T46" fmla="*/ 14 w 90"/>
                  <a:gd name="T47" fmla="*/ 3 h 73"/>
                  <a:gd name="T48" fmla="*/ 19 w 90"/>
                  <a:gd name="T49" fmla="*/ 14 h 73"/>
                  <a:gd name="T50" fmla="*/ 79 w 90"/>
                  <a:gd name="T51" fmla="*/ 34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90" h="73">
                    <a:moveTo>
                      <a:pt x="79" y="34"/>
                    </a:moveTo>
                    <a:cubicBezTo>
                      <a:pt x="80" y="11"/>
                      <a:pt x="64" y="5"/>
                      <a:pt x="65" y="2"/>
                    </a:cubicBezTo>
                    <a:cubicBezTo>
                      <a:pt x="65" y="2"/>
                      <a:pt x="65" y="1"/>
                      <a:pt x="66" y="2"/>
                    </a:cubicBezTo>
                    <a:cubicBezTo>
                      <a:pt x="66" y="2"/>
                      <a:pt x="68" y="2"/>
                      <a:pt x="70" y="3"/>
                    </a:cubicBezTo>
                    <a:cubicBezTo>
                      <a:pt x="88" y="14"/>
                      <a:pt x="88" y="14"/>
                      <a:pt x="88" y="14"/>
                    </a:cubicBezTo>
                    <a:cubicBezTo>
                      <a:pt x="90" y="14"/>
                      <a:pt x="90" y="15"/>
                      <a:pt x="90" y="15"/>
                    </a:cubicBezTo>
                    <a:cubicBezTo>
                      <a:pt x="90" y="16"/>
                      <a:pt x="89" y="16"/>
                      <a:pt x="88" y="17"/>
                    </a:cubicBezTo>
                    <a:cubicBezTo>
                      <a:pt x="88" y="17"/>
                      <a:pt x="87" y="18"/>
                      <a:pt x="87" y="19"/>
                    </a:cubicBezTo>
                    <a:cubicBezTo>
                      <a:pt x="70" y="67"/>
                      <a:pt x="70" y="67"/>
                      <a:pt x="70" y="67"/>
                    </a:cubicBezTo>
                    <a:cubicBezTo>
                      <a:pt x="70" y="69"/>
                      <a:pt x="70" y="70"/>
                      <a:pt x="70" y="70"/>
                    </a:cubicBezTo>
                    <a:cubicBezTo>
                      <a:pt x="71" y="71"/>
                      <a:pt x="71" y="71"/>
                      <a:pt x="71" y="72"/>
                    </a:cubicBezTo>
                    <a:cubicBezTo>
                      <a:pt x="70" y="73"/>
                      <a:pt x="70" y="73"/>
                      <a:pt x="68" y="73"/>
                    </a:cubicBezTo>
                    <a:cubicBezTo>
                      <a:pt x="47" y="69"/>
                      <a:pt x="47" y="69"/>
                      <a:pt x="47" y="69"/>
                    </a:cubicBezTo>
                    <a:cubicBezTo>
                      <a:pt x="46" y="69"/>
                      <a:pt x="44" y="69"/>
                      <a:pt x="43" y="69"/>
                    </a:cubicBezTo>
                    <a:cubicBezTo>
                      <a:pt x="43" y="68"/>
                      <a:pt x="42" y="68"/>
                      <a:pt x="43" y="67"/>
                    </a:cubicBezTo>
                    <a:cubicBezTo>
                      <a:pt x="43" y="65"/>
                      <a:pt x="60" y="69"/>
                      <a:pt x="73" y="50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7" y="28"/>
                      <a:pt x="4" y="31"/>
                      <a:pt x="3" y="36"/>
                    </a:cubicBezTo>
                    <a:cubicBezTo>
                      <a:pt x="2" y="37"/>
                      <a:pt x="2" y="38"/>
                      <a:pt x="1" y="37"/>
                    </a:cubicBezTo>
                    <a:cubicBezTo>
                      <a:pt x="0" y="37"/>
                      <a:pt x="0" y="36"/>
                      <a:pt x="0" y="35"/>
                    </a:cubicBezTo>
                    <a:cubicBezTo>
                      <a:pt x="2" y="29"/>
                      <a:pt x="4" y="24"/>
                      <a:pt x="6" y="19"/>
                    </a:cubicBezTo>
                    <a:cubicBezTo>
                      <a:pt x="7" y="14"/>
                      <a:pt x="9" y="8"/>
                      <a:pt x="11" y="2"/>
                    </a:cubicBezTo>
                    <a:cubicBezTo>
                      <a:pt x="12" y="1"/>
                      <a:pt x="12" y="0"/>
                      <a:pt x="13" y="1"/>
                    </a:cubicBezTo>
                    <a:cubicBezTo>
                      <a:pt x="14" y="1"/>
                      <a:pt x="14" y="2"/>
                      <a:pt x="14" y="3"/>
                    </a:cubicBezTo>
                    <a:cubicBezTo>
                      <a:pt x="12" y="8"/>
                      <a:pt x="12" y="12"/>
                      <a:pt x="19" y="14"/>
                    </a:cubicBezTo>
                    <a:lnTo>
                      <a:pt x="79" y="3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19" name="Freeform 14"/>
              <p:cNvSpPr/>
              <p:nvPr/>
            </p:nvSpPr>
            <p:spPr bwMode="auto">
              <a:xfrm>
                <a:off x="6114720" y="3244718"/>
                <a:ext cx="535509" cy="499487"/>
              </a:xfrm>
              <a:custGeom>
                <a:avLst/>
                <a:gdLst>
                  <a:gd name="T0" fmla="*/ 38 w 94"/>
                  <a:gd name="T1" fmla="*/ 42 h 88"/>
                  <a:gd name="T2" fmla="*/ 47 w 94"/>
                  <a:gd name="T3" fmla="*/ 57 h 88"/>
                  <a:gd name="T4" fmla="*/ 56 w 94"/>
                  <a:gd name="T5" fmla="*/ 68 h 88"/>
                  <a:gd name="T6" fmla="*/ 67 w 94"/>
                  <a:gd name="T7" fmla="*/ 66 h 88"/>
                  <a:gd name="T8" fmla="*/ 67 w 94"/>
                  <a:gd name="T9" fmla="*/ 69 h 88"/>
                  <a:gd name="T10" fmla="*/ 61 w 94"/>
                  <a:gd name="T11" fmla="*/ 78 h 88"/>
                  <a:gd name="T12" fmla="*/ 55 w 94"/>
                  <a:gd name="T13" fmla="*/ 87 h 88"/>
                  <a:gd name="T14" fmla="*/ 54 w 94"/>
                  <a:gd name="T15" fmla="*/ 88 h 88"/>
                  <a:gd name="T16" fmla="*/ 48 w 94"/>
                  <a:gd name="T17" fmla="*/ 65 h 88"/>
                  <a:gd name="T18" fmla="*/ 36 w 94"/>
                  <a:gd name="T19" fmla="*/ 42 h 88"/>
                  <a:gd name="T20" fmla="*/ 13 w 94"/>
                  <a:gd name="T21" fmla="*/ 27 h 88"/>
                  <a:gd name="T22" fmla="*/ 1 w 94"/>
                  <a:gd name="T23" fmla="*/ 31 h 88"/>
                  <a:gd name="T24" fmla="*/ 1 w 94"/>
                  <a:gd name="T25" fmla="*/ 29 h 88"/>
                  <a:gd name="T26" fmla="*/ 9 w 94"/>
                  <a:gd name="T27" fmla="*/ 16 h 88"/>
                  <a:gd name="T28" fmla="*/ 17 w 94"/>
                  <a:gd name="T29" fmla="*/ 2 h 88"/>
                  <a:gd name="T30" fmla="*/ 20 w 94"/>
                  <a:gd name="T31" fmla="*/ 1 h 88"/>
                  <a:gd name="T32" fmla="*/ 21 w 94"/>
                  <a:gd name="T33" fmla="*/ 13 h 88"/>
                  <a:gd name="T34" fmla="*/ 43 w 94"/>
                  <a:gd name="T35" fmla="*/ 27 h 88"/>
                  <a:gd name="T36" fmla="*/ 80 w 94"/>
                  <a:gd name="T37" fmla="*/ 29 h 88"/>
                  <a:gd name="T38" fmla="*/ 93 w 94"/>
                  <a:gd name="T39" fmla="*/ 24 h 88"/>
                  <a:gd name="T40" fmla="*/ 93 w 94"/>
                  <a:gd name="T41" fmla="*/ 26 h 88"/>
                  <a:gd name="T42" fmla="*/ 85 w 94"/>
                  <a:gd name="T43" fmla="*/ 39 h 88"/>
                  <a:gd name="T44" fmla="*/ 77 w 94"/>
                  <a:gd name="T45" fmla="*/ 53 h 88"/>
                  <a:gd name="T46" fmla="*/ 74 w 94"/>
                  <a:gd name="T47" fmla="*/ 54 h 88"/>
                  <a:gd name="T48" fmla="*/ 73 w 94"/>
                  <a:gd name="T49" fmla="*/ 45 h 88"/>
                  <a:gd name="T50" fmla="*/ 67 w 94"/>
                  <a:gd name="T51" fmla="*/ 44 h 88"/>
                  <a:gd name="T52" fmla="*/ 38 w 94"/>
                  <a:gd name="T53" fmla="*/ 42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4" h="88">
                    <a:moveTo>
                      <a:pt x="38" y="42"/>
                    </a:moveTo>
                    <a:cubicBezTo>
                      <a:pt x="47" y="57"/>
                      <a:pt x="47" y="57"/>
                      <a:pt x="47" y="57"/>
                    </a:cubicBezTo>
                    <a:cubicBezTo>
                      <a:pt x="50" y="63"/>
                      <a:pt x="53" y="66"/>
                      <a:pt x="56" y="68"/>
                    </a:cubicBezTo>
                    <a:cubicBezTo>
                      <a:pt x="62" y="72"/>
                      <a:pt x="65" y="65"/>
                      <a:pt x="67" y="66"/>
                    </a:cubicBezTo>
                    <a:cubicBezTo>
                      <a:pt x="67" y="67"/>
                      <a:pt x="67" y="68"/>
                      <a:pt x="67" y="69"/>
                    </a:cubicBezTo>
                    <a:cubicBezTo>
                      <a:pt x="65" y="72"/>
                      <a:pt x="63" y="74"/>
                      <a:pt x="61" y="78"/>
                    </a:cubicBezTo>
                    <a:cubicBezTo>
                      <a:pt x="59" y="81"/>
                      <a:pt x="57" y="84"/>
                      <a:pt x="55" y="87"/>
                    </a:cubicBezTo>
                    <a:cubicBezTo>
                      <a:pt x="55" y="88"/>
                      <a:pt x="54" y="88"/>
                      <a:pt x="54" y="88"/>
                    </a:cubicBezTo>
                    <a:cubicBezTo>
                      <a:pt x="52" y="86"/>
                      <a:pt x="57" y="84"/>
                      <a:pt x="48" y="65"/>
                    </a:cubicBezTo>
                    <a:cubicBezTo>
                      <a:pt x="36" y="42"/>
                      <a:pt x="36" y="42"/>
                      <a:pt x="36" y="42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5" y="23"/>
                      <a:pt x="3" y="33"/>
                      <a:pt x="1" y="31"/>
                    </a:cubicBezTo>
                    <a:cubicBezTo>
                      <a:pt x="0" y="31"/>
                      <a:pt x="0" y="30"/>
                      <a:pt x="1" y="29"/>
                    </a:cubicBezTo>
                    <a:cubicBezTo>
                      <a:pt x="4" y="24"/>
                      <a:pt x="7" y="19"/>
                      <a:pt x="9" y="16"/>
                    </a:cubicBezTo>
                    <a:cubicBezTo>
                      <a:pt x="12" y="12"/>
                      <a:pt x="14" y="7"/>
                      <a:pt x="17" y="2"/>
                    </a:cubicBezTo>
                    <a:cubicBezTo>
                      <a:pt x="18" y="1"/>
                      <a:pt x="19" y="0"/>
                      <a:pt x="20" y="1"/>
                    </a:cubicBezTo>
                    <a:cubicBezTo>
                      <a:pt x="23" y="3"/>
                      <a:pt x="14" y="9"/>
                      <a:pt x="21" y="13"/>
                    </a:cubicBezTo>
                    <a:cubicBezTo>
                      <a:pt x="43" y="27"/>
                      <a:pt x="43" y="27"/>
                      <a:pt x="43" y="27"/>
                    </a:cubicBezTo>
                    <a:cubicBezTo>
                      <a:pt x="80" y="29"/>
                      <a:pt x="80" y="29"/>
                      <a:pt x="80" y="29"/>
                    </a:cubicBezTo>
                    <a:cubicBezTo>
                      <a:pt x="91" y="29"/>
                      <a:pt x="91" y="22"/>
                      <a:pt x="93" y="24"/>
                    </a:cubicBezTo>
                    <a:cubicBezTo>
                      <a:pt x="94" y="24"/>
                      <a:pt x="94" y="25"/>
                      <a:pt x="93" y="26"/>
                    </a:cubicBezTo>
                    <a:cubicBezTo>
                      <a:pt x="91" y="31"/>
                      <a:pt x="88" y="35"/>
                      <a:pt x="85" y="39"/>
                    </a:cubicBezTo>
                    <a:cubicBezTo>
                      <a:pt x="82" y="44"/>
                      <a:pt x="79" y="48"/>
                      <a:pt x="77" y="53"/>
                    </a:cubicBezTo>
                    <a:cubicBezTo>
                      <a:pt x="76" y="54"/>
                      <a:pt x="75" y="55"/>
                      <a:pt x="74" y="54"/>
                    </a:cubicBezTo>
                    <a:cubicBezTo>
                      <a:pt x="72" y="53"/>
                      <a:pt x="78" y="49"/>
                      <a:pt x="73" y="45"/>
                    </a:cubicBezTo>
                    <a:cubicBezTo>
                      <a:pt x="71" y="44"/>
                      <a:pt x="69" y="44"/>
                      <a:pt x="67" y="44"/>
                    </a:cubicBezTo>
                    <a:lnTo>
                      <a:pt x="38" y="4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0" name="Freeform 15"/>
              <p:cNvSpPr/>
              <p:nvPr/>
            </p:nvSpPr>
            <p:spPr bwMode="auto">
              <a:xfrm>
                <a:off x="2579885" y="3271133"/>
                <a:ext cx="523502" cy="456263"/>
              </a:xfrm>
              <a:custGeom>
                <a:avLst/>
                <a:gdLst>
                  <a:gd name="T0" fmla="*/ 66 w 92"/>
                  <a:gd name="T1" fmla="*/ 60 h 80"/>
                  <a:gd name="T2" fmla="*/ 64 w 92"/>
                  <a:gd name="T3" fmla="*/ 60 h 80"/>
                  <a:gd name="T4" fmla="*/ 66 w 92"/>
                  <a:gd name="T5" fmla="*/ 57 h 80"/>
                  <a:gd name="T6" fmla="*/ 76 w 92"/>
                  <a:gd name="T7" fmla="*/ 20 h 80"/>
                  <a:gd name="T8" fmla="*/ 54 w 92"/>
                  <a:gd name="T9" fmla="*/ 13 h 80"/>
                  <a:gd name="T10" fmla="*/ 46 w 92"/>
                  <a:gd name="T11" fmla="*/ 73 h 80"/>
                  <a:gd name="T12" fmla="*/ 13 w 92"/>
                  <a:gd name="T13" fmla="*/ 65 h 80"/>
                  <a:gd name="T14" fmla="*/ 6 w 92"/>
                  <a:gd name="T15" fmla="*/ 46 h 80"/>
                  <a:gd name="T16" fmla="*/ 0 w 92"/>
                  <a:gd name="T17" fmla="*/ 44 h 80"/>
                  <a:gd name="T18" fmla="*/ 1 w 92"/>
                  <a:gd name="T19" fmla="*/ 42 h 80"/>
                  <a:gd name="T20" fmla="*/ 18 w 92"/>
                  <a:gd name="T21" fmla="*/ 28 h 80"/>
                  <a:gd name="T22" fmla="*/ 21 w 92"/>
                  <a:gd name="T23" fmla="*/ 26 h 80"/>
                  <a:gd name="T24" fmla="*/ 22 w 92"/>
                  <a:gd name="T25" fmla="*/ 26 h 80"/>
                  <a:gd name="T26" fmla="*/ 18 w 92"/>
                  <a:gd name="T27" fmla="*/ 33 h 80"/>
                  <a:gd name="T28" fmla="*/ 15 w 92"/>
                  <a:gd name="T29" fmla="*/ 63 h 80"/>
                  <a:gd name="T30" fmla="*/ 33 w 92"/>
                  <a:gd name="T31" fmla="*/ 69 h 80"/>
                  <a:gd name="T32" fmla="*/ 40 w 92"/>
                  <a:gd name="T33" fmla="*/ 9 h 80"/>
                  <a:gd name="T34" fmla="*/ 78 w 92"/>
                  <a:gd name="T35" fmla="*/ 19 h 80"/>
                  <a:gd name="T36" fmla="*/ 86 w 92"/>
                  <a:gd name="T37" fmla="*/ 39 h 80"/>
                  <a:gd name="T38" fmla="*/ 92 w 92"/>
                  <a:gd name="T39" fmla="*/ 42 h 80"/>
                  <a:gd name="T40" fmla="*/ 92 w 92"/>
                  <a:gd name="T41" fmla="*/ 43 h 80"/>
                  <a:gd name="T42" fmla="*/ 66 w 92"/>
                  <a:gd name="T43" fmla="*/ 6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92" h="80">
                    <a:moveTo>
                      <a:pt x="66" y="60"/>
                    </a:moveTo>
                    <a:cubicBezTo>
                      <a:pt x="64" y="61"/>
                      <a:pt x="64" y="61"/>
                      <a:pt x="64" y="60"/>
                    </a:cubicBezTo>
                    <a:cubicBezTo>
                      <a:pt x="63" y="59"/>
                      <a:pt x="64" y="59"/>
                      <a:pt x="66" y="57"/>
                    </a:cubicBezTo>
                    <a:cubicBezTo>
                      <a:pt x="76" y="47"/>
                      <a:pt x="85" y="34"/>
                      <a:pt x="76" y="20"/>
                    </a:cubicBezTo>
                    <a:cubicBezTo>
                      <a:pt x="70" y="11"/>
                      <a:pt x="61" y="8"/>
                      <a:pt x="54" y="13"/>
                    </a:cubicBezTo>
                    <a:cubicBezTo>
                      <a:pt x="35" y="26"/>
                      <a:pt x="69" y="57"/>
                      <a:pt x="46" y="73"/>
                    </a:cubicBezTo>
                    <a:cubicBezTo>
                      <a:pt x="35" y="80"/>
                      <a:pt x="20" y="76"/>
                      <a:pt x="13" y="65"/>
                    </a:cubicBezTo>
                    <a:cubicBezTo>
                      <a:pt x="7" y="56"/>
                      <a:pt x="7" y="49"/>
                      <a:pt x="6" y="46"/>
                    </a:cubicBezTo>
                    <a:cubicBezTo>
                      <a:pt x="3" y="43"/>
                      <a:pt x="2" y="46"/>
                      <a:pt x="0" y="44"/>
                    </a:cubicBezTo>
                    <a:cubicBezTo>
                      <a:pt x="0" y="44"/>
                      <a:pt x="0" y="43"/>
                      <a:pt x="1" y="42"/>
                    </a:cubicBezTo>
                    <a:cubicBezTo>
                      <a:pt x="18" y="28"/>
                      <a:pt x="18" y="28"/>
                      <a:pt x="18" y="28"/>
                    </a:cubicBezTo>
                    <a:cubicBezTo>
                      <a:pt x="20" y="27"/>
                      <a:pt x="21" y="26"/>
                      <a:pt x="21" y="26"/>
                    </a:cubicBezTo>
                    <a:cubicBezTo>
                      <a:pt x="22" y="26"/>
                      <a:pt x="22" y="26"/>
                      <a:pt x="22" y="26"/>
                    </a:cubicBezTo>
                    <a:cubicBezTo>
                      <a:pt x="23" y="27"/>
                      <a:pt x="21" y="29"/>
                      <a:pt x="18" y="33"/>
                    </a:cubicBezTo>
                    <a:cubicBezTo>
                      <a:pt x="11" y="44"/>
                      <a:pt x="8" y="53"/>
                      <a:pt x="15" y="63"/>
                    </a:cubicBezTo>
                    <a:cubicBezTo>
                      <a:pt x="19" y="70"/>
                      <a:pt x="26" y="73"/>
                      <a:pt x="33" y="69"/>
                    </a:cubicBezTo>
                    <a:cubicBezTo>
                      <a:pt x="48" y="58"/>
                      <a:pt x="14" y="26"/>
                      <a:pt x="40" y="9"/>
                    </a:cubicBezTo>
                    <a:cubicBezTo>
                      <a:pt x="52" y="0"/>
                      <a:pt x="69" y="5"/>
                      <a:pt x="78" y="19"/>
                    </a:cubicBezTo>
                    <a:cubicBezTo>
                      <a:pt x="85" y="28"/>
                      <a:pt x="83" y="35"/>
                      <a:pt x="86" y="39"/>
                    </a:cubicBezTo>
                    <a:cubicBezTo>
                      <a:pt x="88" y="43"/>
                      <a:pt x="91" y="40"/>
                      <a:pt x="92" y="42"/>
                    </a:cubicBezTo>
                    <a:cubicBezTo>
                      <a:pt x="92" y="42"/>
                      <a:pt x="92" y="43"/>
                      <a:pt x="92" y="43"/>
                    </a:cubicBezTo>
                    <a:lnTo>
                      <a:pt x="66" y="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1" name="Freeform 16"/>
              <p:cNvSpPr/>
              <p:nvPr/>
            </p:nvSpPr>
            <p:spPr bwMode="auto">
              <a:xfrm>
                <a:off x="2310930" y="2721217"/>
                <a:ext cx="564325" cy="578732"/>
              </a:xfrm>
              <a:custGeom>
                <a:avLst/>
                <a:gdLst>
                  <a:gd name="T0" fmla="*/ 32 w 99"/>
                  <a:gd name="T1" fmla="*/ 90 h 102"/>
                  <a:gd name="T2" fmla="*/ 27 w 99"/>
                  <a:gd name="T3" fmla="*/ 102 h 102"/>
                  <a:gd name="T4" fmla="*/ 25 w 99"/>
                  <a:gd name="T5" fmla="*/ 101 h 102"/>
                  <a:gd name="T6" fmla="*/ 20 w 99"/>
                  <a:gd name="T7" fmla="*/ 86 h 102"/>
                  <a:gd name="T8" fmla="*/ 15 w 99"/>
                  <a:gd name="T9" fmla="*/ 71 h 102"/>
                  <a:gd name="T10" fmla="*/ 16 w 99"/>
                  <a:gd name="T11" fmla="*/ 68 h 102"/>
                  <a:gd name="T12" fmla="*/ 26 w 99"/>
                  <a:gd name="T13" fmla="*/ 75 h 102"/>
                  <a:gd name="T14" fmla="*/ 51 w 99"/>
                  <a:gd name="T15" fmla="*/ 67 h 102"/>
                  <a:gd name="T16" fmla="*/ 42 w 99"/>
                  <a:gd name="T17" fmla="*/ 38 h 102"/>
                  <a:gd name="T18" fmla="*/ 17 w 99"/>
                  <a:gd name="T19" fmla="*/ 47 h 102"/>
                  <a:gd name="T20" fmla="*/ 13 w 99"/>
                  <a:gd name="T21" fmla="*/ 58 h 102"/>
                  <a:gd name="T22" fmla="*/ 10 w 99"/>
                  <a:gd name="T23" fmla="*/ 57 h 102"/>
                  <a:gd name="T24" fmla="*/ 6 w 99"/>
                  <a:gd name="T25" fmla="*/ 42 h 102"/>
                  <a:gd name="T26" fmla="*/ 0 w 99"/>
                  <a:gd name="T27" fmla="*/ 27 h 102"/>
                  <a:gd name="T28" fmla="*/ 1 w 99"/>
                  <a:gd name="T29" fmla="*/ 24 h 102"/>
                  <a:gd name="T30" fmla="*/ 12 w 99"/>
                  <a:gd name="T31" fmla="*/ 31 h 102"/>
                  <a:gd name="T32" fmla="*/ 67 w 99"/>
                  <a:gd name="T33" fmla="*/ 12 h 102"/>
                  <a:gd name="T34" fmla="*/ 71 w 99"/>
                  <a:gd name="T35" fmla="*/ 1 h 102"/>
                  <a:gd name="T36" fmla="*/ 74 w 99"/>
                  <a:gd name="T37" fmla="*/ 2 h 102"/>
                  <a:gd name="T38" fmla="*/ 78 w 99"/>
                  <a:gd name="T39" fmla="*/ 17 h 102"/>
                  <a:gd name="T40" fmla="*/ 84 w 99"/>
                  <a:gd name="T41" fmla="*/ 32 h 102"/>
                  <a:gd name="T42" fmla="*/ 83 w 99"/>
                  <a:gd name="T43" fmla="*/ 35 h 102"/>
                  <a:gd name="T44" fmla="*/ 72 w 99"/>
                  <a:gd name="T45" fmla="*/ 28 h 102"/>
                  <a:gd name="T46" fmla="*/ 44 w 99"/>
                  <a:gd name="T47" fmla="*/ 38 h 102"/>
                  <a:gd name="T48" fmla="*/ 54 w 99"/>
                  <a:gd name="T49" fmla="*/ 66 h 102"/>
                  <a:gd name="T50" fmla="*/ 82 w 99"/>
                  <a:gd name="T51" fmla="*/ 56 h 102"/>
                  <a:gd name="T52" fmla="*/ 86 w 99"/>
                  <a:gd name="T53" fmla="*/ 44 h 102"/>
                  <a:gd name="T54" fmla="*/ 88 w 99"/>
                  <a:gd name="T55" fmla="*/ 46 h 102"/>
                  <a:gd name="T56" fmla="*/ 93 w 99"/>
                  <a:gd name="T57" fmla="*/ 61 h 102"/>
                  <a:gd name="T58" fmla="*/ 98 w 99"/>
                  <a:gd name="T59" fmla="*/ 76 h 102"/>
                  <a:gd name="T60" fmla="*/ 98 w 99"/>
                  <a:gd name="T61" fmla="*/ 79 h 102"/>
                  <a:gd name="T62" fmla="*/ 87 w 99"/>
                  <a:gd name="T63" fmla="*/ 72 h 102"/>
                  <a:gd name="T64" fmla="*/ 32 w 99"/>
                  <a:gd name="T65" fmla="*/ 90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99" h="102">
                    <a:moveTo>
                      <a:pt x="32" y="90"/>
                    </a:moveTo>
                    <a:cubicBezTo>
                      <a:pt x="23" y="93"/>
                      <a:pt x="30" y="101"/>
                      <a:pt x="27" y="102"/>
                    </a:cubicBezTo>
                    <a:cubicBezTo>
                      <a:pt x="26" y="102"/>
                      <a:pt x="26" y="102"/>
                      <a:pt x="25" y="101"/>
                    </a:cubicBezTo>
                    <a:cubicBezTo>
                      <a:pt x="23" y="95"/>
                      <a:pt x="22" y="90"/>
                      <a:pt x="20" y="86"/>
                    </a:cubicBezTo>
                    <a:cubicBezTo>
                      <a:pt x="19" y="81"/>
                      <a:pt x="17" y="76"/>
                      <a:pt x="15" y="71"/>
                    </a:cubicBezTo>
                    <a:cubicBezTo>
                      <a:pt x="15" y="69"/>
                      <a:pt x="15" y="68"/>
                      <a:pt x="16" y="68"/>
                    </a:cubicBezTo>
                    <a:cubicBezTo>
                      <a:pt x="19" y="67"/>
                      <a:pt x="18" y="78"/>
                      <a:pt x="26" y="75"/>
                    </a:cubicBezTo>
                    <a:cubicBezTo>
                      <a:pt x="51" y="67"/>
                      <a:pt x="51" y="67"/>
                      <a:pt x="51" y="67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17" y="47"/>
                      <a:pt x="17" y="47"/>
                      <a:pt x="17" y="47"/>
                    </a:cubicBezTo>
                    <a:cubicBezTo>
                      <a:pt x="8" y="50"/>
                      <a:pt x="16" y="57"/>
                      <a:pt x="13" y="58"/>
                    </a:cubicBezTo>
                    <a:cubicBezTo>
                      <a:pt x="12" y="59"/>
                      <a:pt x="11" y="58"/>
                      <a:pt x="10" y="57"/>
                    </a:cubicBezTo>
                    <a:cubicBezTo>
                      <a:pt x="9" y="51"/>
                      <a:pt x="7" y="46"/>
                      <a:pt x="6" y="42"/>
                    </a:cubicBezTo>
                    <a:cubicBezTo>
                      <a:pt x="4" y="37"/>
                      <a:pt x="2" y="32"/>
                      <a:pt x="0" y="27"/>
                    </a:cubicBezTo>
                    <a:cubicBezTo>
                      <a:pt x="0" y="25"/>
                      <a:pt x="0" y="25"/>
                      <a:pt x="1" y="24"/>
                    </a:cubicBezTo>
                    <a:cubicBezTo>
                      <a:pt x="4" y="23"/>
                      <a:pt x="3" y="34"/>
                      <a:pt x="12" y="31"/>
                    </a:cubicBezTo>
                    <a:cubicBezTo>
                      <a:pt x="67" y="12"/>
                      <a:pt x="67" y="12"/>
                      <a:pt x="67" y="12"/>
                    </a:cubicBezTo>
                    <a:cubicBezTo>
                      <a:pt x="76" y="9"/>
                      <a:pt x="68" y="2"/>
                      <a:pt x="71" y="1"/>
                    </a:cubicBezTo>
                    <a:cubicBezTo>
                      <a:pt x="72" y="0"/>
                      <a:pt x="73" y="1"/>
                      <a:pt x="74" y="2"/>
                    </a:cubicBezTo>
                    <a:cubicBezTo>
                      <a:pt x="75" y="8"/>
                      <a:pt x="77" y="13"/>
                      <a:pt x="78" y="17"/>
                    </a:cubicBezTo>
                    <a:cubicBezTo>
                      <a:pt x="80" y="22"/>
                      <a:pt x="82" y="27"/>
                      <a:pt x="84" y="32"/>
                    </a:cubicBezTo>
                    <a:cubicBezTo>
                      <a:pt x="84" y="34"/>
                      <a:pt x="84" y="34"/>
                      <a:pt x="83" y="35"/>
                    </a:cubicBezTo>
                    <a:cubicBezTo>
                      <a:pt x="80" y="36"/>
                      <a:pt x="81" y="25"/>
                      <a:pt x="72" y="28"/>
                    </a:cubicBezTo>
                    <a:cubicBezTo>
                      <a:pt x="44" y="38"/>
                      <a:pt x="44" y="38"/>
                      <a:pt x="44" y="38"/>
                    </a:cubicBezTo>
                    <a:cubicBezTo>
                      <a:pt x="54" y="66"/>
                      <a:pt x="54" y="66"/>
                      <a:pt x="54" y="66"/>
                    </a:cubicBezTo>
                    <a:cubicBezTo>
                      <a:pt x="82" y="56"/>
                      <a:pt x="82" y="56"/>
                      <a:pt x="82" y="56"/>
                    </a:cubicBezTo>
                    <a:cubicBezTo>
                      <a:pt x="90" y="53"/>
                      <a:pt x="83" y="45"/>
                      <a:pt x="86" y="44"/>
                    </a:cubicBezTo>
                    <a:cubicBezTo>
                      <a:pt x="87" y="44"/>
                      <a:pt x="88" y="44"/>
                      <a:pt x="88" y="46"/>
                    </a:cubicBezTo>
                    <a:cubicBezTo>
                      <a:pt x="90" y="52"/>
                      <a:pt x="92" y="57"/>
                      <a:pt x="93" y="61"/>
                    </a:cubicBezTo>
                    <a:cubicBezTo>
                      <a:pt x="95" y="65"/>
                      <a:pt x="97" y="70"/>
                      <a:pt x="98" y="76"/>
                    </a:cubicBezTo>
                    <a:cubicBezTo>
                      <a:pt x="99" y="78"/>
                      <a:pt x="99" y="78"/>
                      <a:pt x="98" y="79"/>
                    </a:cubicBezTo>
                    <a:cubicBezTo>
                      <a:pt x="95" y="80"/>
                      <a:pt x="96" y="69"/>
                      <a:pt x="87" y="72"/>
                    </a:cubicBezTo>
                    <a:lnTo>
                      <a:pt x="32" y="9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2" name="Freeform 17"/>
              <p:cNvSpPr/>
              <p:nvPr/>
            </p:nvSpPr>
            <p:spPr bwMode="auto">
              <a:xfrm>
                <a:off x="2260502" y="2252947"/>
                <a:ext cx="456263" cy="403432"/>
              </a:xfrm>
              <a:custGeom>
                <a:avLst/>
                <a:gdLst>
                  <a:gd name="T0" fmla="*/ 12 w 80"/>
                  <a:gd name="T1" fmla="*/ 61 h 71"/>
                  <a:gd name="T2" fmla="*/ 4 w 80"/>
                  <a:gd name="T3" fmla="*/ 71 h 71"/>
                  <a:gd name="T4" fmla="*/ 3 w 80"/>
                  <a:gd name="T5" fmla="*/ 69 h 71"/>
                  <a:gd name="T6" fmla="*/ 2 w 80"/>
                  <a:gd name="T7" fmla="*/ 53 h 71"/>
                  <a:gd name="T8" fmla="*/ 0 w 80"/>
                  <a:gd name="T9" fmla="*/ 12 h 71"/>
                  <a:gd name="T10" fmla="*/ 21 w 80"/>
                  <a:gd name="T11" fmla="*/ 6 h 71"/>
                  <a:gd name="T12" fmla="*/ 24 w 80"/>
                  <a:gd name="T13" fmla="*/ 5 h 71"/>
                  <a:gd name="T14" fmla="*/ 25 w 80"/>
                  <a:gd name="T15" fmla="*/ 6 h 71"/>
                  <a:gd name="T16" fmla="*/ 16 w 80"/>
                  <a:gd name="T17" fmla="*/ 12 h 71"/>
                  <a:gd name="T18" fmla="*/ 4 w 80"/>
                  <a:gd name="T19" fmla="*/ 39 h 71"/>
                  <a:gd name="T20" fmla="*/ 4 w 80"/>
                  <a:gd name="T21" fmla="*/ 45 h 71"/>
                  <a:gd name="T22" fmla="*/ 37 w 80"/>
                  <a:gd name="T23" fmla="*/ 43 h 71"/>
                  <a:gd name="T24" fmla="*/ 37 w 80"/>
                  <a:gd name="T25" fmla="*/ 40 h 71"/>
                  <a:gd name="T26" fmla="*/ 22 w 80"/>
                  <a:gd name="T27" fmla="*/ 27 h 71"/>
                  <a:gd name="T28" fmla="*/ 19 w 80"/>
                  <a:gd name="T29" fmla="*/ 25 h 71"/>
                  <a:gd name="T30" fmla="*/ 21 w 80"/>
                  <a:gd name="T31" fmla="*/ 24 h 71"/>
                  <a:gd name="T32" fmla="*/ 55 w 80"/>
                  <a:gd name="T33" fmla="*/ 22 h 71"/>
                  <a:gd name="T34" fmla="*/ 57 w 80"/>
                  <a:gd name="T35" fmla="*/ 24 h 71"/>
                  <a:gd name="T36" fmla="*/ 54 w 80"/>
                  <a:gd name="T37" fmla="*/ 25 h 71"/>
                  <a:gd name="T38" fmla="*/ 39 w 80"/>
                  <a:gd name="T39" fmla="*/ 40 h 71"/>
                  <a:gd name="T40" fmla="*/ 40 w 80"/>
                  <a:gd name="T41" fmla="*/ 43 h 71"/>
                  <a:gd name="T42" fmla="*/ 68 w 80"/>
                  <a:gd name="T43" fmla="*/ 42 h 71"/>
                  <a:gd name="T44" fmla="*/ 76 w 80"/>
                  <a:gd name="T45" fmla="*/ 32 h 71"/>
                  <a:gd name="T46" fmla="*/ 50 w 80"/>
                  <a:gd name="T47" fmla="*/ 2 h 71"/>
                  <a:gd name="T48" fmla="*/ 47 w 80"/>
                  <a:gd name="T49" fmla="*/ 1 h 71"/>
                  <a:gd name="T50" fmla="*/ 48 w 80"/>
                  <a:gd name="T51" fmla="*/ 0 h 71"/>
                  <a:gd name="T52" fmla="*/ 52 w 80"/>
                  <a:gd name="T53" fmla="*/ 0 h 71"/>
                  <a:gd name="T54" fmla="*/ 77 w 80"/>
                  <a:gd name="T55" fmla="*/ 4 h 71"/>
                  <a:gd name="T56" fmla="*/ 79 w 80"/>
                  <a:gd name="T57" fmla="*/ 49 h 71"/>
                  <a:gd name="T58" fmla="*/ 80 w 80"/>
                  <a:gd name="T59" fmla="*/ 65 h 71"/>
                  <a:gd name="T60" fmla="*/ 78 w 80"/>
                  <a:gd name="T61" fmla="*/ 67 h 71"/>
                  <a:gd name="T62" fmla="*/ 70 w 80"/>
                  <a:gd name="T63" fmla="*/ 58 h 71"/>
                  <a:gd name="T64" fmla="*/ 12 w 80"/>
                  <a:gd name="T65" fmla="*/ 6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0" h="71">
                    <a:moveTo>
                      <a:pt x="12" y="61"/>
                    </a:moveTo>
                    <a:cubicBezTo>
                      <a:pt x="3" y="61"/>
                      <a:pt x="8" y="71"/>
                      <a:pt x="4" y="71"/>
                    </a:cubicBezTo>
                    <a:cubicBezTo>
                      <a:pt x="3" y="71"/>
                      <a:pt x="3" y="71"/>
                      <a:pt x="3" y="69"/>
                    </a:cubicBezTo>
                    <a:cubicBezTo>
                      <a:pt x="2" y="63"/>
                      <a:pt x="2" y="58"/>
                      <a:pt x="2" y="53"/>
                    </a:cubicBezTo>
                    <a:cubicBezTo>
                      <a:pt x="2" y="39"/>
                      <a:pt x="1" y="26"/>
                      <a:pt x="0" y="12"/>
                    </a:cubicBezTo>
                    <a:cubicBezTo>
                      <a:pt x="21" y="6"/>
                      <a:pt x="21" y="6"/>
                      <a:pt x="21" y="6"/>
                    </a:cubicBezTo>
                    <a:cubicBezTo>
                      <a:pt x="23" y="5"/>
                      <a:pt x="24" y="5"/>
                      <a:pt x="24" y="5"/>
                    </a:cubicBezTo>
                    <a:cubicBezTo>
                      <a:pt x="25" y="5"/>
                      <a:pt x="25" y="5"/>
                      <a:pt x="25" y="6"/>
                    </a:cubicBezTo>
                    <a:cubicBezTo>
                      <a:pt x="25" y="7"/>
                      <a:pt x="23" y="7"/>
                      <a:pt x="16" y="12"/>
                    </a:cubicBezTo>
                    <a:cubicBezTo>
                      <a:pt x="8" y="17"/>
                      <a:pt x="3" y="25"/>
                      <a:pt x="4" y="39"/>
                    </a:cubicBezTo>
                    <a:cubicBezTo>
                      <a:pt x="4" y="45"/>
                      <a:pt x="4" y="45"/>
                      <a:pt x="4" y="45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6" y="32"/>
                      <a:pt x="30" y="27"/>
                      <a:pt x="22" y="27"/>
                    </a:cubicBezTo>
                    <a:cubicBezTo>
                      <a:pt x="20" y="27"/>
                      <a:pt x="19" y="27"/>
                      <a:pt x="19" y="25"/>
                    </a:cubicBezTo>
                    <a:cubicBezTo>
                      <a:pt x="19" y="25"/>
                      <a:pt x="20" y="24"/>
                      <a:pt x="21" y="24"/>
                    </a:cubicBezTo>
                    <a:cubicBezTo>
                      <a:pt x="55" y="22"/>
                      <a:pt x="55" y="22"/>
                      <a:pt x="55" y="22"/>
                    </a:cubicBezTo>
                    <a:cubicBezTo>
                      <a:pt x="56" y="22"/>
                      <a:pt x="57" y="23"/>
                      <a:pt x="57" y="24"/>
                    </a:cubicBezTo>
                    <a:cubicBezTo>
                      <a:pt x="57" y="25"/>
                      <a:pt x="56" y="25"/>
                      <a:pt x="54" y="25"/>
                    </a:cubicBezTo>
                    <a:cubicBezTo>
                      <a:pt x="44" y="26"/>
                      <a:pt x="39" y="32"/>
                      <a:pt x="39" y="40"/>
                    </a:cubicBezTo>
                    <a:cubicBezTo>
                      <a:pt x="40" y="43"/>
                      <a:pt x="40" y="43"/>
                      <a:pt x="40" y="43"/>
                    </a:cubicBezTo>
                    <a:cubicBezTo>
                      <a:pt x="68" y="42"/>
                      <a:pt x="68" y="42"/>
                      <a:pt x="68" y="42"/>
                    </a:cubicBezTo>
                    <a:cubicBezTo>
                      <a:pt x="73" y="41"/>
                      <a:pt x="76" y="39"/>
                      <a:pt x="76" y="32"/>
                    </a:cubicBezTo>
                    <a:cubicBezTo>
                      <a:pt x="75" y="14"/>
                      <a:pt x="62" y="5"/>
                      <a:pt x="50" y="2"/>
                    </a:cubicBezTo>
                    <a:cubicBezTo>
                      <a:pt x="48" y="2"/>
                      <a:pt x="47" y="2"/>
                      <a:pt x="47" y="1"/>
                    </a:cubicBezTo>
                    <a:cubicBezTo>
                      <a:pt x="47" y="0"/>
                      <a:pt x="48" y="0"/>
                      <a:pt x="48" y="0"/>
                    </a:cubicBezTo>
                    <a:cubicBezTo>
                      <a:pt x="49" y="0"/>
                      <a:pt x="50" y="0"/>
                      <a:pt x="52" y="0"/>
                    </a:cubicBezTo>
                    <a:cubicBezTo>
                      <a:pt x="77" y="4"/>
                      <a:pt x="77" y="4"/>
                      <a:pt x="77" y="4"/>
                    </a:cubicBezTo>
                    <a:cubicBezTo>
                      <a:pt x="77" y="19"/>
                      <a:pt x="78" y="34"/>
                      <a:pt x="79" y="49"/>
                    </a:cubicBezTo>
                    <a:cubicBezTo>
                      <a:pt x="79" y="54"/>
                      <a:pt x="80" y="59"/>
                      <a:pt x="80" y="65"/>
                    </a:cubicBezTo>
                    <a:cubicBezTo>
                      <a:pt x="80" y="67"/>
                      <a:pt x="79" y="67"/>
                      <a:pt x="78" y="67"/>
                    </a:cubicBezTo>
                    <a:cubicBezTo>
                      <a:pt x="75" y="68"/>
                      <a:pt x="79" y="58"/>
                      <a:pt x="70" y="58"/>
                    </a:cubicBezTo>
                    <a:lnTo>
                      <a:pt x="12" y="6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3" name="Freeform 18"/>
              <p:cNvSpPr/>
              <p:nvPr/>
            </p:nvSpPr>
            <p:spPr bwMode="auto">
              <a:xfrm>
                <a:off x="2267706" y="1621384"/>
                <a:ext cx="528304" cy="552318"/>
              </a:xfrm>
              <a:custGeom>
                <a:avLst/>
                <a:gdLst>
                  <a:gd name="T0" fmla="*/ 62 w 93"/>
                  <a:gd name="T1" fmla="*/ 78 h 97"/>
                  <a:gd name="T2" fmla="*/ 77 w 93"/>
                  <a:gd name="T3" fmla="*/ 74 h 97"/>
                  <a:gd name="T4" fmla="*/ 81 w 93"/>
                  <a:gd name="T5" fmla="*/ 69 h 97"/>
                  <a:gd name="T6" fmla="*/ 81 w 93"/>
                  <a:gd name="T7" fmla="*/ 70 h 97"/>
                  <a:gd name="T8" fmla="*/ 79 w 93"/>
                  <a:gd name="T9" fmla="*/ 83 h 97"/>
                  <a:gd name="T10" fmla="*/ 76 w 93"/>
                  <a:gd name="T11" fmla="*/ 96 h 97"/>
                  <a:gd name="T12" fmla="*/ 74 w 93"/>
                  <a:gd name="T13" fmla="*/ 97 h 97"/>
                  <a:gd name="T14" fmla="*/ 74 w 93"/>
                  <a:gd name="T15" fmla="*/ 90 h 97"/>
                  <a:gd name="T16" fmla="*/ 61 w 93"/>
                  <a:gd name="T17" fmla="*/ 80 h 97"/>
                  <a:gd name="T18" fmla="*/ 13 w 93"/>
                  <a:gd name="T19" fmla="*/ 70 h 97"/>
                  <a:gd name="T20" fmla="*/ 3 w 93"/>
                  <a:gd name="T21" fmla="*/ 79 h 97"/>
                  <a:gd name="T22" fmla="*/ 1 w 93"/>
                  <a:gd name="T23" fmla="*/ 81 h 97"/>
                  <a:gd name="T24" fmla="*/ 1 w 93"/>
                  <a:gd name="T25" fmla="*/ 79 h 97"/>
                  <a:gd name="T26" fmla="*/ 3 w 93"/>
                  <a:gd name="T27" fmla="*/ 67 h 97"/>
                  <a:gd name="T28" fmla="*/ 6 w 93"/>
                  <a:gd name="T29" fmla="*/ 55 h 97"/>
                  <a:gd name="T30" fmla="*/ 64 w 93"/>
                  <a:gd name="T31" fmla="*/ 26 h 97"/>
                  <a:gd name="T32" fmla="*/ 65 w 93"/>
                  <a:gd name="T33" fmla="*/ 26 h 97"/>
                  <a:gd name="T34" fmla="*/ 32 w 93"/>
                  <a:gd name="T35" fmla="*/ 19 h 97"/>
                  <a:gd name="T36" fmla="*/ 16 w 93"/>
                  <a:gd name="T37" fmla="*/ 23 h 97"/>
                  <a:gd name="T38" fmla="*/ 13 w 93"/>
                  <a:gd name="T39" fmla="*/ 28 h 97"/>
                  <a:gd name="T40" fmla="*/ 12 w 93"/>
                  <a:gd name="T41" fmla="*/ 26 h 97"/>
                  <a:gd name="T42" fmla="*/ 15 w 93"/>
                  <a:gd name="T43" fmla="*/ 14 h 97"/>
                  <a:gd name="T44" fmla="*/ 18 w 93"/>
                  <a:gd name="T45" fmla="*/ 1 h 97"/>
                  <a:gd name="T46" fmla="*/ 19 w 93"/>
                  <a:gd name="T47" fmla="*/ 0 h 97"/>
                  <a:gd name="T48" fmla="*/ 20 w 93"/>
                  <a:gd name="T49" fmla="*/ 6 h 97"/>
                  <a:gd name="T50" fmla="*/ 32 w 93"/>
                  <a:gd name="T51" fmla="*/ 16 h 97"/>
                  <a:gd name="T52" fmla="*/ 89 w 93"/>
                  <a:gd name="T53" fmla="*/ 29 h 97"/>
                  <a:gd name="T54" fmla="*/ 93 w 93"/>
                  <a:gd name="T55" fmla="*/ 31 h 97"/>
                  <a:gd name="T56" fmla="*/ 90 w 93"/>
                  <a:gd name="T57" fmla="*/ 33 h 97"/>
                  <a:gd name="T58" fmla="*/ 17 w 93"/>
                  <a:gd name="T59" fmla="*/ 68 h 97"/>
                  <a:gd name="T60" fmla="*/ 17 w 93"/>
                  <a:gd name="T61" fmla="*/ 68 h 97"/>
                  <a:gd name="T62" fmla="*/ 62 w 93"/>
                  <a:gd name="T63" fmla="*/ 78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93" h="97">
                    <a:moveTo>
                      <a:pt x="62" y="78"/>
                    </a:moveTo>
                    <a:cubicBezTo>
                      <a:pt x="71" y="80"/>
                      <a:pt x="75" y="77"/>
                      <a:pt x="77" y="74"/>
                    </a:cubicBezTo>
                    <a:cubicBezTo>
                      <a:pt x="79" y="71"/>
                      <a:pt x="79" y="68"/>
                      <a:pt x="81" y="69"/>
                    </a:cubicBezTo>
                    <a:cubicBezTo>
                      <a:pt x="81" y="69"/>
                      <a:pt x="82" y="69"/>
                      <a:pt x="81" y="70"/>
                    </a:cubicBezTo>
                    <a:cubicBezTo>
                      <a:pt x="81" y="74"/>
                      <a:pt x="79" y="78"/>
                      <a:pt x="79" y="83"/>
                    </a:cubicBezTo>
                    <a:cubicBezTo>
                      <a:pt x="78" y="87"/>
                      <a:pt x="77" y="92"/>
                      <a:pt x="76" y="96"/>
                    </a:cubicBezTo>
                    <a:cubicBezTo>
                      <a:pt x="76" y="97"/>
                      <a:pt x="75" y="97"/>
                      <a:pt x="74" y="97"/>
                    </a:cubicBezTo>
                    <a:cubicBezTo>
                      <a:pt x="73" y="96"/>
                      <a:pt x="74" y="94"/>
                      <a:pt x="74" y="90"/>
                    </a:cubicBezTo>
                    <a:cubicBezTo>
                      <a:pt x="73" y="87"/>
                      <a:pt x="70" y="82"/>
                      <a:pt x="61" y="80"/>
                    </a:cubicBezTo>
                    <a:cubicBezTo>
                      <a:pt x="13" y="70"/>
                      <a:pt x="13" y="70"/>
                      <a:pt x="13" y="70"/>
                    </a:cubicBezTo>
                    <a:cubicBezTo>
                      <a:pt x="7" y="72"/>
                      <a:pt x="5" y="75"/>
                      <a:pt x="3" y="79"/>
                    </a:cubicBezTo>
                    <a:cubicBezTo>
                      <a:pt x="3" y="80"/>
                      <a:pt x="3" y="81"/>
                      <a:pt x="1" y="81"/>
                    </a:cubicBezTo>
                    <a:cubicBezTo>
                      <a:pt x="1" y="81"/>
                      <a:pt x="0" y="80"/>
                      <a:pt x="1" y="79"/>
                    </a:cubicBezTo>
                    <a:cubicBezTo>
                      <a:pt x="1" y="75"/>
                      <a:pt x="2" y="71"/>
                      <a:pt x="3" y="67"/>
                    </a:cubicBezTo>
                    <a:cubicBezTo>
                      <a:pt x="6" y="55"/>
                      <a:pt x="6" y="55"/>
                      <a:pt x="6" y="55"/>
                    </a:cubicBezTo>
                    <a:cubicBezTo>
                      <a:pt x="64" y="26"/>
                      <a:pt x="64" y="26"/>
                      <a:pt x="64" y="26"/>
                    </a:cubicBezTo>
                    <a:cubicBezTo>
                      <a:pt x="65" y="26"/>
                      <a:pt x="65" y="26"/>
                      <a:pt x="65" y="26"/>
                    </a:cubicBezTo>
                    <a:cubicBezTo>
                      <a:pt x="32" y="19"/>
                      <a:pt x="32" y="19"/>
                      <a:pt x="32" y="19"/>
                    </a:cubicBezTo>
                    <a:cubicBezTo>
                      <a:pt x="23" y="17"/>
                      <a:pt x="19" y="20"/>
                      <a:pt x="16" y="23"/>
                    </a:cubicBezTo>
                    <a:cubicBezTo>
                      <a:pt x="14" y="25"/>
                      <a:pt x="15" y="29"/>
                      <a:pt x="13" y="28"/>
                    </a:cubicBezTo>
                    <a:cubicBezTo>
                      <a:pt x="12" y="28"/>
                      <a:pt x="12" y="28"/>
                      <a:pt x="12" y="26"/>
                    </a:cubicBezTo>
                    <a:cubicBezTo>
                      <a:pt x="13" y="23"/>
                      <a:pt x="14" y="18"/>
                      <a:pt x="15" y="14"/>
                    </a:cubicBezTo>
                    <a:cubicBezTo>
                      <a:pt x="16" y="9"/>
                      <a:pt x="17" y="5"/>
                      <a:pt x="18" y="1"/>
                    </a:cubicBezTo>
                    <a:cubicBezTo>
                      <a:pt x="18" y="0"/>
                      <a:pt x="19" y="0"/>
                      <a:pt x="19" y="0"/>
                    </a:cubicBezTo>
                    <a:cubicBezTo>
                      <a:pt x="21" y="0"/>
                      <a:pt x="19" y="3"/>
                      <a:pt x="20" y="6"/>
                    </a:cubicBezTo>
                    <a:cubicBezTo>
                      <a:pt x="21" y="10"/>
                      <a:pt x="24" y="14"/>
                      <a:pt x="32" y="16"/>
                    </a:cubicBezTo>
                    <a:cubicBezTo>
                      <a:pt x="89" y="29"/>
                      <a:pt x="89" y="29"/>
                      <a:pt x="89" y="29"/>
                    </a:cubicBezTo>
                    <a:cubicBezTo>
                      <a:pt x="91" y="29"/>
                      <a:pt x="93" y="30"/>
                      <a:pt x="93" y="31"/>
                    </a:cubicBezTo>
                    <a:cubicBezTo>
                      <a:pt x="93" y="31"/>
                      <a:pt x="91" y="32"/>
                      <a:pt x="90" y="33"/>
                    </a:cubicBezTo>
                    <a:cubicBezTo>
                      <a:pt x="17" y="68"/>
                      <a:pt x="17" y="68"/>
                      <a:pt x="17" y="68"/>
                    </a:cubicBezTo>
                    <a:cubicBezTo>
                      <a:pt x="17" y="68"/>
                      <a:pt x="17" y="68"/>
                      <a:pt x="17" y="68"/>
                    </a:cubicBezTo>
                    <a:lnTo>
                      <a:pt x="62" y="7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4" name="Freeform 19"/>
              <p:cNvSpPr/>
              <p:nvPr/>
            </p:nvSpPr>
            <p:spPr bwMode="auto">
              <a:xfrm>
                <a:off x="2431000" y="1213150"/>
                <a:ext cx="506692" cy="504290"/>
              </a:xfrm>
              <a:custGeom>
                <a:avLst/>
                <a:gdLst>
                  <a:gd name="T0" fmla="*/ 75 w 89"/>
                  <a:gd name="T1" fmla="*/ 62 h 89"/>
                  <a:gd name="T2" fmla="*/ 74 w 89"/>
                  <a:gd name="T3" fmla="*/ 33 h 89"/>
                  <a:gd name="T4" fmla="*/ 64 w 89"/>
                  <a:gd name="T5" fmla="*/ 21 h 89"/>
                  <a:gd name="T6" fmla="*/ 66 w 89"/>
                  <a:gd name="T7" fmla="*/ 21 h 89"/>
                  <a:gd name="T8" fmla="*/ 70 w 89"/>
                  <a:gd name="T9" fmla="*/ 23 h 89"/>
                  <a:gd name="T10" fmla="*/ 89 w 89"/>
                  <a:gd name="T11" fmla="*/ 38 h 89"/>
                  <a:gd name="T12" fmla="*/ 77 w 89"/>
                  <a:gd name="T13" fmla="*/ 62 h 89"/>
                  <a:gd name="T14" fmla="*/ 66 w 89"/>
                  <a:gd name="T15" fmla="*/ 88 h 89"/>
                  <a:gd name="T16" fmla="*/ 64 w 89"/>
                  <a:gd name="T17" fmla="*/ 89 h 89"/>
                  <a:gd name="T18" fmla="*/ 62 w 89"/>
                  <a:gd name="T19" fmla="*/ 86 h 89"/>
                  <a:gd name="T20" fmla="*/ 16 w 89"/>
                  <a:gd name="T21" fmla="*/ 18 h 89"/>
                  <a:gd name="T22" fmla="*/ 13 w 89"/>
                  <a:gd name="T23" fmla="*/ 24 h 89"/>
                  <a:gd name="T24" fmla="*/ 14 w 89"/>
                  <a:gd name="T25" fmla="*/ 53 h 89"/>
                  <a:gd name="T26" fmla="*/ 21 w 89"/>
                  <a:gd name="T27" fmla="*/ 62 h 89"/>
                  <a:gd name="T28" fmla="*/ 19 w 89"/>
                  <a:gd name="T29" fmla="*/ 63 h 89"/>
                  <a:gd name="T30" fmla="*/ 17 w 89"/>
                  <a:gd name="T31" fmla="*/ 61 h 89"/>
                  <a:gd name="T32" fmla="*/ 0 w 89"/>
                  <a:gd name="T33" fmla="*/ 47 h 89"/>
                  <a:gd name="T34" fmla="*/ 11 w 89"/>
                  <a:gd name="T35" fmla="*/ 24 h 89"/>
                  <a:gd name="T36" fmla="*/ 21 w 89"/>
                  <a:gd name="T37" fmla="*/ 1 h 89"/>
                  <a:gd name="T38" fmla="*/ 23 w 89"/>
                  <a:gd name="T39" fmla="*/ 0 h 89"/>
                  <a:gd name="T40" fmla="*/ 25 w 89"/>
                  <a:gd name="T41" fmla="*/ 3 h 89"/>
                  <a:gd name="T42" fmla="*/ 71 w 89"/>
                  <a:gd name="T43" fmla="*/ 70 h 89"/>
                  <a:gd name="T44" fmla="*/ 75 w 89"/>
                  <a:gd name="T45" fmla="*/ 62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89" h="89">
                    <a:moveTo>
                      <a:pt x="75" y="62"/>
                    </a:moveTo>
                    <a:cubicBezTo>
                      <a:pt x="80" y="50"/>
                      <a:pt x="78" y="40"/>
                      <a:pt x="74" y="33"/>
                    </a:cubicBezTo>
                    <a:cubicBezTo>
                      <a:pt x="70" y="25"/>
                      <a:pt x="64" y="23"/>
                      <a:pt x="64" y="21"/>
                    </a:cubicBezTo>
                    <a:cubicBezTo>
                      <a:pt x="65" y="21"/>
                      <a:pt x="65" y="20"/>
                      <a:pt x="66" y="21"/>
                    </a:cubicBezTo>
                    <a:cubicBezTo>
                      <a:pt x="67" y="21"/>
                      <a:pt x="68" y="22"/>
                      <a:pt x="70" y="23"/>
                    </a:cubicBezTo>
                    <a:cubicBezTo>
                      <a:pt x="89" y="38"/>
                      <a:pt x="89" y="38"/>
                      <a:pt x="89" y="38"/>
                    </a:cubicBezTo>
                    <a:cubicBezTo>
                      <a:pt x="85" y="46"/>
                      <a:pt x="81" y="54"/>
                      <a:pt x="77" y="62"/>
                    </a:cubicBezTo>
                    <a:cubicBezTo>
                      <a:pt x="73" y="71"/>
                      <a:pt x="70" y="79"/>
                      <a:pt x="66" y="88"/>
                    </a:cubicBezTo>
                    <a:cubicBezTo>
                      <a:pt x="65" y="89"/>
                      <a:pt x="65" y="89"/>
                      <a:pt x="64" y="89"/>
                    </a:cubicBezTo>
                    <a:cubicBezTo>
                      <a:pt x="64" y="88"/>
                      <a:pt x="63" y="88"/>
                      <a:pt x="62" y="86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3" y="24"/>
                      <a:pt x="13" y="24"/>
                      <a:pt x="13" y="24"/>
                    </a:cubicBezTo>
                    <a:cubicBezTo>
                      <a:pt x="8" y="36"/>
                      <a:pt x="9" y="45"/>
                      <a:pt x="14" y="53"/>
                    </a:cubicBezTo>
                    <a:cubicBezTo>
                      <a:pt x="20" y="61"/>
                      <a:pt x="21" y="61"/>
                      <a:pt x="21" y="62"/>
                    </a:cubicBezTo>
                    <a:cubicBezTo>
                      <a:pt x="20" y="63"/>
                      <a:pt x="20" y="63"/>
                      <a:pt x="19" y="63"/>
                    </a:cubicBezTo>
                    <a:cubicBezTo>
                      <a:pt x="19" y="63"/>
                      <a:pt x="18" y="62"/>
                      <a:pt x="17" y="61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3" y="39"/>
                      <a:pt x="7" y="32"/>
                      <a:pt x="11" y="24"/>
                    </a:cubicBezTo>
                    <a:cubicBezTo>
                      <a:pt x="14" y="17"/>
                      <a:pt x="17" y="9"/>
                      <a:pt x="21" y="1"/>
                    </a:cubicBezTo>
                    <a:cubicBezTo>
                      <a:pt x="22" y="0"/>
                      <a:pt x="22" y="0"/>
                      <a:pt x="23" y="0"/>
                    </a:cubicBezTo>
                    <a:cubicBezTo>
                      <a:pt x="23" y="0"/>
                      <a:pt x="24" y="2"/>
                      <a:pt x="25" y="3"/>
                    </a:cubicBezTo>
                    <a:cubicBezTo>
                      <a:pt x="71" y="70"/>
                      <a:pt x="71" y="70"/>
                      <a:pt x="71" y="70"/>
                    </a:cubicBezTo>
                    <a:lnTo>
                      <a:pt x="75" y="6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5" name="Freeform 20"/>
              <p:cNvSpPr/>
              <p:nvPr/>
            </p:nvSpPr>
            <p:spPr bwMode="auto">
              <a:xfrm>
                <a:off x="2625512" y="723267"/>
                <a:ext cx="631564" cy="636366"/>
              </a:xfrm>
              <a:custGeom>
                <a:avLst/>
                <a:gdLst>
                  <a:gd name="T0" fmla="*/ 13 w 111"/>
                  <a:gd name="T1" fmla="*/ 62 h 112"/>
                  <a:gd name="T2" fmla="*/ 1 w 111"/>
                  <a:gd name="T3" fmla="*/ 65 h 112"/>
                  <a:gd name="T4" fmla="*/ 2 w 111"/>
                  <a:gd name="T5" fmla="*/ 62 h 112"/>
                  <a:gd name="T6" fmla="*/ 12 w 111"/>
                  <a:gd name="T7" fmla="*/ 50 h 112"/>
                  <a:gd name="T8" fmla="*/ 21 w 111"/>
                  <a:gd name="T9" fmla="*/ 37 h 112"/>
                  <a:gd name="T10" fmla="*/ 24 w 111"/>
                  <a:gd name="T11" fmla="*/ 36 h 112"/>
                  <a:gd name="T12" fmla="*/ 24 w 111"/>
                  <a:gd name="T13" fmla="*/ 49 h 112"/>
                  <a:gd name="T14" fmla="*/ 44 w 111"/>
                  <a:gd name="T15" fmla="*/ 65 h 112"/>
                  <a:gd name="T16" fmla="*/ 63 w 111"/>
                  <a:gd name="T17" fmla="*/ 42 h 112"/>
                  <a:gd name="T18" fmla="*/ 42 w 111"/>
                  <a:gd name="T19" fmla="*/ 26 h 112"/>
                  <a:gd name="T20" fmla="*/ 30 w 111"/>
                  <a:gd name="T21" fmla="*/ 29 h 112"/>
                  <a:gd name="T22" fmla="*/ 30 w 111"/>
                  <a:gd name="T23" fmla="*/ 26 h 112"/>
                  <a:gd name="T24" fmla="*/ 40 w 111"/>
                  <a:gd name="T25" fmla="*/ 14 h 112"/>
                  <a:gd name="T26" fmla="*/ 50 w 111"/>
                  <a:gd name="T27" fmla="*/ 1 h 112"/>
                  <a:gd name="T28" fmla="*/ 53 w 111"/>
                  <a:gd name="T29" fmla="*/ 0 h 112"/>
                  <a:gd name="T30" fmla="*/ 53 w 111"/>
                  <a:gd name="T31" fmla="*/ 13 h 112"/>
                  <a:gd name="T32" fmla="*/ 98 w 111"/>
                  <a:gd name="T33" fmla="*/ 50 h 112"/>
                  <a:gd name="T34" fmla="*/ 111 w 111"/>
                  <a:gd name="T35" fmla="*/ 47 h 112"/>
                  <a:gd name="T36" fmla="*/ 110 w 111"/>
                  <a:gd name="T37" fmla="*/ 50 h 112"/>
                  <a:gd name="T38" fmla="*/ 100 w 111"/>
                  <a:gd name="T39" fmla="*/ 62 h 112"/>
                  <a:gd name="T40" fmla="*/ 91 w 111"/>
                  <a:gd name="T41" fmla="*/ 74 h 112"/>
                  <a:gd name="T42" fmla="*/ 88 w 111"/>
                  <a:gd name="T43" fmla="*/ 75 h 112"/>
                  <a:gd name="T44" fmla="*/ 88 w 111"/>
                  <a:gd name="T45" fmla="*/ 62 h 112"/>
                  <a:gd name="T46" fmla="*/ 65 w 111"/>
                  <a:gd name="T47" fmla="*/ 44 h 112"/>
                  <a:gd name="T48" fmla="*/ 46 w 111"/>
                  <a:gd name="T49" fmla="*/ 67 h 112"/>
                  <a:gd name="T50" fmla="*/ 69 w 111"/>
                  <a:gd name="T51" fmla="*/ 86 h 112"/>
                  <a:gd name="T52" fmla="*/ 82 w 111"/>
                  <a:gd name="T53" fmla="*/ 83 h 112"/>
                  <a:gd name="T54" fmla="*/ 81 w 111"/>
                  <a:gd name="T55" fmla="*/ 86 h 112"/>
                  <a:gd name="T56" fmla="*/ 71 w 111"/>
                  <a:gd name="T57" fmla="*/ 98 h 112"/>
                  <a:gd name="T58" fmla="*/ 62 w 111"/>
                  <a:gd name="T59" fmla="*/ 110 h 112"/>
                  <a:gd name="T60" fmla="*/ 59 w 111"/>
                  <a:gd name="T61" fmla="*/ 111 h 112"/>
                  <a:gd name="T62" fmla="*/ 59 w 111"/>
                  <a:gd name="T63" fmla="*/ 98 h 112"/>
                  <a:gd name="T64" fmla="*/ 13 w 111"/>
                  <a:gd name="T65" fmla="*/ 62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1" h="112">
                    <a:moveTo>
                      <a:pt x="13" y="62"/>
                    </a:moveTo>
                    <a:cubicBezTo>
                      <a:pt x="6" y="56"/>
                      <a:pt x="4" y="67"/>
                      <a:pt x="1" y="65"/>
                    </a:cubicBezTo>
                    <a:cubicBezTo>
                      <a:pt x="1" y="64"/>
                      <a:pt x="0" y="63"/>
                      <a:pt x="2" y="62"/>
                    </a:cubicBezTo>
                    <a:cubicBezTo>
                      <a:pt x="5" y="57"/>
                      <a:pt x="9" y="53"/>
                      <a:pt x="12" y="50"/>
                    </a:cubicBezTo>
                    <a:cubicBezTo>
                      <a:pt x="14" y="46"/>
                      <a:pt x="18" y="42"/>
                      <a:pt x="21" y="37"/>
                    </a:cubicBezTo>
                    <a:cubicBezTo>
                      <a:pt x="22" y="36"/>
                      <a:pt x="23" y="36"/>
                      <a:pt x="24" y="36"/>
                    </a:cubicBezTo>
                    <a:cubicBezTo>
                      <a:pt x="26" y="38"/>
                      <a:pt x="17" y="43"/>
                      <a:pt x="24" y="49"/>
                    </a:cubicBezTo>
                    <a:cubicBezTo>
                      <a:pt x="44" y="65"/>
                      <a:pt x="44" y="65"/>
                      <a:pt x="44" y="65"/>
                    </a:cubicBezTo>
                    <a:cubicBezTo>
                      <a:pt x="63" y="42"/>
                      <a:pt x="63" y="42"/>
                      <a:pt x="63" y="42"/>
                    </a:cubicBezTo>
                    <a:cubicBezTo>
                      <a:pt x="42" y="26"/>
                      <a:pt x="42" y="26"/>
                      <a:pt x="42" y="26"/>
                    </a:cubicBezTo>
                    <a:cubicBezTo>
                      <a:pt x="35" y="20"/>
                      <a:pt x="33" y="31"/>
                      <a:pt x="30" y="29"/>
                    </a:cubicBezTo>
                    <a:cubicBezTo>
                      <a:pt x="29" y="28"/>
                      <a:pt x="29" y="27"/>
                      <a:pt x="30" y="26"/>
                    </a:cubicBezTo>
                    <a:cubicBezTo>
                      <a:pt x="34" y="21"/>
                      <a:pt x="38" y="17"/>
                      <a:pt x="40" y="14"/>
                    </a:cubicBezTo>
                    <a:cubicBezTo>
                      <a:pt x="43" y="10"/>
                      <a:pt x="46" y="6"/>
                      <a:pt x="50" y="1"/>
                    </a:cubicBezTo>
                    <a:cubicBezTo>
                      <a:pt x="51" y="0"/>
                      <a:pt x="52" y="0"/>
                      <a:pt x="53" y="0"/>
                    </a:cubicBezTo>
                    <a:cubicBezTo>
                      <a:pt x="55" y="2"/>
                      <a:pt x="46" y="7"/>
                      <a:pt x="53" y="13"/>
                    </a:cubicBezTo>
                    <a:cubicBezTo>
                      <a:pt x="98" y="50"/>
                      <a:pt x="98" y="50"/>
                      <a:pt x="98" y="50"/>
                    </a:cubicBezTo>
                    <a:cubicBezTo>
                      <a:pt x="105" y="55"/>
                      <a:pt x="108" y="45"/>
                      <a:pt x="111" y="47"/>
                    </a:cubicBezTo>
                    <a:cubicBezTo>
                      <a:pt x="111" y="47"/>
                      <a:pt x="111" y="48"/>
                      <a:pt x="110" y="50"/>
                    </a:cubicBezTo>
                    <a:cubicBezTo>
                      <a:pt x="107" y="54"/>
                      <a:pt x="103" y="58"/>
                      <a:pt x="100" y="62"/>
                    </a:cubicBezTo>
                    <a:cubicBezTo>
                      <a:pt x="97" y="65"/>
                      <a:pt x="94" y="70"/>
                      <a:pt x="91" y="74"/>
                    </a:cubicBezTo>
                    <a:cubicBezTo>
                      <a:pt x="89" y="76"/>
                      <a:pt x="89" y="76"/>
                      <a:pt x="88" y="75"/>
                    </a:cubicBezTo>
                    <a:cubicBezTo>
                      <a:pt x="86" y="73"/>
                      <a:pt x="95" y="68"/>
                      <a:pt x="88" y="62"/>
                    </a:cubicBezTo>
                    <a:cubicBezTo>
                      <a:pt x="65" y="44"/>
                      <a:pt x="65" y="44"/>
                      <a:pt x="65" y="44"/>
                    </a:cubicBezTo>
                    <a:cubicBezTo>
                      <a:pt x="46" y="67"/>
                      <a:pt x="46" y="67"/>
                      <a:pt x="46" y="67"/>
                    </a:cubicBezTo>
                    <a:cubicBezTo>
                      <a:pt x="69" y="86"/>
                      <a:pt x="69" y="86"/>
                      <a:pt x="69" y="86"/>
                    </a:cubicBezTo>
                    <a:cubicBezTo>
                      <a:pt x="77" y="91"/>
                      <a:pt x="79" y="81"/>
                      <a:pt x="82" y="83"/>
                    </a:cubicBezTo>
                    <a:cubicBezTo>
                      <a:pt x="82" y="83"/>
                      <a:pt x="83" y="84"/>
                      <a:pt x="81" y="86"/>
                    </a:cubicBezTo>
                    <a:cubicBezTo>
                      <a:pt x="78" y="90"/>
                      <a:pt x="74" y="94"/>
                      <a:pt x="71" y="98"/>
                    </a:cubicBezTo>
                    <a:cubicBezTo>
                      <a:pt x="69" y="101"/>
                      <a:pt x="65" y="106"/>
                      <a:pt x="62" y="110"/>
                    </a:cubicBezTo>
                    <a:cubicBezTo>
                      <a:pt x="61" y="112"/>
                      <a:pt x="60" y="112"/>
                      <a:pt x="59" y="111"/>
                    </a:cubicBezTo>
                    <a:cubicBezTo>
                      <a:pt x="57" y="109"/>
                      <a:pt x="66" y="104"/>
                      <a:pt x="59" y="98"/>
                    </a:cubicBezTo>
                    <a:lnTo>
                      <a:pt x="13" y="6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6" name="Freeform 21"/>
              <p:cNvSpPr/>
              <p:nvPr/>
            </p:nvSpPr>
            <p:spPr bwMode="auto">
              <a:xfrm>
                <a:off x="3074570" y="387074"/>
                <a:ext cx="547515" cy="552318"/>
              </a:xfrm>
              <a:custGeom>
                <a:avLst/>
                <a:gdLst>
                  <a:gd name="T0" fmla="*/ 13 w 96"/>
                  <a:gd name="T1" fmla="*/ 36 h 97"/>
                  <a:gd name="T2" fmla="*/ 0 w 96"/>
                  <a:gd name="T3" fmla="*/ 36 h 97"/>
                  <a:gd name="T4" fmla="*/ 1 w 96"/>
                  <a:gd name="T5" fmla="*/ 33 h 97"/>
                  <a:gd name="T6" fmla="*/ 14 w 96"/>
                  <a:gd name="T7" fmla="*/ 24 h 97"/>
                  <a:gd name="T8" fmla="*/ 47 w 96"/>
                  <a:gd name="T9" fmla="*/ 0 h 97"/>
                  <a:gd name="T10" fmla="*/ 64 w 96"/>
                  <a:gd name="T11" fmla="*/ 14 h 97"/>
                  <a:gd name="T12" fmla="*/ 66 w 96"/>
                  <a:gd name="T13" fmla="*/ 16 h 97"/>
                  <a:gd name="T14" fmla="*/ 66 w 96"/>
                  <a:gd name="T15" fmla="*/ 18 h 97"/>
                  <a:gd name="T16" fmla="*/ 56 w 96"/>
                  <a:gd name="T17" fmla="*/ 13 h 97"/>
                  <a:gd name="T18" fmla="*/ 27 w 96"/>
                  <a:gd name="T19" fmla="*/ 18 h 97"/>
                  <a:gd name="T20" fmla="*/ 22 w 96"/>
                  <a:gd name="T21" fmla="*/ 21 h 97"/>
                  <a:gd name="T22" fmla="*/ 41 w 96"/>
                  <a:gd name="T23" fmla="*/ 48 h 97"/>
                  <a:gd name="T24" fmla="*/ 43 w 96"/>
                  <a:gd name="T25" fmla="*/ 46 h 97"/>
                  <a:gd name="T26" fmla="*/ 47 w 96"/>
                  <a:gd name="T27" fmla="*/ 26 h 97"/>
                  <a:gd name="T28" fmla="*/ 46 w 96"/>
                  <a:gd name="T29" fmla="*/ 23 h 97"/>
                  <a:gd name="T30" fmla="*/ 48 w 96"/>
                  <a:gd name="T31" fmla="*/ 24 h 97"/>
                  <a:gd name="T32" fmla="*/ 68 w 96"/>
                  <a:gd name="T33" fmla="*/ 52 h 97"/>
                  <a:gd name="T34" fmla="*/ 68 w 96"/>
                  <a:gd name="T35" fmla="*/ 54 h 97"/>
                  <a:gd name="T36" fmla="*/ 66 w 96"/>
                  <a:gd name="T37" fmla="*/ 53 h 97"/>
                  <a:gd name="T38" fmla="*/ 45 w 96"/>
                  <a:gd name="T39" fmla="*/ 48 h 97"/>
                  <a:gd name="T40" fmla="*/ 43 w 96"/>
                  <a:gd name="T41" fmla="*/ 50 h 97"/>
                  <a:gd name="T42" fmla="*/ 59 w 96"/>
                  <a:gd name="T43" fmla="*/ 73 h 97"/>
                  <a:gd name="T44" fmla="*/ 72 w 96"/>
                  <a:gd name="T45" fmla="*/ 74 h 97"/>
                  <a:gd name="T46" fmla="*/ 83 w 96"/>
                  <a:gd name="T47" fmla="*/ 37 h 97"/>
                  <a:gd name="T48" fmla="*/ 82 w 96"/>
                  <a:gd name="T49" fmla="*/ 33 h 97"/>
                  <a:gd name="T50" fmla="*/ 84 w 96"/>
                  <a:gd name="T51" fmla="*/ 34 h 97"/>
                  <a:gd name="T52" fmla="*/ 85 w 96"/>
                  <a:gd name="T53" fmla="*/ 37 h 97"/>
                  <a:gd name="T54" fmla="*/ 96 w 96"/>
                  <a:gd name="T55" fmla="*/ 60 h 97"/>
                  <a:gd name="T56" fmla="*/ 59 w 96"/>
                  <a:gd name="T57" fmla="*/ 86 h 97"/>
                  <a:gd name="T58" fmla="*/ 46 w 96"/>
                  <a:gd name="T59" fmla="*/ 96 h 97"/>
                  <a:gd name="T60" fmla="*/ 43 w 96"/>
                  <a:gd name="T61" fmla="*/ 96 h 97"/>
                  <a:gd name="T62" fmla="*/ 47 w 96"/>
                  <a:gd name="T63" fmla="*/ 84 h 97"/>
                  <a:gd name="T64" fmla="*/ 13 w 96"/>
                  <a:gd name="T65" fmla="*/ 36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96" h="97">
                    <a:moveTo>
                      <a:pt x="13" y="36"/>
                    </a:moveTo>
                    <a:cubicBezTo>
                      <a:pt x="7" y="29"/>
                      <a:pt x="2" y="38"/>
                      <a:pt x="0" y="36"/>
                    </a:cubicBezTo>
                    <a:cubicBezTo>
                      <a:pt x="0" y="35"/>
                      <a:pt x="0" y="34"/>
                      <a:pt x="1" y="33"/>
                    </a:cubicBezTo>
                    <a:cubicBezTo>
                      <a:pt x="6" y="30"/>
                      <a:pt x="10" y="27"/>
                      <a:pt x="14" y="24"/>
                    </a:cubicBezTo>
                    <a:cubicBezTo>
                      <a:pt x="25" y="16"/>
                      <a:pt x="36" y="8"/>
                      <a:pt x="47" y="0"/>
                    </a:cubicBezTo>
                    <a:cubicBezTo>
                      <a:pt x="64" y="14"/>
                      <a:pt x="64" y="14"/>
                      <a:pt x="64" y="14"/>
                    </a:cubicBezTo>
                    <a:cubicBezTo>
                      <a:pt x="66" y="16"/>
                      <a:pt x="66" y="16"/>
                      <a:pt x="66" y="16"/>
                    </a:cubicBezTo>
                    <a:cubicBezTo>
                      <a:pt x="67" y="17"/>
                      <a:pt x="67" y="17"/>
                      <a:pt x="66" y="18"/>
                    </a:cubicBezTo>
                    <a:cubicBezTo>
                      <a:pt x="65" y="18"/>
                      <a:pt x="64" y="17"/>
                      <a:pt x="56" y="13"/>
                    </a:cubicBezTo>
                    <a:cubicBezTo>
                      <a:pt x="47" y="9"/>
                      <a:pt x="38" y="10"/>
                      <a:pt x="27" y="18"/>
                    </a:cubicBezTo>
                    <a:cubicBezTo>
                      <a:pt x="22" y="21"/>
                      <a:pt x="22" y="21"/>
                      <a:pt x="22" y="21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3" y="46"/>
                      <a:pt x="43" y="46"/>
                      <a:pt x="43" y="46"/>
                    </a:cubicBezTo>
                    <a:cubicBezTo>
                      <a:pt x="50" y="42"/>
                      <a:pt x="51" y="33"/>
                      <a:pt x="47" y="26"/>
                    </a:cubicBezTo>
                    <a:cubicBezTo>
                      <a:pt x="46" y="25"/>
                      <a:pt x="46" y="24"/>
                      <a:pt x="46" y="23"/>
                    </a:cubicBezTo>
                    <a:cubicBezTo>
                      <a:pt x="47" y="23"/>
                      <a:pt x="48" y="23"/>
                      <a:pt x="48" y="24"/>
                    </a:cubicBezTo>
                    <a:cubicBezTo>
                      <a:pt x="68" y="52"/>
                      <a:pt x="68" y="52"/>
                      <a:pt x="68" y="52"/>
                    </a:cubicBezTo>
                    <a:cubicBezTo>
                      <a:pt x="69" y="53"/>
                      <a:pt x="69" y="54"/>
                      <a:pt x="68" y="54"/>
                    </a:cubicBezTo>
                    <a:cubicBezTo>
                      <a:pt x="68" y="55"/>
                      <a:pt x="67" y="54"/>
                      <a:pt x="66" y="53"/>
                    </a:cubicBezTo>
                    <a:cubicBezTo>
                      <a:pt x="59" y="45"/>
                      <a:pt x="52" y="44"/>
                      <a:pt x="45" y="48"/>
                    </a:cubicBezTo>
                    <a:cubicBezTo>
                      <a:pt x="43" y="50"/>
                      <a:pt x="43" y="50"/>
                      <a:pt x="43" y="50"/>
                    </a:cubicBezTo>
                    <a:cubicBezTo>
                      <a:pt x="59" y="73"/>
                      <a:pt x="59" y="73"/>
                      <a:pt x="59" y="73"/>
                    </a:cubicBezTo>
                    <a:cubicBezTo>
                      <a:pt x="62" y="77"/>
                      <a:pt x="66" y="78"/>
                      <a:pt x="72" y="74"/>
                    </a:cubicBezTo>
                    <a:cubicBezTo>
                      <a:pt x="86" y="64"/>
                      <a:pt x="86" y="48"/>
                      <a:pt x="83" y="37"/>
                    </a:cubicBezTo>
                    <a:cubicBezTo>
                      <a:pt x="82" y="35"/>
                      <a:pt x="81" y="34"/>
                      <a:pt x="82" y="33"/>
                    </a:cubicBezTo>
                    <a:cubicBezTo>
                      <a:pt x="83" y="33"/>
                      <a:pt x="83" y="33"/>
                      <a:pt x="84" y="34"/>
                    </a:cubicBezTo>
                    <a:cubicBezTo>
                      <a:pt x="84" y="34"/>
                      <a:pt x="85" y="36"/>
                      <a:pt x="85" y="37"/>
                    </a:cubicBezTo>
                    <a:cubicBezTo>
                      <a:pt x="96" y="60"/>
                      <a:pt x="96" y="60"/>
                      <a:pt x="96" y="60"/>
                    </a:cubicBezTo>
                    <a:cubicBezTo>
                      <a:pt x="84" y="69"/>
                      <a:pt x="71" y="77"/>
                      <a:pt x="59" y="86"/>
                    </a:cubicBezTo>
                    <a:cubicBezTo>
                      <a:pt x="55" y="89"/>
                      <a:pt x="51" y="92"/>
                      <a:pt x="46" y="96"/>
                    </a:cubicBezTo>
                    <a:cubicBezTo>
                      <a:pt x="45" y="97"/>
                      <a:pt x="44" y="97"/>
                      <a:pt x="43" y="96"/>
                    </a:cubicBezTo>
                    <a:cubicBezTo>
                      <a:pt x="41" y="93"/>
                      <a:pt x="52" y="91"/>
                      <a:pt x="47" y="84"/>
                    </a:cubicBezTo>
                    <a:lnTo>
                      <a:pt x="13" y="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22"/>
              <p:cNvSpPr/>
              <p:nvPr/>
            </p:nvSpPr>
            <p:spPr bwMode="auto">
              <a:xfrm>
                <a:off x="3542840" y="101308"/>
                <a:ext cx="528304" cy="576332"/>
              </a:xfrm>
              <a:custGeom>
                <a:avLst/>
                <a:gdLst>
                  <a:gd name="T0" fmla="*/ 35 w 93"/>
                  <a:gd name="T1" fmla="*/ 79 h 101"/>
                  <a:gd name="T2" fmla="*/ 47 w 93"/>
                  <a:gd name="T3" fmla="*/ 90 h 101"/>
                  <a:gd name="T4" fmla="*/ 53 w 93"/>
                  <a:gd name="T5" fmla="*/ 90 h 101"/>
                  <a:gd name="T6" fmla="*/ 52 w 93"/>
                  <a:gd name="T7" fmla="*/ 92 h 101"/>
                  <a:gd name="T8" fmla="*/ 40 w 93"/>
                  <a:gd name="T9" fmla="*/ 96 h 101"/>
                  <a:gd name="T10" fmla="*/ 28 w 93"/>
                  <a:gd name="T11" fmla="*/ 101 h 101"/>
                  <a:gd name="T12" fmla="*/ 26 w 93"/>
                  <a:gd name="T13" fmla="*/ 100 h 101"/>
                  <a:gd name="T14" fmla="*/ 31 w 93"/>
                  <a:gd name="T15" fmla="*/ 96 h 101"/>
                  <a:gd name="T16" fmla="*/ 33 w 93"/>
                  <a:gd name="T17" fmla="*/ 80 h 101"/>
                  <a:gd name="T18" fmla="*/ 15 w 93"/>
                  <a:gd name="T19" fmla="*/ 34 h 101"/>
                  <a:gd name="T20" fmla="*/ 3 w 93"/>
                  <a:gd name="T21" fmla="*/ 31 h 101"/>
                  <a:gd name="T22" fmla="*/ 0 w 93"/>
                  <a:gd name="T23" fmla="*/ 30 h 101"/>
                  <a:gd name="T24" fmla="*/ 1 w 93"/>
                  <a:gd name="T25" fmla="*/ 29 h 101"/>
                  <a:gd name="T26" fmla="*/ 12 w 93"/>
                  <a:gd name="T27" fmla="*/ 25 h 101"/>
                  <a:gd name="T28" fmla="*/ 24 w 93"/>
                  <a:gd name="T29" fmla="*/ 20 h 101"/>
                  <a:gd name="T30" fmla="*/ 80 w 93"/>
                  <a:gd name="T31" fmla="*/ 53 h 101"/>
                  <a:gd name="T32" fmla="*/ 80 w 93"/>
                  <a:gd name="T33" fmla="*/ 53 h 101"/>
                  <a:gd name="T34" fmla="*/ 68 w 93"/>
                  <a:gd name="T35" fmla="*/ 22 h 101"/>
                  <a:gd name="T36" fmla="*/ 57 w 93"/>
                  <a:gd name="T37" fmla="*/ 11 h 101"/>
                  <a:gd name="T38" fmla="*/ 50 w 93"/>
                  <a:gd name="T39" fmla="*/ 11 h 101"/>
                  <a:gd name="T40" fmla="*/ 51 w 93"/>
                  <a:gd name="T41" fmla="*/ 10 h 101"/>
                  <a:gd name="T42" fmla="*/ 64 w 93"/>
                  <a:gd name="T43" fmla="*/ 5 h 101"/>
                  <a:gd name="T44" fmla="*/ 76 w 93"/>
                  <a:gd name="T45" fmla="*/ 0 h 101"/>
                  <a:gd name="T46" fmla="*/ 77 w 93"/>
                  <a:gd name="T47" fmla="*/ 1 h 101"/>
                  <a:gd name="T48" fmla="*/ 72 w 93"/>
                  <a:gd name="T49" fmla="*/ 5 h 101"/>
                  <a:gd name="T50" fmla="*/ 71 w 93"/>
                  <a:gd name="T51" fmla="*/ 21 h 101"/>
                  <a:gd name="T52" fmla="*/ 92 w 93"/>
                  <a:gd name="T53" fmla="*/ 76 h 101"/>
                  <a:gd name="T54" fmla="*/ 92 w 93"/>
                  <a:gd name="T55" fmla="*/ 79 h 101"/>
                  <a:gd name="T56" fmla="*/ 88 w 93"/>
                  <a:gd name="T57" fmla="*/ 78 h 101"/>
                  <a:gd name="T58" fmla="*/ 19 w 93"/>
                  <a:gd name="T59" fmla="*/ 36 h 101"/>
                  <a:gd name="T60" fmla="*/ 19 w 93"/>
                  <a:gd name="T61" fmla="*/ 36 h 101"/>
                  <a:gd name="T62" fmla="*/ 35 w 93"/>
                  <a:gd name="T63" fmla="*/ 79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93" h="101">
                    <a:moveTo>
                      <a:pt x="35" y="79"/>
                    </a:moveTo>
                    <a:cubicBezTo>
                      <a:pt x="39" y="88"/>
                      <a:pt x="43" y="90"/>
                      <a:pt x="47" y="90"/>
                    </a:cubicBezTo>
                    <a:cubicBezTo>
                      <a:pt x="50" y="90"/>
                      <a:pt x="53" y="88"/>
                      <a:pt x="53" y="90"/>
                    </a:cubicBezTo>
                    <a:cubicBezTo>
                      <a:pt x="54" y="91"/>
                      <a:pt x="54" y="91"/>
                      <a:pt x="52" y="92"/>
                    </a:cubicBezTo>
                    <a:cubicBezTo>
                      <a:pt x="49" y="93"/>
                      <a:pt x="45" y="94"/>
                      <a:pt x="40" y="96"/>
                    </a:cubicBezTo>
                    <a:cubicBezTo>
                      <a:pt x="36" y="98"/>
                      <a:pt x="32" y="99"/>
                      <a:pt x="28" y="101"/>
                    </a:cubicBezTo>
                    <a:cubicBezTo>
                      <a:pt x="27" y="101"/>
                      <a:pt x="27" y="101"/>
                      <a:pt x="26" y="100"/>
                    </a:cubicBezTo>
                    <a:cubicBezTo>
                      <a:pt x="26" y="98"/>
                      <a:pt x="29" y="98"/>
                      <a:pt x="31" y="96"/>
                    </a:cubicBezTo>
                    <a:cubicBezTo>
                      <a:pt x="34" y="93"/>
                      <a:pt x="36" y="89"/>
                      <a:pt x="33" y="80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0" y="30"/>
                      <a:pt x="6" y="30"/>
                      <a:pt x="3" y="31"/>
                    </a:cubicBezTo>
                    <a:cubicBezTo>
                      <a:pt x="1" y="31"/>
                      <a:pt x="0" y="31"/>
                      <a:pt x="0" y="30"/>
                    </a:cubicBezTo>
                    <a:cubicBezTo>
                      <a:pt x="0" y="29"/>
                      <a:pt x="0" y="29"/>
                      <a:pt x="1" y="29"/>
                    </a:cubicBezTo>
                    <a:cubicBezTo>
                      <a:pt x="4" y="27"/>
                      <a:pt x="8" y="26"/>
                      <a:pt x="12" y="25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80" y="53"/>
                      <a:pt x="80" y="53"/>
                      <a:pt x="80" y="53"/>
                    </a:cubicBezTo>
                    <a:cubicBezTo>
                      <a:pt x="80" y="53"/>
                      <a:pt x="80" y="53"/>
                      <a:pt x="80" y="53"/>
                    </a:cubicBezTo>
                    <a:cubicBezTo>
                      <a:pt x="68" y="22"/>
                      <a:pt x="68" y="22"/>
                      <a:pt x="68" y="22"/>
                    </a:cubicBezTo>
                    <a:cubicBezTo>
                      <a:pt x="65" y="14"/>
                      <a:pt x="61" y="11"/>
                      <a:pt x="57" y="11"/>
                    </a:cubicBezTo>
                    <a:cubicBezTo>
                      <a:pt x="53" y="11"/>
                      <a:pt x="51" y="13"/>
                      <a:pt x="50" y="11"/>
                    </a:cubicBezTo>
                    <a:cubicBezTo>
                      <a:pt x="50" y="11"/>
                      <a:pt x="50" y="10"/>
                      <a:pt x="51" y="10"/>
                    </a:cubicBezTo>
                    <a:cubicBezTo>
                      <a:pt x="55" y="8"/>
                      <a:pt x="59" y="7"/>
                      <a:pt x="64" y="5"/>
                    </a:cubicBezTo>
                    <a:cubicBezTo>
                      <a:pt x="68" y="4"/>
                      <a:pt x="72" y="2"/>
                      <a:pt x="76" y="0"/>
                    </a:cubicBezTo>
                    <a:cubicBezTo>
                      <a:pt x="77" y="0"/>
                      <a:pt x="77" y="0"/>
                      <a:pt x="77" y="1"/>
                    </a:cubicBezTo>
                    <a:cubicBezTo>
                      <a:pt x="78" y="3"/>
                      <a:pt x="75" y="3"/>
                      <a:pt x="72" y="5"/>
                    </a:cubicBezTo>
                    <a:cubicBezTo>
                      <a:pt x="70" y="8"/>
                      <a:pt x="68" y="13"/>
                      <a:pt x="71" y="21"/>
                    </a:cubicBezTo>
                    <a:cubicBezTo>
                      <a:pt x="92" y="76"/>
                      <a:pt x="92" y="76"/>
                      <a:pt x="92" y="76"/>
                    </a:cubicBezTo>
                    <a:cubicBezTo>
                      <a:pt x="92" y="78"/>
                      <a:pt x="93" y="79"/>
                      <a:pt x="92" y="79"/>
                    </a:cubicBezTo>
                    <a:cubicBezTo>
                      <a:pt x="91" y="80"/>
                      <a:pt x="90" y="79"/>
                      <a:pt x="88" y="78"/>
                    </a:cubicBezTo>
                    <a:cubicBezTo>
                      <a:pt x="19" y="36"/>
                      <a:pt x="19" y="36"/>
                      <a:pt x="19" y="36"/>
                    </a:cubicBezTo>
                    <a:cubicBezTo>
                      <a:pt x="19" y="36"/>
                      <a:pt x="19" y="36"/>
                      <a:pt x="19" y="36"/>
                    </a:cubicBezTo>
                    <a:lnTo>
                      <a:pt x="35" y="7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8" name="Oval 23"/>
              <p:cNvSpPr>
                <a:spLocks noChangeArrowheads="1"/>
              </p:cNvSpPr>
              <p:nvPr/>
            </p:nvSpPr>
            <p:spPr bwMode="auto">
              <a:xfrm>
                <a:off x="3365138" y="4068392"/>
                <a:ext cx="120069" cy="12006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Oval 24"/>
              <p:cNvSpPr>
                <a:spLocks noChangeArrowheads="1"/>
              </p:cNvSpPr>
              <p:nvPr/>
            </p:nvSpPr>
            <p:spPr bwMode="auto">
              <a:xfrm>
                <a:off x="5658458" y="4068392"/>
                <a:ext cx="120069" cy="12006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25"/>
              <p:cNvSpPr/>
              <p:nvPr/>
            </p:nvSpPr>
            <p:spPr bwMode="auto">
              <a:xfrm>
                <a:off x="3701332" y="4102011"/>
                <a:ext cx="312180" cy="473071"/>
              </a:xfrm>
              <a:custGeom>
                <a:avLst/>
                <a:gdLst>
                  <a:gd name="T0" fmla="*/ 34 w 55"/>
                  <a:gd name="T1" fmla="*/ 67 h 83"/>
                  <a:gd name="T2" fmla="*/ 41 w 55"/>
                  <a:gd name="T3" fmla="*/ 77 h 83"/>
                  <a:gd name="T4" fmla="*/ 47 w 55"/>
                  <a:gd name="T5" fmla="*/ 82 h 83"/>
                  <a:gd name="T6" fmla="*/ 45 w 55"/>
                  <a:gd name="T7" fmla="*/ 82 h 83"/>
                  <a:gd name="T8" fmla="*/ 23 w 55"/>
                  <a:gd name="T9" fmla="*/ 75 h 83"/>
                  <a:gd name="T10" fmla="*/ 1 w 55"/>
                  <a:gd name="T11" fmla="*/ 68 h 83"/>
                  <a:gd name="T12" fmla="*/ 0 w 55"/>
                  <a:gd name="T13" fmla="*/ 66 h 83"/>
                  <a:gd name="T14" fmla="*/ 8 w 55"/>
                  <a:gd name="T15" fmla="*/ 67 h 83"/>
                  <a:gd name="T16" fmla="*/ 19 w 55"/>
                  <a:gd name="T17" fmla="*/ 62 h 83"/>
                  <a:gd name="T18" fmla="*/ 36 w 55"/>
                  <a:gd name="T19" fmla="*/ 12 h 83"/>
                  <a:gd name="T20" fmla="*/ 34 w 55"/>
                  <a:gd name="T21" fmla="*/ 8 h 83"/>
                  <a:gd name="T22" fmla="*/ 20 w 55"/>
                  <a:gd name="T23" fmla="*/ 4 h 83"/>
                  <a:gd name="T24" fmla="*/ 18 w 55"/>
                  <a:gd name="T25" fmla="*/ 2 h 83"/>
                  <a:gd name="T26" fmla="*/ 30 w 55"/>
                  <a:gd name="T27" fmla="*/ 4 h 83"/>
                  <a:gd name="T28" fmla="*/ 54 w 55"/>
                  <a:gd name="T29" fmla="*/ 3 h 83"/>
                  <a:gd name="T30" fmla="*/ 55 w 55"/>
                  <a:gd name="T31" fmla="*/ 6 h 83"/>
                  <a:gd name="T32" fmla="*/ 34 w 55"/>
                  <a:gd name="T33" fmla="*/ 67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5" h="83">
                    <a:moveTo>
                      <a:pt x="34" y="67"/>
                    </a:moveTo>
                    <a:cubicBezTo>
                      <a:pt x="33" y="72"/>
                      <a:pt x="35" y="75"/>
                      <a:pt x="41" y="77"/>
                    </a:cubicBezTo>
                    <a:cubicBezTo>
                      <a:pt x="46" y="80"/>
                      <a:pt x="48" y="80"/>
                      <a:pt x="47" y="82"/>
                    </a:cubicBezTo>
                    <a:cubicBezTo>
                      <a:pt x="47" y="82"/>
                      <a:pt x="46" y="83"/>
                      <a:pt x="45" y="82"/>
                    </a:cubicBezTo>
                    <a:cubicBezTo>
                      <a:pt x="38" y="80"/>
                      <a:pt x="30" y="77"/>
                      <a:pt x="23" y="75"/>
                    </a:cubicBezTo>
                    <a:cubicBezTo>
                      <a:pt x="16" y="73"/>
                      <a:pt x="9" y="70"/>
                      <a:pt x="1" y="68"/>
                    </a:cubicBezTo>
                    <a:cubicBezTo>
                      <a:pt x="0" y="68"/>
                      <a:pt x="0" y="67"/>
                      <a:pt x="0" y="66"/>
                    </a:cubicBezTo>
                    <a:cubicBezTo>
                      <a:pt x="1" y="65"/>
                      <a:pt x="2" y="65"/>
                      <a:pt x="8" y="67"/>
                    </a:cubicBezTo>
                    <a:cubicBezTo>
                      <a:pt x="14" y="68"/>
                      <a:pt x="17" y="67"/>
                      <a:pt x="19" y="62"/>
                    </a:cubicBezTo>
                    <a:cubicBezTo>
                      <a:pt x="36" y="12"/>
                      <a:pt x="36" y="12"/>
                      <a:pt x="36" y="12"/>
                    </a:cubicBezTo>
                    <a:cubicBezTo>
                      <a:pt x="37" y="10"/>
                      <a:pt x="36" y="9"/>
                      <a:pt x="34" y="8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19" y="3"/>
                      <a:pt x="18" y="3"/>
                      <a:pt x="18" y="2"/>
                    </a:cubicBezTo>
                    <a:cubicBezTo>
                      <a:pt x="19" y="0"/>
                      <a:pt x="21" y="2"/>
                      <a:pt x="30" y="4"/>
                    </a:cubicBezTo>
                    <a:cubicBezTo>
                      <a:pt x="45" y="7"/>
                      <a:pt x="52" y="3"/>
                      <a:pt x="54" y="3"/>
                    </a:cubicBezTo>
                    <a:cubicBezTo>
                      <a:pt x="55" y="4"/>
                      <a:pt x="55" y="4"/>
                      <a:pt x="55" y="6"/>
                    </a:cubicBezTo>
                    <a:lnTo>
                      <a:pt x="34" y="6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26"/>
              <p:cNvSpPr>
                <a:spLocks noEditPoints="1"/>
              </p:cNvSpPr>
              <p:nvPr/>
            </p:nvSpPr>
            <p:spPr bwMode="auto">
              <a:xfrm>
                <a:off x="4162397" y="4176455"/>
                <a:ext cx="340996" cy="449058"/>
              </a:xfrm>
              <a:custGeom>
                <a:avLst/>
                <a:gdLst>
                  <a:gd name="T0" fmla="*/ 32 w 60"/>
                  <a:gd name="T1" fmla="*/ 2 h 79"/>
                  <a:gd name="T2" fmla="*/ 58 w 60"/>
                  <a:gd name="T3" fmla="*/ 39 h 79"/>
                  <a:gd name="T4" fmla="*/ 8 w 60"/>
                  <a:gd name="T5" fmla="*/ 79 h 79"/>
                  <a:gd name="T6" fmla="*/ 7 w 60"/>
                  <a:gd name="T7" fmla="*/ 78 h 79"/>
                  <a:gd name="T8" fmla="*/ 40 w 60"/>
                  <a:gd name="T9" fmla="*/ 46 h 79"/>
                  <a:gd name="T10" fmla="*/ 25 w 60"/>
                  <a:gd name="T11" fmla="*/ 49 h 79"/>
                  <a:gd name="T12" fmla="*/ 1 w 60"/>
                  <a:gd name="T13" fmla="*/ 23 h 79"/>
                  <a:gd name="T14" fmla="*/ 32 w 60"/>
                  <a:gd name="T15" fmla="*/ 2 h 79"/>
                  <a:gd name="T16" fmla="*/ 28 w 60"/>
                  <a:gd name="T17" fmla="*/ 47 h 79"/>
                  <a:gd name="T18" fmla="*/ 41 w 60"/>
                  <a:gd name="T19" fmla="*/ 42 h 79"/>
                  <a:gd name="T20" fmla="*/ 44 w 60"/>
                  <a:gd name="T21" fmla="*/ 32 h 79"/>
                  <a:gd name="T22" fmla="*/ 32 w 60"/>
                  <a:gd name="T23" fmla="*/ 4 h 79"/>
                  <a:gd name="T24" fmla="*/ 16 w 60"/>
                  <a:gd name="T25" fmla="*/ 24 h 79"/>
                  <a:gd name="T26" fmla="*/ 28 w 60"/>
                  <a:gd name="T27" fmla="*/ 47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0" h="79">
                    <a:moveTo>
                      <a:pt x="32" y="2"/>
                    </a:moveTo>
                    <a:cubicBezTo>
                      <a:pt x="51" y="4"/>
                      <a:pt x="60" y="20"/>
                      <a:pt x="58" y="39"/>
                    </a:cubicBezTo>
                    <a:cubicBezTo>
                      <a:pt x="55" y="71"/>
                      <a:pt x="13" y="79"/>
                      <a:pt x="8" y="79"/>
                    </a:cubicBezTo>
                    <a:cubicBezTo>
                      <a:pt x="7" y="79"/>
                      <a:pt x="7" y="78"/>
                      <a:pt x="7" y="78"/>
                    </a:cubicBezTo>
                    <a:cubicBezTo>
                      <a:pt x="7" y="76"/>
                      <a:pt x="31" y="73"/>
                      <a:pt x="40" y="46"/>
                    </a:cubicBezTo>
                    <a:cubicBezTo>
                      <a:pt x="36" y="48"/>
                      <a:pt x="31" y="50"/>
                      <a:pt x="25" y="49"/>
                    </a:cubicBezTo>
                    <a:cubicBezTo>
                      <a:pt x="6" y="47"/>
                      <a:pt x="0" y="34"/>
                      <a:pt x="1" y="23"/>
                    </a:cubicBezTo>
                    <a:cubicBezTo>
                      <a:pt x="2" y="10"/>
                      <a:pt x="13" y="0"/>
                      <a:pt x="32" y="2"/>
                    </a:cubicBezTo>
                    <a:close/>
                    <a:moveTo>
                      <a:pt x="28" y="47"/>
                    </a:moveTo>
                    <a:cubicBezTo>
                      <a:pt x="33" y="47"/>
                      <a:pt x="40" y="44"/>
                      <a:pt x="41" y="42"/>
                    </a:cubicBezTo>
                    <a:cubicBezTo>
                      <a:pt x="42" y="41"/>
                      <a:pt x="43" y="36"/>
                      <a:pt x="44" y="32"/>
                    </a:cubicBezTo>
                    <a:cubicBezTo>
                      <a:pt x="46" y="12"/>
                      <a:pt x="40" y="5"/>
                      <a:pt x="32" y="4"/>
                    </a:cubicBezTo>
                    <a:cubicBezTo>
                      <a:pt x="25" y="4"/>
                      <a:pt x="18" y="7"/>
                      <a:pt x="16" y="24"/>
                    </a:cubicBezTo>
                    <a:cubicBezTo>
                      <a:pt x="15" y="39"/>
                      <a:pt x="21" y="46"/>
                      <a:pt x="28" y="4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27"/>
              <p:cNvSpPr>
                <a:spLocks noEditPoints="1"/>
              </p:cNvSpPr>
              <p:nvPr/>
            </p:nvSpPr>
            <p:spPr bwMode="auto">
              <a:xfrm>
                <a:off x="4618660" y="4188461"/>
                <a:ext cx="340996" cy="461065"/>
              </a:xfrm>
              <a:custGeom>
                <a:avLst/>
                <a:gdLst>
                  <a:gd name="T0" fmla="*/ 12 w 60"/>
                  <a:gd name="T1" fmla="*/ 41 h 81"/>
                  <a:gd name="T2" fmla="*/ 1 w 60"/>
                  <a:gd name="T3" fmla="*/ 25 h 81"/>
                  <a:gd name="T4" fmla="*/ 27 w 60"/>
                  <a:gd name="T5" fmla="*/ 1 h 81"/>
                  <a:gd name="T6" fmla="*/ 51 w 60"/>
                  <a:gd name="T7" fmla="*/ 17 h 81"/>
                  <a:gd name="T8" fmla="*/ 43 w 60"/>
                  <a:gd name="T9" fmla="*/ 34 h 81"/>
                  <a:gd name="T10" fmla="*/ 58 w 60"/>
                  <a:gd name="T11" fmla="*/ 54 h 81"/>
                  <a:gd name="T12" fmla="*/ 29 w 60"/>
                  <a:gd name="T13" fmla="*/ 80 h 81"/>
                  <a:gd name="T14" fmla="*/ 1 w 60"/>
                  <a:gd name="T15" fmla="*/ 61 h 81"/>
                  <a:gd name="T16" fmla="*/ 12 w 60"/>
                  <a:gd name="T17" fmla="*/ 41 h 81"/>
                  <a:gd name="T18" fmla="*/ 29 w 60"/>
                  <a:gd name="T19" fmla="*/ 78 h 81"/>
                  <a:gd name="T20" fmla="*/ 45 w 60"/>
                  <a:gd name="T21" fmla="*/ 60 h 81"/>
                  <a:gd name="T22" fmla="*/ 29 w 60"/>
                  <a:gd name="T23" fmla="*/ 46 h 81"/>
                  <a:gd name="T24" fmla="*/ 15 w 60"/>
                  <a:gd name="T25" fmla="*/ 42 h 81"/>
                  <a:gd name="T26" fmla="*/ 8 w 60"/>
                  <a:gd name="T27" fmla="*/ 58 h 81"/>
                  <a:gd name="T28" fmla="*/ 29 w 60"/>
                  <a:gd name="T29" fmla="*/ 78 h 81"/>
                  <a:gd name="T30" fmla="*/ 27 w 60"/>
                  <a:gd name="T31" fmla="*/ 3 h 81"/>
                  <a:gd name="T32" fmla="*/ 15 w 60"/>
                  <a:gd name="T33" fmla="*/ 17 h 81"/>
                  <a:gd name="T34" fmla="*/ 41 w 60"/>
                  <a:gd name="T35" fmla="*/ 33 h 81"/>
                  <a:gd name="T36" fmla="*/ 45 w 60"/>
                  <a:gd name="T37" fmla="*/ 19 h 81"/>
                  <a:gd name="T38" fmla="*/ 27 w 60"/>
                  <a:gd name="T39" fmla="*/ 3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60" h="81">
                    <a:moveTo>
                      <a:pt x="12" y="41"/>
                    </a:moveTo>
                    <a:cubicBezTo>
                      <a:pt x="5" y="37"/>
                      <a:pt x="2" y="31"/>
                      <a:pt x="1" y="25"/>
                    </a:cubicBezTo>
                    <a:cubicBezTo>
                      <a:pt x="0" y="13"/>
                      <a:pt x="11" y="2"/>
                      <a:pt x="27" y="1"/>
                    </a:cubicBezTo>
                    <a:cubicBezTo>
                      <a:pt x="40" y="0"/>
                      <a:pt x="50" y="7"/>
                      <a:pt x="51" y="17"/>
                    </a:cubicBezTo>
                    <a:cubicBezTo>
                      <a:pt x="51" y="23"/>
                      <a:pt x="48" y="30"/>
                      <a:pt x="43" y="34"/>
                    </a:cubicBezTo>
                    <a:cubicBezTo>
                      <a:pt x="52" y="36"/>
                      <a:pt x="58" y="44"/>
                      <a:pt x="58" y="54"/>
                    </a:cubicBezTo>
                    <a:cubicBezTo>
                      <a:pt x="60" y="67"/>
                      <a:pt x="48" y="78"/>
                      <a:pt x="29" y="80"/>
                    </a:cubicBezTo>
                    <a:cubicBezTo>
                      <a:pt x="13" y="81"/>
                      <a:pt x="2" y="72"/>
                      <a:pt x="1" y="61"/>
                    </a:cubicBezTo>
                    <a:cubicBezTo>
                      <a:pt x="0" y="54"/>
                      <a:pt x="4" y="46"/>
                      <a:pt x="12" y="41"/>
                    </a:cubicBezTo>
                    <a:close/>
                    <a:moveTo>
                      <a:pt x="29" y="78"/>
                    </a:moveTo>
                    <a:cubicBezTo>
                      <a:pt x="40" y="77"/>
                      <a:pt x="46" y="69"/>
                      <a:pt x="45" y="60"/>
                    </a:cubicBezTo>
                    <a:cubicBezTo>
                      <a:pt x="44" y="54"/>
                      <a:pt x="41" y="50"/>
                      <a:pt x="29" y="46"/>
                    </a:cubicBezTo>
                    <a:cubicBezTo>
                      <a:pt x="17" y="43"/>
                      <a:pt x="16" y="42"/>
                      <a:pt x="15" y="42"/>
                    </a:cubicBezTo>
                    <a:cubicBezTo>
                      <a:pt x="13" y="42"/>
                      <a:pt x="7" y="49"/>
                      <a:pt x="8" y="58"/>
                    </a:cubicBezTo>
                    <a:cubicBezTo>
                      <a:pt x="9" y="71"/>
                      <a:pt x="17" y="79"/>
                      <a:pt x="29" y="78"/>
                    </a:cubicBezTo>
                    <a:close/>
                    <a:moveTo>
                      <a:pt x="27" y="3"/>
                    </a:moveTo>
                    <a:cubicBezTo>
                      <a:pt x="19" y="4"/>
                      <a:pt x="14" y="9"/>
                      <a:pt x="15" y="17"/>
                    </a:cubicBezTo>
                    <a:cubicBezTo>
                      <a:pt x="16" y="29"/>
                      <a:pt x="33" y="31"/>
                      <a:pt x="41" y="33"/>
                    </a:cubicBezTo>
                    <a:cubicBezTo>
                      <a:pt x="44" y="30"/>
                      <a:pt x="45" y="27"/>
                      <a:pt x="45" y="19"/>
                    </a:cubicBezTo>
                    <a:cubicBezTo>
                      <a:pt x="44" y="8"/>
                      <a:pt x="37" y="2"/>
                      <a:pt x="27" y="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28"/>
              <p:cNvSpPr/>
              <p:nvPr/>
            </p:nvSpPr>
            <p:spPr bwMode="auto">
              <a:xfrm>
                <a:off x="5038901" y="4102011"/>
                <a:ext cx="369813" cy="480277"/>
              </a:xfrm>
              <a:custGeom>
                <a:avLst/>
                <a:gdLst>
                  <a:gd name="T0" fmla="*/ 43 w 65"/>
                  <a:gd name="T1" fmla="*/ 28 h 84"/>
                  <a:gd name="T2" fmla="*/ 61 w 65"/>
                  <a:gd name="T3" fmla="*/ 44 h 84"/>
                  <a:gd name="T4" fmla="*/ 39 w 65"/>
                  <a:gd name="T5" fmla="*/ 79 h 84"/>
                  <a:gd name="T6" fmla="*/ 9 w 65"/>
                  <a:gd name="T7" fmla="*/ 72 h 84"/>
                  <a:gd name="T8" fmla="*/ 14 w 65"/>
                  <a:gd name="T9" fmla="*/ 62 h 84"/>
                  <a:gd name="T10" fmla="*/ 25 w 65"/>
                  <a:gd name="T11" fmla="*/ 70 h 84"/>
                  <a:gd name="T12" fmla="*/ 38 w 65"/>
                  <a:gd name="T13" fmla="*/ 77 h 84"/>
                  <a:gd name="T14" fmla="*/ 48 w 65"/>
                  <a:gd name="T15" fmla="*/ 55 h 84"/>
                  <a:gd name="T16" fmla="*/ 31 w 65"/>
                  <a:gd name="T17" fmla="*/ 41 h 84"/>
                  <a:gd name="T18" fmla="*/ 21 w 65"/>
                  <a:gd name="T19" fmla="*/ 42 h 84"/>
                  <a:gd name="T20" fmla="*/ 30 w 65"/>
                  <a:gd name="T21" fmla="*/ 36 h 84"/>
                  <a:gd name="T22" fmla="*/ 32 w 65"/>
                  <a:gd name="T23" fmla="*/ 21 h 84"/>
                  <a:gd name="T24" fmla="*/ 14 w 65"/>
                  <a:gd name="T25" fmla="*/ 13 h 84"/>
                  <a:gd name="T26" fmla="*/ 2 w 65"/>
                  <a:gd name="T27" fmla="*/ 26 h 84"/>
                  <a:gd name="T28" fmla="*/ 1 w 65"/>
                  <a:gd name="T29" fmla="*/ 26 h 84"/>
                  <a:gd name="T30" fmla="*/ 18 w 65"/>
                  <a:gd name="T31" fmla="*/ 3 h 84"/>
                  <a:gd name="T32" fmla="*/ 45 w 65"/>
                  <a:gd name="T33" fmla="*/ 14 h 84"/>
                  <a:gd name="T34" fmla="*/ 43 w 65"/>
                  <a:gd name="T35" fmla="*/ 28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5" h="84">
                    <a:moveTo>
                      <a:pt x="43" y="28"/>
                    </a:moveTo>
                    <a:cubicBezTo>
                      <a:pt x="51" y="31"/>
                      <a:pt x="58" y="35"/>
                      <a:pt x="61" y="44"/>
                    </a:cubicBezTo>
                    <a:cubicBezTo>
                      <a:pt x="65" y="58"/>
                      <a:pt x="55" y="74"/>
                      <a:pt x="39" y="79"/>
                    </a:cubicBezTo>
                    <a:cubicBezTo>
                      <a:pt x="24" y="84"/>
                      <a:pt x="11" y="80"/>
                      <a:pt x="9" y="72"/>
                    </a:cubicBezTo>
                    <a:cubicBezTo>
                      <a:pt x="8" y="68"/>
                      <a:pt x="10" y="63"/>
                      <a:pt x="14" y="62"/>
                    </a:cubicBezTo>
                    <a:cubicBezTo>
                      <a:pt x="20" y="60"/>
                      <a:pt x="23" y="62"/>
                      <a:pt x="25" y="70"/>
                    </a:cubicBezTo>
                    <a:cubicBezTo>
                      <a:pt x="28" y="77"/>
                      <a:pt x="33" y="79"/>
                      <a:pt x="38" y="77"/>
                    </a:cubicBezTo>
                    <a:cubicBezTo>
                      <a:pt x="47" y="74"/>
                      <a:pt x="51" y="66"/>
                      <a:pt x="48" y="55"/>
                    </a:cubicBezTo>
                    <a:cubicBezTo>
                      <a:pt x="45" y="46"/>
                      <a:pt x="38" y="41"/>
                      <a:pt x="31" y="41"/>
                    </a:cubicBezTo>
                    <a:cubicBezTo>
                      <a:pt x="26" y="41"/>
                      <a:pt x="22" y="43"/>
                      <a:pt x="21" y="42"/>
                    </a:cubicBezTo>
                    <a:cubicBezTo>
                      <a:pt x="21" y="39"/>
                      <a:pt x="26" y="40"/>
                      <a:pt x="30" y="36"/>
                    </a:cubicBezTo>
                    <a:cubicBezTo>
                      <a:pt x="33" y="33"/>
                      <a:pt x="34" y="27"/>
                      <a:pt x="32" y="21"/>
                    </a:cubicBezTo>
                    <a:cubicBezTo>
                      <a:pt x="29" y="13"/>
                      <a:pt x="23" y="10"/>
                      <a:pt x="14" y="13"/>
                    </a:cubicBezTo>
                    <a:cubicBezTo>
                      <a:pt x="2" y="17"/>
                      <a:pt x="4" y="26"/>
                      <a:pt x="2" y="26"/>
                    </a:cubicBezTo>
                    <a:cubicBezTo>
                      <a:pt x="1" y="27"/>
                      <a:pt x="1" y="26"/>
                      <a:pt x="1" y="26"/>
                    </a:cubicBezTo>
                    <a:cubicBezTo>
                      <a:pt x="0" y="23"/>
                      <a:pt x="3" y="8"/>
                      <a:pt x="18" y="3"/>
                    </a:cubicBezTo>
                    <a:cubicBezTo>
                      <a:pt x="29" y="0"/>
                      <a:pt x="41" y="3"/>
                      <a:pt x="45" y="14"/>
                    </a:cubicBezTo>
                    <a:cubicBezTo>
                      <a:pt x="46" y="19"/>
                      <a:pt x="45" y="23"/>
                      <a:pt x="43" y="2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9"/>
              <p:cNvSpPr>
                <a:spLocks noEditPoints="1"/>
              </p:cNvSpPr>
              <p:nvPr/>
            </p:nvSpPr>
            <p:spPr bwMode="auto">
              <a:xfrm>
                <a:off x="1947444" y="-250327"/>
                <a:ext cx="5162972" cy="5160570"/>
              </a:xfrm>
              <a:custGeom>
                <a:avLst/>
                <a:gdLst>
                  <a:gd name="T0" fmla="*/ 454 w 907"/>
                  <a:gd name="T1" fmla="*/ 907 h 907"/>
                  <a:gd name="T2" fmla="*/ 277 w 907"/>
                  <a:gd name="T3" fmla="*/ 871 h 907"/>
                  <a:gd name="T4" fmla="*/ 133 w 907"/>
                  <a:gd name="T5" fmla="*/ 774 h 907"/>
                  <a:gd name="T6" fmla="*/ 36 w 907"/>
                  <a:gd name="T7" fmla="*/ 630 h 907"/>
                  <a:gd name="T8" fmla="*/ 0 w 907"/>
                  <a:gd name="T9" fmla="*/ 453 h 907"/>
                  <a:gd name="T10" fmla="*/ 36 w 907"/>
                  <a:gd name="T11" fmla="*/ 277 h 907"/>
                  <a:gd name="T12" fmla="*/ 133 w 907"/>
                  <a:gd name="T13" fmla="*/ 133 h 907"/>
                  <a:gd name="T14" fmla="*/ 277 w 907"/>
                  <a:gd name="T15" fmla="*/ 35 h 907"/>
                  <a:gd name="T16" fmla="*/ 454 w 907"/>
                  <a:gd name="T17" fmla="*/ 0 h 907"/>
                  <a:gd name="T18" fmla="*/ 630 w 907"/>
                  <a:gd name="T19" fmla="*/ 35 h 907"/>
                  <a:gd name="T20" fmla="*/ 774 w 907"/>
                  <a:gd name="T21" fmla="*/ 133 h 907"/>
                  <a:gd name="T22" fmla="*/ 871 w 907"/>
                  <a:gd name="T23" fmla="*/ 277 h 907"/>
                  <a:gd name="T24" fmla="*/ 907 w 907"/>
                  <a:gd name="T25" fmla="*/ 453 h 907"/>
                  <a:gd name="T26" fmla="*/ 871 w 907"/>
                  <a:gd name="T27" fmla="*/ 630 h 907"/>
                  <a:gd name="T28" fmla="*/ 774 w 907"/>
                  <a:gd name="T29" fmla="*/ 774 h 907"/>
                  <a:gd name="T30" fmla="*/ 630 w 907"/>
                  <a:gd name="T31" fmla="*/ 871 h 907"/>
                  <a:gd name="T32" fmla="*/ 454 w 907"/>
                  <a:gd name="T33" fmla="*/ 907 h 907"/>
                  <a:gd name="T34" fmla="*/ 454 w 907"/>
                  <a:gd name="T35" fmla="*/ 16 h 907"/>
                  <a:gd name="T36" fmla="*/ 16 w 907"/>
                  <a:gd name="T37" fmla="*/ 453 h 907"/>
                  <a:gd name="T38" fmla="*/ 454 w 907"/>
                  <a:gd name="T39" fmla="*/ 891 h 907"/>
                  <a:gd name="T40" fmla="*/ 891 w 907"/>
                  <a:gd name="T41" fmla="*/ 453 h 907"/>
                  <a:gd name="T42" fmla="*/ 454 w 907"/>
                  <a:gd name="T43" fmla="*/ 16 h 9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907" h="907">
                    <a:moveTo>
                      <a:pt x="454" y="907"/>
                    </a:moveTo>
                    <a:cubicBezTo>
                      <a:pt x="392" y="907"/>
                      <a:pt x="333" y="895"/>
                      <a:pt x="277" y="871"/>
                    </a:cubicBezTo>
                    <a:cubicBezTo>
                      <a:pt x="223" y="848"/>
                      <a:pt x="174" y="816"/>
                      <a:pt x="133" y="774"/>
                    </a:cubicBezTo>
                    <a:cubicBezTo>
                      <a:pt x="91" y="732"/>
                      <a:pt x="58" y="684"/>
                      <a:pt x="36" y="630"/>
                    </a:cubicBezTo>
                    <a:cubicBezTo>
                      <a:pt x="12" y="574"/>
                      <a:pt x="0" y="515"/>
                      <a:pt x="0" y="453"/>
                    </a:cubicBezTo>
                    <a:cubicBezTo>
                      <a:pt x="0" y="392"/>
                      <a:pt x="12" y="333"/>
                      <a:pt x="36" y="277"/>
                    </a:cubicBezTo>
                    <a:cubicBezTo>
                      <a:pt x="58" y="223"/>
                      <a:pt x="91" y="174"/>
                      <a:pt x="133" y="133"/>
                    </a:cubicBezTo>
                    <a:cubicBezTo>
                      <a:pt x="174" y="91"/>
                      <a:pt x="223" y="58"/>
                      <a:pt x="277" y="35"/>
                    </a:cubicBezTo>
                    <a:cubicBezTo>
                      <a:pt x="333" y="12"/>
                      <a:pt x="392" y="0"/>
                      <a:pt x="454" y="0"/>
                    </a:cubicBezTo>
                    <a:cubicBezTo>
                      <a:pt x="515" y="0"/>
                      <a:pt x="574" y="12"/>
                      <a:pt x="630" y="35"/>
                    </a:cubicBezTo>
                    <a:cubicBezTo>
                      <a:pt x="684" y="58"/>
                      <a:pt x="733" y="91"/>
                      <a:pt x="774" y="133"/>
                    </a:cubicBezTo>
                    <a:cubicBezTo>
                      <a:pt x="816" y="174"/>
                      <a:pt x="849" y="223"/>
                      <a:pt x="871" y="277"/>
                    </a:cubicBezTo>
                    <a:cubicBezTo>
                      <a:pt x="895" y="333"/>
                      <a:pt x="907" y="392"/>
                      <a:pt x="907" y="453"/>
                    </a:cubicBezTo>
                    <a:cubicBezTo>
                      <a:pt x="907" y="515"/>
                      <a:pt x="895" y="574"/>
                      <a:pt x="871" y="630"/>
                    </a:cubicBezTo>
                    <a:cubicBezTo>
                      <a:pt x="849" y="684"/>
                      <a:pt x="816" y="732"/>
                      <a:pt x="774" y="774"/>
                    </a:cubicBezTo>
                    <a:cubicBezTo>
                      <a:pt x="733" y="816"/>
                      <a:pt x="684" y="848"/>
                      <a:pt x="630" y="871"/>
                    </a:cubicBezTo>
                    <a:cubicBezTo>
                      <a:pt x="574" y="895"/>
                      <a:pt x="515" y="907"/>
                      <a:pt x="454" y="907"/>
                    </a:cubicBezTo>
                    <a:close/>
                    <a:moveTo>
                      <a:pt x="454" y="16"/>
                    </a:moveTo>
                    <a:cubicBezTo>
                      <a:pt x="212" y="16"/>
                      <a:pt x="16" y="212"/>
                      <a:pt x="16" y="453"/>
                    </a:cubicBezTo>
                    <a:cubicBezTo>
                      <a:pt x="16" y="695"/>
                      <a:pt x="212" y="891"/>
                      <a:pt x="454" y="891"/>
                    </a:cubicBezTo>
                    <a:cubicBezTo>
                      <a:pt x="695" y="891"/>
                      <a:pt x="891" y="695"/>
                      <a:pt x="891" y="453"/>
                    </a:cubicBezTo>
                    <a:cubicBezTo>
                      <a:pt x="891" y="212"/>
                      <a:pt x="695" y="16"/>
                      <a:pt x="454" y="1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30"/>
              <p:cNvSpPr/>
              <p:nvPr/>
            </p:nvSpPr>
            <p:spPr bwMode="auto">
              <a:xfrm>
                <a:off x="4111967" y="2531507"/>
                <a:ext cx="79246" cy="40823"/>
              </a:xfrm>
              <a:custGeom>
                <a:avLst/>
                <a:gdLst>
                  <a:gd name="T0" fmla="*/ 3 w 14"/>
                  <a:gd name="T1" fmla="*/ 6 h 7"/>
                  <a:gd name="T2" fmla="*/ 7 w 14"/>
                  <a:gd name="T3" fmla="*/ 7 h 7"/>
                  <a:gd name="T4" fmla="*/ 13 w 14"/>
                  <a:gd name="T5" fmla="*/ 4 h 7"/>
                  <a:gd name="T6" fmla="*/ 14 w 14"/>
                  <a:gd name="T7" fmla="*/ 4 h 7"/>
                  <a:gd name="T8" fmla="*/ 7 w 14"/>
                  <a:gd name="T9" fmla="*/ 0 h 7"/>
                  <a:gd name="T10" fmla="*/ 0 w 14"/>
                  <a:gd name="T11" fmla="*/ 3 h 7"/>
                  <a:gd name="T12" fmla="*/ 3 w 14"/>
                  <a:gd name="T13" fmla="*/ 6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7">
                    <a:moveTo>
                      <a:pt x="3" y="6"/>
                    </a:moveTo>
                    <a:cubicBezTo>
                      <a:pt x="4" y="7"/>
                      <a:pt x="5" y="7"/>
                      <a:pt x="7" y="7"/>
                    </a:cubicBezTo>
                    <a:cubicBezTo>
                      <a:pt x="10" y="7"/>
                      <a:pt x="12" y="5"/>
                      <a:pt x="13" y="4"/>
                    </a:cubicBezTo>
                    <a:cubicBezTo>
                      <a:pt x="13" y="4"/>
                      <a:pt x="14" y="4"/>
                      <a:pt x="14" y="4"/>
                    </a:cubicBezTo>
                    <a:cubicBezTo>
                      <a:pt x="14" y="2"/>
                      <a:pt x="9" y="0"/>
                      <a:pt x="7" y="0"/>
                    </a:cubicBezTo>
                    <a:cubicBezTo>
                      <a:pt x="4" y="0"/>
                      <a:pt x="0" y="3"/>
                      <a:pt x="0" y="3"/>
                    </a:cubicBezTo>
                    <a:cubicBezTo>
                      <a:pt x="0" y="4"/>
                      <a:pt x="2" y="6"/>
                      <a:pt x="3" y="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31"/>
              <p:cNvSpPr/>
              <p:nvPr/>
            </p:nvSpPr>
            <p:spPr bwMode="auto">
              <a:xfrm>
                <a:off x="3975090" y="2846089"/>
                <a:ext cx="316982" cy="62436"/>
              </a:xfrm>
              <a:custGeom>
                <a:avLst/>
                <a:gdLst>
                  <a:gd name="T0" fmla="*/ 55 w 56"/>
                  <a:gd name="T1" fmla="*/ 7 h 11"/>
                  <a:gd name="T2" fmla="*/ 40 w 56"/>
                  <a:gd name="T3" fmla="*/ 2 h 11"/>
                  <a:gd name="T4" fmla="*/ 5 w 56"/>
                  <a:gd name="T5" fmla="*/ 2 h 11"/>
                  <a:gd name="T6" fmla="*/ 1 w 56"/>
                  <a:gd name="T7" fmla="*/ 6 h 11"/>
                  <a:gd name="T8" fmla="*/ 24 w 56"/>
                  <a:gd name="T9" fmla="*/ 11 h 11"/>
                  <a:gd name="T10" fmla="*/ 33 w 56"/>
                  <a:gd name="T11" fmla="*/ 10 h 11"/>
                  <a:gd name="T12" fmla="*/ 55 w 56"/>
                  <a:gd name="T13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6" h="11">
                    <a:moveTo>
                      <a:pt x="55" y="7"/>
                    </a:moveTo>
                    <a:cubicBezTo>
                      <a:pt x="56" y="0"/>
                      <a:pt x="54" y="2"/>
                      <a:pt x="40" y="2"/>
                    </a:cubicBezTo>
                    <a:cubicBezTo>
                      <a:pt x="33" y="2"/>
                      <a:pt x="11" y="1"/>
                      <a:pt x="5" y="2"/>
                    </a:cubicBezTo>
                    <a:cubicBezTo>
                      <a:pt x="2" y="3"/>
                      <a:pt x="1" y="5"/>
                      <a:pt x="1" y="6"/>
                    </a:cubicBezTo>
                    <a:cubicBezTo>
                      <a:pt x="1" y="11"/>
                      <a:pt x="0" y="11"/>
                      <a:pt x="24" y="11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48" y="9"/>
                      <a:pt x="52" y="11"/>
                      <a:pt x="55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32"/>
              <p:cNvSpPr>
                <a:spLocks noEditPoints="1"/>
              </p:cNvSpPr>
              <p:nvPr/>
            </p:nvSpPr>
            <p:spPr bwMode="auto">
              <a:xfrm>
                <a:off x="3007332" y="773696"/>
                <a:ext cx="3136205" cy="3141008"/>
              </a:xfrm>
              <a:custGeom>
                <a:avLst/>
                <a:gdLst>
                  <a:gd name="T0" fmla="*/ 551 w 551"/>
                  <a:gd name="T1" fmla="*/ 169 h 552"/>
                  <a:gd name="T2" fmla="*/ 366 w 551"/>
                  <a:gd name="T3" fmla="*/ 5 h 552"/>
                  <a:gd name="T4" fmla="*/ 201 w 551"/>
                  <a:gd name="T5" fmla="*/ 16 h 552"/>
                  <a:gd name="T6" fmla="*/ 169 w 551"/>
                  <a:gd name="T7" fmla="*/ 0 h 552"/>
                  <a:gd name="T8" fmla="*/ 78 w 551"/>
                  <a:gd name="T9" fmla="*/ 172 h 552"/>
                  <a:gd name="T10" fmla="*/ 6 w 551"/>
                  <a:gd name="T11" fmla="*/ 259 h 552"/>
                  <a:gd name="T12" fmla="*/ 78 w 551"/>
                  <a:gd name="T13" fmla="*/ 268 h 552"/>
                  <a:gd name="T14" fmla="*/ 6 w 551"/>
                  <a:gd name="T15" fmla="*/ 355 h 552"/>
                  <a:gd name="T16" fmla="*/ 85 w 551"/>
                  <a:gd name="T17" fmla="*/ 349 h 552"/>
                  <a:gd name="T18" fmla="*/ 187 w 551"/>
                  <a:gd name="T19" fmla="*/ 486 h 552"/>
                  <a:gd name="T20" fmla="*/ 169 w 551"/>
                  <a:gd name="T21" fmla="*/ 552 h 552"/>
                  <a:gd name="T22" fmla="*/ 254 w 551"/>
                  <a:gd name="T23" fmla="*/ 486 h 552"/>
                  <a:gd name="T24" fmla="*/ 298 w 551"/>
                  <a:gd name="T25" fmla="*/ 477 h 552"/>
                  <a:gd name="T26" fmla="*/ 336 w 551"/>
                  <a:gd name="T27" fmla="*/ 477 h 552"/>
                  <a:gd name="T28" fmla="*/ 473 w 551"/>
                  <a:gd name="T29" fmla="*/ 379 h 552"/>
                  <a:gd name="T30" fmla="*/ 546 w 551"/>
                  <a:gd name="T31" fmla="*/ 395 h 552"/>
                  <a:gd name="T32" fmla="*/ 466 w 551"/>
                  <a:gd name="T33" fmla="*/ 268 h 552"/>
                  <a:gd name="T34" fmla="*/ 551 w 551"/>
                  <a:gd name="T35" fmla="*/ 355 h 552"/>
                  <a:gd name="T36" fmla="*/ 466 w 551"/>
                  <a:gd name="T37" fmla="*/ 165 h 552"/>
                  <a:gd name="T38" fmla="*/ 413 w 551"/>
                  <a:gd name="T39" fmla="*/ 178 h 552"/>
                  <a:gd name="T40" fmla="*/ 319 w 551"/>
                  <a:gd name="T41" fmla="*/ 143 h 552"/>
                  <a:gd name="T42" fmla="*/ 319 w 551"/>
                  <a:gd name="T43" fmla="*/ 143 h 552"/>
                  <a:gd name="T44" fmla="*/ 315 w 551"/>
                  <a:gd name="T45" fmla="*/ 209 h 552"/>
                  <a:gd name="T46" fmla="*/ 309 w 551"/>
                  <a:gd name="T47" fmla="*/ 215 h 552"/>
                  <a:gd name="T48" fmla="*/ 294 w 551"/>
                  <a:gd name="T49" fmla="*/ 138 h 552"/>
                  <a:gd name="T50" fmla="*/ 291 w 551"/>
                  <a:gd name="T51" fmla="*/ 237 h 552"/>
                  <a:gd name="T52" fmla="*/ 211 w 551"/>
                  <a:gd name="T53" fmla="*/ 419 h 552"/>
                  <a:gd name="T54" fmla="*/ 157 w 551"/>
                  <a:gd name="T55" fmla="*/ 404 h 552"/>
                  <a:gd name="T56" fmla="*/ 157 w 551"/>
                  <a:gd name="T57" fmla="*/ 372 h 552"/>
                  <a:gd name="T58" fmla="*/ 242 w 551"/>
                  <a:gd name="T59" fmla="*/ 393 h 552"/>
                  <a:gd name="T60" fmla="*/ 128 w 551"/>
                  <a:gd name="T61" fmla="*/ 379 h 552"/>
                  <a:gd name="T62" fmla="*/ 161 w 551"/>
                  <a:gd name="T63" fmla="*/ 308 h 552"/>
                  <a:gd name="T64" fmla="*/ 137 w 551"/>
                  <a:gd name="T65" fmla="*/ 335 h 552"/>
                  <a:gd name="T66" fmla="*/ 178 w 551"/>
                  <a:gd name="T67" fmla="*/ 296 h 552"/>
                  <a:gd name="T68" fmla="*/ 212 w 551"/>
                  <a:gd name="T69" fmla="*/ 304 h 552"/>
                  <a:gd name="T70" fmla="*/ 214 w 551"/>
                  <a:gd name="T71" fmla="*/ 334 h 552"/>
                  <a:gd name="T72" fmla="*/ 177 w 551"/>
                  <a:gd name="T73" fmla="*/ 314 h 552"/>
                  <a:gd name="T74" fmla="*/ 240 w 551"/>
                  <a:gd name="T75" fmla="*/ 326 h 552"/>
                  <a:gd name="T76" fmla="*/ 231 w 551"/>
                  <a:gd name="T77" fmla="*/ 298 h 552"/>
                  <a:gd name="T78" fmla="*/ 199 w 551"/>
                  <a:gd name="T79" fmla="*/ 226 h 552"/>
                  <a:gd name="T80" fmla="*/ 146 w 551"/>
                  <a:gd name="T81" fmla="*/ 181 h 552"/>
                  <a:gd name="T82" fmla="*/ 197 w 551"/>
                  <a:gd name="T83" fmla="*/ 131 h 552"/>
                  <a:gd name="T84" fmla="*/ 245 w 551"/>
                  <a:gd name="T85" fmla="*/ 170 h 552"/>
                  <a:gd name="T86" fmla="*/ 207 w 551"/>
                  <a:gd name="T87" fmla="*/ 85 h 552"/>
                  <a:gd name="T88" fmla="*/ 317 w 551"/>
                  <a:gd name="T89" fmla="*/ 392 h 552"/>
                  <a:gd name="T90" fmla="*/ 300 w 551"/>
                  <a:gd name="T91" fmla="*/ 392 h 552"/>
                  <a:gd name="T92" fmla="*/ 299 w 551"/>
                  <a:gd name="T93" fmla="*/ 354 h 552"/>
                  <a:gd name="T94" fmla="*/ 338 w 551"/>
                  <a:gd name="T95" fmla="*/ 314 h 552"/>
                  <a:gd name="T96" fmla="*/ 340 w 551"/>
                  <a:gd name="T97" fmla="*/ 395 h 552"/>
                  <a:gd name="T98" fmla="*/ 365 w 551"/>
                  <a:gd name="T99" fmla="*/ 294 h 552"/>
                  <a:gd name="T100" fmla="*/ 392 w 551"/>
                  <a:gd name="T101" fmla="*/ 429 h 552"/>
                  <a:gd name="T102" fmla="*/ 391 w 551"/>
                  <a:gd name="T103" fmla="*/ 291 h 552"/>
                  <a:gd name="T104" fmla="*/ 417 w 551"/>
                  <a:gd name="T105" fmla="*/ 409 h 552"/>
                  <a:gd name="T106" fmla="*/ 407 w 551"/>
                  <a:gd name="T107" fmla="*/ 289 h 552"/>
                  <a:gd name="T108" fmla="*/ 385 w 551"/>
                  <a:gd name="T109" fmla="*/ 267 h 552"/>
                  <a:gd name="T110" fmla="*/ 334 w 551"/>
                  <a:gd name="T111" fmla="*/ 272 h 552"/>
                  <a:gd name="T112" fmla="*/ 346 w 551"/>
                  <a:gd name="T113" fmla="*/ 190 h 552"/>
                  <a:gd name="T114" fmla="*/ 422 w 551"/>
                  <a:gd name="T115" fmla="*/ 190 h 552"/>
                  <a:gd name="T116" fmla="*/ 426 w 551"/>
                  <a:gd name="T117" fmla="*/ 261 h 5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551" h="552">
                    <a:moveTo>
                      <a:pt x="466" y="157"/>
                    </a:moveTo>
                    <a:cubicBezTo>
                      <a:pt x="466" y="163"/>
                      <a:pt x="469" y="168"/>
                      <a:pt x="473" y="172"/>
                    </a:cubicBezTo>
                    <a:cubicBezTo>
                      <a:pt x="473" y="172"/>
                      <a:pt x="473" y="172"/>
                      <a:pt x="473" y="172"/>
                    </a:cubicBezTo>
                    <a:cubicBezTo>
                      <a:pt x="545" y="244"/>
                      <a:pt x="545" y="244"/>
                      <a:pt x="545" y="244"/>
                    </a:cubicBezTo>
                    <a:cubicBezTo>
                      <a:pt x="545" y="244"/>
                      <a:pt x="545" y="244"/>
                      <a:pt x="545" y="244"/>
                    </a:cubicBezTo>
                    <a:cubicBezTo>
                      <a:pt x="549" y="248"/>
                      <a:pt x="551" y="253"/>
                      <a:pt x="551" y="259"/>
                    </a:cubicBezTo>
                    <a:cubicBezTo>
                      <a:pt x="551" y="169"/>
                      <a:pt x="551" y="169"/>
                      <a:pt x="551" y="169"/>
                    </a:cubicBezTo>
                    <a:cubicBezTo>
                      <a:pt x="551" y="165"/>
                      <a:pt x="549" y="159"/>
                      <a:pt x="546" y="156"/>
                    </a:cubicBezTo>
                    <a:cubicBezTo>
                      <a:pt x="395" y="5"/>
                      <a:pt x="395" y="5"/>
                      <a:pt x="395" y="5"/>
                    </a:cubicBezTo>
                    <a:cubicBezTo>
                      <a:pt x="392" y="2"/>
                      <a:pt x="386" y="0"/>
                      <a:pt x="382" y="0"/>
                    </a:cubicBezTo>
                    <a:cubicBezTo>
                      <a:pt x="371" y="0"/>
                      <a:pt x="371" y="0"/>
                      <a:pt x="371" y="0"/>
                    </a:cubicBezTo>
                    <a:cubicBezTo>
                      <a:pt x="371" y="0"/>
                      <a:pt x="371" y="0"/>
                      <a:pt x="371" y="0"/>
                    </a:cubicBezTo>
                    <a:cubicBezTo>
                      <a:pt x="371" y="0"/>
                      <a:pt x="371" y="0"/>
                      <a:pt x="371" y="0"/>
                    </a:cubicBezTo>
                    <a:cubicBezTo>
                      <a:pt x="368" y="0"/>
                      <a:pt x="366" y="2"/>
                      <a:pt x="366" y="5"/>
                    </a:cubicBezTo>
                    <a:cubicBezTo>
                      <a:pt x="366" y="77"/>
                      <a:pt x="366" y="77"/>
                      <a:pt x="366" y="77"/>
                    </a:cubicBezTo>
                    <a:cubicBezTo>
                      <a:pt x="366" y="81"/>
                      <a:pt x="362" y="85"/>
                      <a:pt x="358" y="85"/>
                    </a:cubicBezTo>
                    <a:cubicBezTo>
                      <a:pt x="350" y="85"/>
                      <a:pt x="350" y="85"/>
                      <a:pt x="350" y="85"/>
                    </a:cubicBezTo>
                    <a:cubicBezTo>
                      <a:pt x="350" y="16"/>
                      <a:pt x="350" y="16"/>
                      <a:pt x="350" y="16"/>
                    </a:cubicBezTo>
                    <a:cubicBezTo>
                      <a:pt x="350" y="7"/>
                      <a:pt x="343" y="0"/>
                      <a:pt x="334" y="0"/>
                    </a:cubicBezTo>
                    <a:cubicBezTo>
                      <a:pt x="217" y="0"/>
                      <a:pt x="217" y="0"/>
                      <a:pt x="217" y="0"/>
                    </a:cubicBezTo>
                    <a:cubicBezTo>
                      <a:pt x="208" y="0"/>
                      <a:pt x="201" y="7"/>
                      <a:pt x="201" y="16"/>
                    </a:cubicBezTo>
                    <a:cubicBezTo>
                      <a:pt x="201" y="85"/>
                      <a:pt x="201" y="85"/>
                      <a:pt x="201" y="85"/>
                    </a:cubicBezTo>
                    <a:cubicBezTo>
                      <a:pt x="193" y="85"/>
                      <a:pt x="193" y="85"/>
                      <a:pt x="193" y="85"/>
                    </a:cubicBezTo>
                    <a:cubicBezTo>
                      <a:pt x="189" y="85"/>
                      <a:pt x="185" y="81"/>
                      <a:pt x="185" y="77"/>
                    </a:cubicBezTo>
                    <a:cubicBezTo>
                      <a:pt x="185" y="5"/>
                      <a:pt x="185" y="5"/>
                      <a:pt x="185" y="5"/>
                    </a:cubicBezTo>
                    <a:cubicBezTo>
                      <a:pt x="185" y="2"/>
                      <a:pt x="183" y="0"/>
                      <a:pt x="180" y="0"/>
                    </a:cubicBezTo>
                    <a:cubicBezTo>
                      <a:pt x="180" y="0"/>
                      <a:pt x="180" y="0"/>
                      <a:pt x="180" y="0"/>
                    </a:cubicBezTo>
                    <a:cubicBezTo>
                      <a:pt x="169" y="0"/>
                      <a:pt x="169" y="0"/>
                      <a:pt x="169" y="0"/>
                    </a:cubicBezTo>
                    <a:cubicBezTo>
                      <a:pt x="165" y="0"/>
                      <a:pt x="159" y="2"/>
                      <a:pt x="156" y="5"/>
                    </a:cubicBezTo>
                    <a:cubicBezTo>
                      <a:pt x="5" y="156"/>
                      <a:pt x="5" y="156"/>
                      <a:pt x="5" y="156"/>
                    </a:cubicBezTo>
                    <a:cubicBezTo>
                      <a:pt x="2" y="159"/>
                      <a:pt x="0" y="165"/>
                      <a:pt x="0" y="169"/>
                    </a:cubicBezTo>
                    <a:cubicBezTo>
                      <a:pt x="0" y="259"/>
                      <a:pt x="0" y="259"/>
                      <a:pt x="0" y="259"/>
                    </a:cubicBezTo>
                    <a:cubicBezTo>
                      <a:pt x="0" y="253"/>
                      <a:pt x="2" y="248"/>
                      <a:pt x="6" y="244"/>
                    </a:cubicBezTo>
                    <a:cubicBezTo>
                      <a:pt x="6" y="244"/>
                      <a:pt x="6" y="244"/>
                      <a:pt x="6" y="244"/>
                    </a:cubicBezTo>
                    <a:cubicBezTo>
                      <a:pt x="78" y="172"/>
                      <a:pt x="78" y="172"/>
                      <a:pt x="78" y="172"/>
                    </a:cubicBezTo>
                    <a:cubicBezTo>
                      <a:pt x="78" y="172"/>
                      <a:pt x="78" y="172"/>
                      <a:pt x="78" y="172"/>
                    </a:cubicBezTo>
                    <a:cubicBezTo>
                      <a:pt x="82" y="168"/>
                      <a:pt x="85" y="163"/>
                      <a:pt x="85" y="157"/>
                    </a:cubicBezTo>
                    <a:cubicBezTo>
                      <a:pt x="85" y="165"/>
                      <a:pt x="85" y="165"/>
                      <a:pt x="85" y="165"/>
                    </a:cubicBezTo>
                    <a:cubicBezTo>
                      <a:pt x="85" y="172"/>
                      <a:pt x="85" y="172"/>
                      <a:pt x="85" y="172"/>
                    </a:cubicBezTo>
                    <a:cubicBezTo>
                      <a:pt x="85" y="178"/>
                      <a:pt x="82" y="183"/>
                      <a:pt x="78" y="187"/>
                    </a:cubicBezTo>
                    <a:cubicBezTo>
                      <a:pt x="78" y="187"/>
                      <a:pt x="78" y="187"/>
                      <a:pt x="78" y="187"/>
                    </a:cubicBezTo>
                    <a:cubicBezTo>
                      <a:pt x="6" y="259"/>
                      <a:pt x="6" y="259"/>
                      <a:pt x="6" y="259"/>
                    </a:cubicBezTo>
                    <a:cubicBezTo>
                      <a:pt x="6" y="259"/>
                      <a:pt x="6" y="259"/>
                      <a:pt x="6" y="259"/>
                    </a:cubicBezTo>
                    <a:cubicBezTo>
                      <a:pt x="2" y="263"/>
                      <a:pt x="0" y="268"/>
                      <a:pt x="0" y="274"/>
                    </a:cubicBezTo>
                    <a:cubicBezTo>
                      <a:pt x="0" y="355"/>
                      <a:pt x="0" y="355"/>
                      <a:pt x="0" y="355"/>
                    </a:cubicBezTo>
                    <a:cubicBezTo>
                      <a:pt x="0" y="350"/>
                      <a:pt x="2" y="344"/>
                      <a:pt x="6" y="340"/>
                    </a:cubicBezTo>
                    <a:cubicBezTo>
                      <a:pt x="6" y="340"/>
                      <a:pt x="6" y="340"/>
                      <a:pt x="6" y="340"/>
                    </a:cubicBezTo>
                    <a:cubicBezTo>
                      <a:pt x="78" y="269"/>
                      <a:pt x="78" y="269"/>
                      <a:pt x="78" y="269"/>
                    </a:cubicBezTo>
                    <a:cubicBezTo>
                      <a:pt x="78" y="268"/>
                      <a:pt x="78" y="268"/>
                      <a:pt x="78" y="268"/>
                    </a:cubicBezTo>
                    <a:cubicBezTo>
                      <a:pt x="82" y="265"/>
                      <a:pt x="85" y="259"/>
                      <a:pt x="85" y="253"/>
                    </a:cubicBezTo>
                    <a:cubicBezTo>
                      <a:pt x="85" y="262"/>
                      <a:pt x="85" y="262"/>
                      <a:pt x="85" y="262"/>
                    </a:cubicBezTo>
                    <a:cubicBezTo>
                      <a:pt x="85" y="268"/>
                      <a:pt x="85" y="268"/>
                      <a:pt x="85" y="268"/>
                    </a:cubicBezTo>
                    <a:cubicBezTo>
                      <a:pt x="85" y="274"/>
                      <a:pt x="82" y="279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6" y="355"/>
                      <a:pt x="6" y="355"/>
                      <a:pt x="6" y="355"/>
                    </a:cubicBezTo>
                    <a:cubicBezTo>
                      <a:pt x="6" y="355"/>
                      <a:pt x="6" y="355"/>
                      <a:pt x="6" y="355"/>
                    </a:cubicBezTo>
                    <a:cubicBezTo>
                      <a:pt x="2" y="359"/>
                      <a:pt x="0" y="364"/>
                      <a:pt x="0" y="370"/>
                    </a:cubicBezTo>
                    <a:cubicBezTo>
                      <a:pt x="0" y="382"/>
                      <a:pt x="0" y="382"/>
                      <a:pt x="0" y="382"/>
                    </a:cubicBezTo>
                    <a:cubicBezTo>
                      <a:pt x="0" y="387"/>
                      <a:pt x="2" y="392"/>
                      <a:pt x="5" y="395"/>
                    </a:cubicBezTo>
                    <a:cubicBezTo>
                      <a:pt x="26" y="417"/>
                      <a:pt x="26" y="417"/>
                      <a:pt x="26" y="417"/>
                    </a:cubicBezTo>
                    <a:cubicBezTo>
                      <a:pt x="78" y="365"/>
                      <a:pt x="78" y="365"/>
                      <a:pt x="78" y="365"/>
                    </a:cubicBezTo>
                    <a:cubicBezTo>
                      <a:pt x="78" y="365"/>
                      <a:pt x="78" y="365"/>
                      <a:pt x="78" y="365"/>
                    </a:cubicBezTo>
                    <a:cubicBezTo>
                      <a:pt x="82" y="361"/>
                      <a:pt x="85" y="355"/>
                      <a:pt x="85" y="349"/>
                    </a:cubicBezTo>
                    <a:cubicBezTo>
                      <a:pt x="85" y="358"/>
                      <a:pt x="85" y="358"/>
                      <a:pt x="85" y="358"/>
                    </a:cubicBezTo>
                    <a:cubicBezTo>
                      <a:pt x="85" y="364"/>
                      <a:pt x="85" y="364"/>
                      <a:pt x="85" y="364"/>
                    </a:cubicBezTo>
                    <a:cubicBezTo>
                      <a:pt x="85" y="370"/>
                      <a:pt x="82" y="375"/>
                      <a:pt x="78" y="379"/>
                    </a:cubicBezTo>
                    <a:cubicBezTo>
                      <a:pt x="78" y="379"/>
                      <a:pt x="78" y="379"/>
                      <a:pt x="78" y="379"/>
                    </a:cubicBezTo>
                    <a:cubicBezTo>
                      <a:pt x="34" y="424"/>
                      <a:pt x="34" y="424"/>
                      <a:pt x="34" y="424"/>
                    </a:cubicBezTo>
                    <a:cubicBezTo>
                      <a:pt x="155" y="545"/>
                      <a:pt x="155" y="545"/>
                      <a:pt x="155" y="545"/>
                    </a:cubicBezTo>
                    <a:cubicBezTo>
                      <a:pt x="187" y="486"/>
                      <a:pt x="187" y="486"/>
                      <a:pt x="187" y="486"/>
                    </a:cubicBezTo>
                    <a:cubicBezTo>
                      <a:pt x="190" y="481"/>
                      <a:pt x="196" y="477"/>
                      <a:pt x="202" y="477"/>
                    </a:cubicBezTo>
                    <a:cubicBezTo>
                      <a:pt x="207" y="477"/>
                      <a:pt x="207" y="477"/>
                      <a:pt x="207" y="477"/>
                    </a:cubicBezTo>
                    <a:cubicBezTo>
                      <a:pt x="215" y="477"/>
                      <a:pt x="215" y="477"/>
                      <a:pt x="215" y="477"/>
                    </a:cubicBezTo>
                    <a:cubicBezTo>
                      <a:pt x="208" y="477"/>
                      <a:pt x="203" y="481"/>
                      <a:pt x="200" y="486"/>
                    </a:cubicBezTo>
                    <a:cubicBezTo>
                      <a:pt x="200" y="486"/>
                      <a:pt x="200" y="486"/>
                      <a:pt x="200" y="486"/>
                    </a:cubicBezTo>
                    <a:cubicBezTo>
                      <a:pt x="164" y="551"/>
                      <a:pt x="164" y="551"/>
                      <a:pt x="164" y="551"/>
                    </a:cubicBezTo>
                    <a:cubicBezTo>
                      <a:pt x="166" y="551"/>
                      <a:pt x="167" y="552"/>
                      <a:pt x="169" y="552"/>
                    </a:cubicBezTo>
                    <a:cubicBezTo>
                      <a:pt x="231" y="552"/>
                      <a:pt x="231" y="552"/>
                      <a:pt x="231" y="552"/>
                    </a:cubicBezTo>
                    <a:cubicBezTo>
                      <a:pt x="243" y="486"/>
                      <a:pt x="243" y="486"/>
                      <a:pt x="243" y="486"/>
                    </a:cubicBezTo>
                    <a:cubicBezTo>
                      <a:pt x="244" y="481"/>
                      <a:pt x="248" y="477"/>
                      <a:pt x="253" y="477"/>
                    </a:cubicBezTo>
                    <a:cubicBezTo>
                      <a:pt x="254" y="477"/>
                      <a:pt x="254" y="477"/>
                      <a:pt x="254" y="477"/>
                    </a:cubicBezTo>
                    <a:cubicBezTo>
                      <a:pt x="255" y="477"/>
                      <a:pt x="255" y="477"/>
                      <a:pt x="255" y="477"/>
                    </a:cubicBezTo>
                    <a:cubicBezTo>
                      <a:pt x="264" y="477"/>
                      <a:pt x="264" y="477"/>
                      <a:pt x="264" y="477"/>
                    </a:cubicBezTo>
                    <a:cubicBezTo>
                      <a:pt x="259" y="477"/>
                      <a:pt x="255" y="481"/>
                      <a:pt x="254" y="486"/>
                    </a:cubicBezTo>
                    <a:cubicBezTo>
                      <a:pt x="242" y="552"/>
                      <a:pt x="242" y="552"/>
                      <a:pt x="242" y="552"/>
                    </a:cubicBezTo>
                    <a:cubicBezTo>
                      <a:pt x="309" y="552"/>
                      <a:pt x="309" y="552"/>
                      <a:pt x="309" y="552"/>
                    </a:cubicBezTo>
                    <a:cubicBezTo>
                      <a:pt x="297" y="486"/>
                      <a:pt x="297" y="486"/>
                      <a:pt x="297" y="486"/>
                    </a:cubicBezTo>
                    <a:cubicBezTo>
                      <a:pt x="296" y="481"/>
                      <a:pt x="292" y="477"/>
                      <a:pt x="287" y="477"/>
                    </a:cubicBezTo>
                    <a:cubicBezTo>
                      <a:pt x="296" y="477"/>
                      <a:pt x="296" y="477"/>
                      <a:pt x="296" y="477"/>
                    </a:cubicBezTo>
                    <a:cubicBezTo>
                      <a:pt x="297" y="477"/>
                      <a:pt x="297" y="477"/>
                      <a:pt x="297" y="477"/>
                    </a:cubicBezTo>
                    <a:cubicBezTo>
                      <a:pt x="298" y="477"/>
                      <a:pt x="298" y="477"/>
                      <a:pt x="298" y="477"/>
                    </a:cubicBezTo>
                    <a:cubicBezTo>
                      <a:pt x="303" y="477"/>
                      <a:pt x="307" y="481"/>
                      <a:pt x="308" y="486"/>
                    </a:cubicBezTo>
                    <a:cubicBezTo>
                      <a:pt x="320" y="552"/>
                      <a:pt x="320" y="552"/>
                      <a:pt x="320" y="552"/>
                    </a:cubicBezTo>
                    <a:cubicBezTo>
                      <a:pt x="382" y="552"/>
                      <a:pt x="382" y="552"/>
                      <a:pt x="382" y="552"/>
                    </a:cubicBezTo>
                    <a:cubicBezTo>
                      <a:pt x="384" y="552"/>
                      <a:pt x="385" y="551"/>
                      <a:pt x="387" y="551"/>
                    </a:cubicBezTo>
                    <a:cubicBezTo>
                      <a:pt x="351" y="486"/>
                      <a:pt x="351" y="486"/>
                      <a:pt x="351" y="486"/>
                    </a:cubicBezTo>
                    <a:cubicBezTo>
                      <a:pt x="351" y="486"/>
                      <a:pt x="351" y="486"/>
                      <a:pt x="351" y="486"/>
                    </a:cubicBezTo>
                    <a:cubicBezTo>
                      <a:pt x="348" y="481"/>
                      <a:pt x="343" y="477"/>
                      <a:pt x="336" y="477"/>
                    </a:cubicBezTo>
                    <a:cubicBezTo>
                      <a:pt x="344" y="477"/>
                      <a:pt x="344" y="477"/>
                      <a:pt x="344" y="477"/>
                    </a:cubicBezTo>
                    <a:cubicBezTo>
                      <a:pt x="349" y="477"/>
                      <a:pt x="349" y="477"/>
                      <a:pt x="349" y="477"/>
                    </a:cubicBezTo>
                    <a:cubicBezTo>
                      <a:pt x="355" y="477"/>
                      <a:pt x="361" y="481"/>
                      <a:pt x="364" y="486"/>
                    </a:cubicBezTo>
                    <a:cubicBezTo>
                      <a:pt x="396" y="545"/>
                      <a:pt x="396" y="545"/>
                      <a:pt x="396" y="545"/>
                    </a:cubicBezTo>
                    <a:cubicBezTo>
                      <a:pt x="517" y="424"/>
                      <a:pt x="517" y="424"/>
                      <a:pt x="517" y="424"/>
                    </a:cubicBezTo>
                    <a:cubicBezTo>
                      <a:pt x="473" y="379"/>
                      <a:pt x="473" y="379"/>
                      <a:pt x="473" y="379"/>
                    </a:cubicBezTo>
                    <a:cubicBezTo>
                      <a:pt x="473" y="379"/>
                      <a:pt x="473" y="379"/>
                      <a:pt x="473" y="379"/>
                    </a:cubicBezTo>
                    <a:cubicBezTo>
                      <a:pt x="469" y="375"/>
                      <a:pt x="466" y="370"/>
                      <a:pt x="466" y="364"/>
                    </a:cubicBezTo>
                    <a:cubicBezTo>
                      <a:pt x="466" y="358"/>
                      <a:pt x="466" y="358"/>
                      <a:pt x="466" y="358"/>
                    </a:cubicBezTo>
                    <a:cubicBezTo>
                      <a:pt x="466" y="349"/>
                      <a:pt x="466" y="349"/>
                      <a:pt x="466" y="349"/>
                    </a:cubicBezTo>
                    <a:cubicBezTo>
                      <a:pt x="466" y="355"/>
                      <a:pt x="469" y="361"/>
                      <a:pt x="473" y="365"/>
                    </a:cubicBezTo>
                    <a:cubicBezTo>
                      <a:pt x="473" y="365"/>
                      <a:pt x="473" y="365"/>
                      <a:pt x="473" y="365"/>
                    </a:cubicBezTo>
                    <a:cubicBezTo>
                      <a:pt x="525" y="417"/>
                      <a:pt x="525" y="417"/>
                      <a:pt x="525" y="417"/>
                    </a:cubicBezTo>
                    <a:cubicBezTo>
                      <a:pt x="546" y="395"/>
                      <a:pt x="546" y="395"/>
                      <a:pt x="546" y="395"/>
                    </a:cubicBezTo>
                    <a:cubicBezTo>
                      <a:pt x="549" y="392"/>
                      <a:pt x="551" y="387"/>
                      <a:pt x="551" y="382"/>
                    </a:cubicBezTo>
                    <a:cubicBezTo>
                      <a:pt x="551" y="370"/>
                      <a:pt x="551" y="370"/>
                      <a:pt x="551" y="370"/>
                    </a:cubicBezTo>
                    <a:cubicBezTo>
                      <a:pt x="551" y="364"/>
                      <a:pt x="549" y="359"/>
                      <a:pt x="545" y="355"/>
                    </a:cubicBezTo>
                    <a:cubicBezTo>
                      <a:pt x="545" y="355"/>
                      <a:pt x="545" y="355"/>
                      <a:pt x="545" y="355"/>
                    </a:cubicBezTo>
                    <a:cubicBezTo>
                      <a:pt x="473" y="283"/>
                      <a:pt x="473" y="283"/>
                      <a:pt x="473" y="283"/>
                    </a:cubicBezTo>
                    <a:cubicBezTo>
                      <a:pt x="473" y="283"/>
                      <a:pt x="473" y="283"/>
                      <a:pt x="473" y="283"/>
                    </a:cubicBezTo>
                    <a:cubicBezTo>
                      <a:pt x="469" y="279"/>
                      <a:pt x="466" y="274"/>
                      <a:pt x="466" y="268"/>
                    </a:cubicBezTo>
                    <a:cubicBezTo>
                      <a:pt x="466" y="262"/>
                      <a:pt x="466" y="262"/>
                      <a:pt x="466" y="262"/>
                    </a:cubicBezTo>
                    <a:cubicBezTo>
                      <a:pt x="466" y="253"/>
                      <a:pt x="466" y="253"/>
                      <a:pt x="466" y="253"/>
                    </a:cubicBezTo>
                    <a:cubicBezTo>
                      <a:pt x="466" y="259"/>
                      <a:pt x="469" y="265"/>
                      <a:pt x="473" y="268"/>
                    </a:cubicBezTo>
                    <a:cubicBezTo>
                      <a:pt x="473" y="269"/>
                      <a:pt x="473" y="269"/>
                      <a:pt x="473" y="269"/>
                    </a:cubicBezTo>
                    <a:cubicBezTo>
                      <a:pt x="545" y="340"/>
                      <a:pt x="545" y="340"/>
                      <a:pt x="545" y="340"/>
                    </a:cubicBezTo>
                    <a:cubicBezTo>
                      <a:pt x="545" y="340"/>
                      <a:pt x="545" y="340"/>
                      <a:pt x="545" y="340"/>
                    </a:cubicBezTo>
                    <a:cubicBezTo>
                      <a:pt x="549" y="344"/>
                      <a:pt x="551" y="350"/>
                      <a:pt x="551" y="355"/>
                    </a:cubicBezTo>
                    <a:cubicBezTo>
                      <a:pt x="551" y="274"/>
                      <a:pt x="551" y="274"/>
                      <a:pt x="551" y="274"/>
                    </a:cubicBezTo>
                    <a:cubicBezTo>
                      <a:pt x="551" y="268"/>
                      <a:pt x="549" y="263"/>
                      <a:pt x="545" y="259"/>
                    </a:cubicBezTo>
                    <a:cubicBezTo>
                      <a:pt x="545" y="259"/>
                      <a:pt x="545" y="259"/>
                      <a:pt x="545" y="259"/>
                    </a:cubicBezTo>
                    <a:cubicBezTo>
                      <a:pt x="473" y="187"/>
                      <a:pt x="473" y="187"/>
                      <a:pt x="473" y="187"/>
                    </a:cubicBezTo>
                    <a:cubicBezTo>
                      <a:pt x="473" y="187"/>
                      <a:pt x="473" y="187"/>
                      <a:pt x="473" y="187"/>
                    </a:cubicBezTo>
                    <a:cubicBezTo>
                      <a:pt x="469" y="183"/>
                      <a:pt x="466" y="178"/>
                      <a:pt x="466" y="172"/>
                    </a:cubicBezTo>
                    <a:cubicBezTo>
                      <a:pt x="466" y="165"/>
                      <a:pt x="466" y="165"/>
                      <a:pt x="466" y="165"/>
                    </a:cubicBezTo>
                    <a:lnTo>
                      <a:pt x="466" y="157"/>
                    </a:lnTo>
                    <a:close/>
                    <a:moveTo>
                      <a:pt x="334" y="162"/>
                    </a:moveTo>
                    <a:cubicBezTo>
                      <a:pt x="337" y="139"/>
                      <a:pt x="337" y="142"/>
                      <a:pt x="350" y="137"/>
                    </a:cubicBezTo>
                    <a:cubicBezTo>
                      <a:pt x="364" y="134"/>
                      <a:pt x="372" y="132"/>
                      <a:pt x="380" y="132"/>
                    </a:cubicBezTo>
                    <a:cubicBezTo>
                      <a:pt x="388" y="133"/>
                      <a:pt x="405" y="133"/>
                      <a:pt x="420" y="139"/>
                    </a:cubicBezTo>
                    <a:cubicBezTo>
                      <a:pt x="427" y="141"/>
                      <a:pt x="424" y="144"/>
                      <a:pt x="425" y="169"/>
                    </a:cubicBezTo>
                    <a:cubicBezTo>
                      <a:pt x="424" y="179"/>
                      <a:pt x="423" y="177"/>
                      <a:pt x="413" y="178"/>
                    </a:cubicBezTo>
                    <a:cubicBezTo>
                      <a:pt x="405" y="178"/>
                      <a:pt x="401" y="179"/>
                      <a:pt x="390" y="176"/>
                    </a:cubicBezTo>
                    <a:cubicBezTo>
                      <a:pt x="387" y="171"/>
                      <a:pt x="383" y="149"/>
                      <a:pt x="375" y="151"/>
                    </a:cubicBezTo>
                    <a:cubicBezTo>
                      <a:pt x="372" y="154"/>
                      <a:pt x="375" y="154"/>
                      <a:pt x="369" y="165"/>
                    </a:cubicBezTo>
                    <a:cubicBezTo>
                      <a:pt x="368" y="167"/>
                      <a:pt x="366" y="172"/>
                      <a:pt x="364" y="175"/>
                    </a:cubicBezTo>
                    <a:cubicBezTo>
                      <a:pt x="356" y="178"/>
                      <a:pt x="350" y="177"/>
                      <a:pt x="341" y="178"/>
                    </a:cubicBezTo>
                    <a:cubicBezTo>
                      <a:pt x="332" y="177"/>
                      <a:pt x="335" y="173"/>
                      <a:pt x="334" y="162"/>
                    </a:cubicBezTo>
                    <a:close/>
                    <a:moveTo>
                      <a:pt x="319" y="143"/>
                    </a:moveTo>
                    <a:cubicBezTo>
                      <a:pt x="319" y="138"/>
                      <a:pt x="319" y="137"/>
                      <a:pt x="323" y="137"/>
                    </a:cubicBezTo>
                    <a:cubicBezTo>
                      <a:pt x="329" y="137"/>
                      <a:pt x="329" y="139"/>
                      <a:pt x="329" y="142"/>
                    </a:cubicBezTo>
                    <a:cubicBezTo>
                      <a:pt x="329" y="147"/>
                      <a:pt x="329" y="157"/>
                      <a:pt x="329" y="166"/>
                    </a:cubicBezTo>
                    <a:cubicBezTo>
                      <a:pt x="329" y="172"/>
                      <a:pt x="329" y="183"/>
                      <a:pt x="324" y="185"/>
                    </a:cubicBezTo>
                    <a:cubicBezTo>
                      <a:pt x="320" y="185"/>
                      <a:pt x="317" y="186"/>
                      <a:pt x="317" y="180"/>
                    </a:cubicBezTo>
                    <a:cubicBezTo>
                      <a:pt x="317" y="177"/>
                      <a:pt x="318" y="172"/>
                      <a:pt x="319" y="168"/>
                    </a:cubicBezTo>
                    <a:cubicBezTo>
                      <a:pt x="320" y="163"/>
                      <a:pt x="319" y="149"/>
                      <a:pt x="319" y="143"/>
                    </a:cubicBezTo>
                    <a:close/>
                    <a:moveTo>
                      <a:pt x="322" y="199"/>
                    </a:moveTo>
                    <a:cubicBezTo>
                      <a:pt x="327" y="202"/>
                      <a:pt x="327" y="219"/>
                      <a:pt x="327" y="219"/>
                    </a:cubicBezTo>
                    <a:cubicBezTo>
                      <a:pt x="328" y="221"/>
                      <a:pt x="328" y="237"/>
                      <a:pt x="328" y="242"/>
                    </a:cubicBezTo>
                    <a:cubicBezTo>
                      <a:pt x="328" y="247"/>
                      <a:pt x="328" y="251"/>
                      <a:pt x="328" y="253"/>
                    </a:cubicBezTo>
                    <a:cubicBezTo>
                      <a:pt x="326" y="254"/>
                      <a:pt x="324" y="255"/>
                      <a:pt x="321" y="254"/>
                    </a:cubicBezTo>
                    <a:cubicBezTo>
                      <a:pt x="318" y="253"/>
                      <a:pt x="317" y="239"/>
                      <a:pt x="317" y="234"/>
                    </a:cubicBezTo>
                    <a:cubicBezTo>
                      <a:pt x="317" y="230"/>
                      <a:pt x="317" y="220"/>
                      <a:pt x="315" y="209"/>
                    </a:cubicBezTo>
                    <a:cubicBezTo>
                      <a:pt x="314" y="199"/>
                      <a:pt x="315" y="200"/>
                      <a:pt x="322" y="199"/>
                    </a:cubicBezTo>
                    <a:close/>
                    <a:moveTo>
                      <a:pt x="300" y="190"/>
                    </a:moveTo>
                    <a:cubicBezTo>
                      <a:pt x="301" y="182"/>
                      <a:pt x="303" y="157"/>
                      <a:pt x="302" y="150"/>
                    </a:cubicBezTo>
                    <a:cubicBezTo>
                      <a:pt x="303" y="146"/>
                      <a:pt x="302" y="140"/>
                      <a:pt x="303" y="135"/>
                    </a:cubicBezTo>
                    <a:cubicBezTo>
                      <a:pt x="304" y="133"/>
                      <a:pt x="306" y="133"/>
                      <a:pt x="310" y="133"/>
                    </a:cubicBezTo>
                    <a:cubicBezTo>
                      <a:pt x="316" y="131"/>
                      <a:pt x="314" y="152"/>
                      <a:pt x="314" y="152"/>
                    </a:cubicBezTo>
                    <a:cubicBezTo>
                      <a:pt x="314" y="170"/>
                      <a:pt x="309" y="206"/>
                      <a:pt x="309" y="215"/>
                    </a:cubicBezTo>
                    <a:cubicBezTo>
                      <a:pt x="307" y="230"/>
                      <a:pt x="314" y="271"/>
                      <a:pt x="310" y="275"/>
                    </a:cubicBezTo>
                    <a:cubicBezTo>
                      <a:pt x="309" y="276"/>
                      <a:pt x="304" y="276"/>
                      <a:pt x="303" y="274"/>
                    </a:cubicBezTo>
                    <a:cubicBezTo>
                      <a:pt x="299" y="263"/>
                      <a:pt x="299" y="246"/>
                      <a:pt x="298" y="232"/>
                    </a:cubicBezTo>
                    <a:cubicBezTo>
                      <a:pt x="297" y="215"/>
                      <a:pt x="300" y="197"/>
                      <a:pt x="300" y="190"/>
                    </a:cubicBezTo>
                    <a:close/>
                    <a:moveTo>
                      <a:pt x="285" y="166"/>
                    </a:moveTo>
                    <a:cubicBezTo>
                      <a:pt x="287" y="155"/>
                      <a:pt x="286" y="143"/>
                      <a:pt x="287" y="139"/>
                    </a:cubicBezTo>
                    <a:cubicBezTo>
                      <a:pt x="288" y="138"/>
                      <a:pt x="291" y="137"/>
                      <a:pt x="294" y="138"/>
                    </a:cubicBezTo>
                    <a:cubicBezTo>
                      <a:pt x="298" y="141"/>
                      <a:pt x="299" y="177"/>
                      <a:pt x="290" y="184"/>
                    </a:cubicBezTo>
                    <a:cubicBezTo>
                      <a:pt x="288" y="184"/>
                      <a:pt x="284" y="184"/>
                      <a:pt x="283" y="182"/>
                    </a:cubicBezTo>
                    <a:cubicBezTo>
                      <a:pt x="282" y="180"/>
                      <a:pt x="283" y="174"/>
                      <a:pt x="285" y="166"/>
                    </a:cubicBezTo>
                    <a:close/>
                    <a:moveTo>
                      <a:pt x="280" y="214"/>
                    </a:moveTo>
                    <a:cubicBezTo>
                      <a:pt x="280" y="200"/>
                      <a:pt x="281" y="197"/>
                      <a:pt x="284" y="193"/>
                    </a:cubicBezTo>
                    <a:cubicBezTo>
                      <a:pt x="287" y="191"/>
                      <a:pt x="291" y="193"/>
                      <a:pt x="293" y="195"/>
                    </a:cubicBezTo>
                    <a:cubicBezTo>
                      <a:pt x="295" y="200"/>
                      <a:pt x="291" y="225"/>
                      <a:pt x="291" y="237"/>
                    </a:cubicBezTo>
                    <a:cubicBezTo>
                      <a:pt x="290" y="248"/>
                      <a:pt x="294" y="259"/>
                      <a:pt x="289" y="261"/>
                    </a:cubicBezTo>
                    <a:cubicBezTo>
                      <a:pt x="285" y="262"/>
                      <a:pt x="281" y="261"/>
                      <a:pt x="281" y="258"/>
                    </a:cubicBezTo>
                    <a:cubicBezTo>
                      <a:pt x="279" y="244"/>
                      <a:pt x="280" y="214"/>
                      <a:pt x="280" y="214"/>
                    </a:cubicBezTo>
                    <a:close/>
                    <a:moveTo>
                      <a:pt x="267" y="388"/>
                    </a:moveTo>
                    <a:cubicBezTo>
                      <a:pt x="266" y="407"/>
                      <a:pt x="266" y="405"/>
                      <a:pt x="253" y="405"/>
                    </a:cubicBezTo>
                    <a:cubicBezTo>
                      <a:pt x="242" y="405"/>
                      <a:pt x="214" y="405"/>
                      <a:pt x="212" y="406"/>
                    </a:cubicBezTo>
                    <a:cubicBezTo>
                      <a:pt x="212" y="408"/>
                      <a:pt x="211" y="414"/>
                      <a:pt x="211" y="419"/>
                    </a:cubicBezTo>
                    <a:cubicBezTo>
                      <a:pt x="212" y="426"/>
                      <a:pt x="216" y="428"/>
                      <a:pt x="186" y="431"/>
                    </a:cubicBezTo>
                    <a:cubicBezTo>
                      <a:pt x="179" y="432"/>
                      <a:pt x="134" y="430"/>
                      <a:pt x="131" y="425"/>
                    </a:cubicBezTo>
                    <a:cubicBezTo>
                      <a:pt x="128" y="419"/>
                      <a:pt x="122" y="411"/>
                      <a:pt x="127" y="403"/>
                    </a:cubicBezTo>
                    <a:cubicBezTo>
                      <a:pt x="133" y="408"/>
                      <a:pt x="139" y="412"/>
                      <a:pt x="153" y="417"/>
                    </a:cubicBezTo>
                    <a:cubicBezTo>
                      <a:pt x="164" y="419"/>
                      <a:pt x="181" y="420"/>
                      <a:pt x="191" y="418"/>
                    </a:cubicBezTo>
                    <a:cubicBezTo>
                      <a:pt x="197" y="415"/>
                      <a:pt x="197" y="413"/>
                      <a:pt x="196" y="406"/>
                    </a:cubicBezTo>
                    <a:cubicBezTo>
                      <a:pt x="175" y="405"/>
                      <a:pt x="164" y="404"/>
                      <a:pt x="157" y="404"/>
                    </a:cubicBezTo>
                    <a:cubicBezTo>
                      <a:pt x="146" y="403"/>
                      <a:pt x="146" y="403"/>
                      <a:pt x="146" y="397"/>
                    </a:cubicBezTo>
                    <a:cubicBezTo>
                      <a:pt x="147" y="392"/>
                      <a:pt x="148" y="391"/>
                      <a:pt x="155" y="392"/>
                    </a:cubicBezTo>
                    <a:cubicBezTo>
                      <a:pt x="160" y="392"/>
                      <a:pt x="168" y="393"/>
                      <a:pt x="180" y="393"/>
                    </a:cubicBezTo>
                    <a:cubicBezTo>
                      <a:pt x="189" y="393"/>
                      <a:pt x="196" y="393"/>
                      <a:pt x="196" y="393"/>
                    </a:cubicBezTo>
                    <a:cubicBezTo>
                      <a:pt x="196" y="384"/>
                      <a:pt x="196" y="384"/>
                      <a:pt x="196" y="384"/>
                    </a:cubicBezTo>
                    <a:cubicBezTo>
                      <a:pt x="196" y="384"/>
                      <a:pt x="180" y="384"/>
                      <a:pt x="174" y="384"/>
                    </a:cubicBezTo>
                    <a:cubicBezTo>
                      <a:pt x="155" y="383"/>
                      <a:pt x="158" y="381"/>
                      <a:pt x="157" y="372"/>
                    </a:cubicBezTo>
                    <a:cubicBezTo>
                      <a:pt x="159" y="356"/>
                      <a:pt x="159" y="358"/>
                      <a:pt x="173" y="357"/>
                    </a:cubicBezTo>
                    <a:cubicBezTo>
                      <a:pt x="185" y="357"/>
                      <a:pt x="219" y="357"/>
                      <a:pt x="228" y="357"/>
                    </a:cubicBezTo>
                    <a:cubicBezTo>
                      <a:pt x="242" y="358"/>
                      <a:pt x="240" y="359"/>
                      <a:pt x="240" y="371"/>
                    </a:cubicBezTo>
                    <a:cubicBezTo>
                      <a:pt x="238" y="378"/>
                      <a:pt x="241" y="381"/>
                      <a:pt x="227" y="383"/>
                    </a:cubicBezTo>
                    <a:cubicBezTo>
                      <a:pt x="225" y="383"/>
                      <a:pt x="212" y="384"/>
                      <a:pt x="212" y="384"/>
                    </a:cubicBezTo>
                    <a:cubicBezTo>
                      <a:pt x="212" y="393"/>
                      <a:pt x="212" y="393"/>
                      <a:pt x="212" y="393"/>
                    </a:cubicBezTo>
                    <a:cubicBezTo>
                      <a:pt x="242" y="393"/>
                      <a:pt x="242" y="393"/>
                      <a:pt x="242" y="393"/>
                    </a:cubicBezTo>
                    <a:cubicBezTo>
                      <a:pt x="242" y="393"/>
                      <a:pt x="253" y="393"/>
                      <a:pt x="253" y="384"/>
                    </a:cubicBezTo>
                    <a:cubicBezTo>
                      <a:pt x="253" y="375"/>
                      <a:pt x="255" y="361"/>
                      <a:pt x="255" y="361"/>
                    </a:cubicBezTo>
                    <a:cubicBezTo>
                      <a:pt x="255" y="361"/>
                      <a:pt x="255" y="351"/>
                      <a:pt x="245" y="351"/>
                    </a:cubicBezTo>
                    <a:cubicBezTo>
                      <a:pt x="236" y="351"/>
                      <a:pt x="184" y="350"/>
                      <a:pt x="163" y="351"/>
                    </a:cubicBezTo>
                    <a:cubicBezTo>
                      <a:pt x="147" y="351"/>
                      <a:pt x="146" y="354"/>
                      <a:pt x="145" y="359"/>
                    </a:cubicBezTo>
                    <a:cubicBezTo>
                      <a:pt x="144" y="366"/>
                      <a:pt x="142" y="392"/>
                      <a:pt x="138" y="390"/>
                    </a:cubicBezTo>
                    <a:cubicBezTo>
                      <a:pt x="125" y="387"/>
                      <a:pt x="128" y="386"/>
                      <a:pt x="128" y="379"/>
                    </a:cubicBezTo>
                    <a:cubicBezTo>
                      <a:pt x="129" y="369"/>
                      <a:pt x="130" y="359"/>
                      <a:pt x="132" y="350"/>
                    </a:cubicBezTo>
                    <a:cubicBezTo>
                      <a:pt x="135" y="343"/>
                      <a:pt x="136" y="339"/>
                      <a:pt x="176" y="339"/>
                    </a:cubicBezTo>
                    <a:cubicBezTo>
                      <a:pt x="195" y="339"/>
                      <a:pt x="249" y="339"/>
                      <a:pt x="249" y="339"/>
                    </a:cubicBezTo>
                    <a:cubicBezTo>
                      <a:pt x="261" y="340"/>
                      <a:pt x="265" y="340"/>
                      <a:pt x="267" y="352"/>
                    </a:cubicBezTo>
                    <a:cubicBezTo>
                      <a:pt x="269" y="369"/>
                      <a:pt x="268" y="375"/>
                      <a:pt x="267" y="388"/>
                    </a:cubicBezTo>
                    <a:close/>
                    <a:moveTo>
                      <a:pt x="146" y="306"/>
                    </a:moveTo>
                    <a:cubicBezTo>
                      <a:pt x="146" y="309"/>
                      <a:pt x="151" y="309"/>
                      <a:pt x="161" y="308"/>
                    </a:cubicBezTo>
                    <a:cubicBezTo>
                      <a:pt x="169" y="308"/>
                      <a:pt x="168" y="307"/>
                      <a:pt x="169" y="313"/>
                    </a:cubicBezTo>
                    <a:cubicBezTo>
                      <a:pt x="169" y="316"/>
                      <a:pt x="169" y="317"/>
                      <a:pt x="163" y="317"/>
                    </a:cubicBezTo>
                    <a:cubicBezTo>
                      <a:pt x="144" y="318"/>
                      <a:pt x="146" y="317"/>
                      <a:pt x="146" y="322"/>
                    </a:cubicBezTo>
                    <a:cubicBezTo>
                      <a:pt x="146" y="326"/>
                      <a:pt x="149" y="325"/>
                      <a:pt x="161" y="324"/>
                    </a:cubicBezTo>
                    <a:cubicBezTo>
                      <a:pt x="168" y="324"/>
                      <a:pt x="169" y="323"/>
                      <a:pt x="169" y="328"/>
                    </a:cubicBezTo>
                    <a:cubicBezTo>
                      <a:pt x="170" y="331"/>
                      <a:pt x="169" y="333"/>
                      <a:pt x="169" y="333"/>
                    </a:cubicBezTo>
                    <a:cubicBezTo>
                      <a:pt x="164" y="333"/>
                      <a:pt x="143" y="335"/>
                      <a:pt x="137" y="335"/>
                    </a:cubicBezTo>
                    <a:cubicBezTo>
                      <a:pt x="132" y="334"/>
                      <a:pt x="132" y="334"/>
                      <a:pt x="132" y="323"/>
                    </a:cubicBezTo>
                    <a:cubicBezTo>
                      <a:pt x="133" y="313"/>
                      <a:pt x="133" y="304"/>
                      <a:pt x="136" y="295"/>
                    </a:cubicBezTo>
                    <a:cubicBezTo>
                      <a:pt x="138" y="290"/>
                      <a:pt x="138" y="291"/>
                      <a:pt x="160" y="290"/>
                    </a:cubicBezTo>
                    <a:cubicBezTo>
                      <a:pt x="171" y="290"/>
                      <a:pt x="170" y="289"/>
                      <a:pt x="171" y="297"/>
                    </a:cubicBezTo>
                    <a:cubicBezTo>
                      <a:pt x="171" y="300"/>
                      <a:pt x="171" y="300"/>
                      <a:pt x="153" y="301"/>
                    </a:cubicBezTo>
                    <a:cubicBezTo>
                      <a:pt x="145" y="301"/>
                      <a:pt x="146" y="300"/>
                      <a:pt x="146" y="306"/>
                    </a:cubicBezTo>
                    <a:close/>
                    <a:moveTo>
                      <a:pt x="178" y="296"/>
                    </a:moveTo>
                    <a:cubicBezTo>
                      <a:pt x="177" y="295"/>
                      <a:pt x="181" y="290"/>
                      <a:pt x="183" y="289"/>
                    </a:cubicBezTo>
                    <a:cubicBezTo>
                      <a:pt x="186" y="290"/>
                      <a:pt x="193" y="294"/>
                      <a:pt x="195" y="295"/>
                    </a:cubicBezTo>
                    <a:cubicBezTo>
                      <a:pt x="196" y="295"/>
                      <a:pt x="198" y="296"/>
                      <a:pt x="201" y="298"/>
                    </a:cubicBezTo>
                    <a:cubicBezTo>
                      <a:pt x="202" y="297"/>
                      <a:pt x="203" y="296"/>
                      <a:pt x="204" y="296"/>
                    </a:cubicBezTo>
                    <a:cubicBezTo>
                      <a:pt x="206" y="295"/>
                      <a:pt x="217" y="289"/>
                      <a:pt x="220" y="289"/>
                    </a:cubicBezTo>
                    <a:cubicBezTo>
                      <a:pt x="221" y="289"/>
                      <a:pt x="225" y="296"/>
                      <a:pt x="222" y="297"/>
                    </a:cubicBezTo>
                    <a:cubicBezTo>
                      <a:pt x="219" y="300"/>
                      <a:pt x="215" y="303"/>
                      <a:pt x="212" y="304"/>
                    </a:cubicBezTo>
                    <a:cubicBezTo>
                      <a:pt x="215" y="306"/>
                      <a:pt x="218" y="307"/>
                      <a:pt x="218" y="307"/>
                    </a:cubicBezTo>
                    <a:cubicBezTo>
                      <a:pt x="223" y="309"/>
                      <a:pt x="224" y="310"/>
                      <a:pt x="223" y="315"/>
                    </a:cubicBezTo>
                    <a:cubicBezTo>
                      <a:pt x="223" y="316"/>
                      <a:pt x="221" y="318"/>
                      <a:pt x="220" y="318"/>
                    </a:cubicBezTo>
                    <a:cubicBezTo>
                      <a:pt x="218" y="319"/>
                      <a:pt x="215" y="321"/>
                      <a:pt x="213" y="322"/>
                    </a:cubicBezTo>
                    <a:cubicBezTo>
                      <a:pt x="215" y="323"/>
                      <a:pt x="217" y="324"/>
                      <a:pt x="219" y="325"/>
                    </a:cubicBezTo>
                    <a:cubicBezTo>
                      <a:pt x="227" y="329"/>
                      <a:pt x="227" y="328"/>
                      <a:pt x="224" y="333"/>
                    </a:cubicBezTo>
                    <a:cubicBezTo>
                      <a:pt x="221" y="337"/>
                      <a:pt x="216" y="335"/>
                      <a:pt x="214" y="334"/>
                    </a:cubicBezTo>
                    <a:cubicBezTo>
                      <a:pt x="213" y="333"/>
                      <a:pt x="207" y="331"/>
                      <a:pt x="201" y="327"/>
                    </a:cubicBezTo>
                    <a:cubicBezTo>
                      <a:pt x="197" y="330"/>
                      <a:pt x="192" y="332"/>
                      <a:pt x="188" y="334"/>
                    </a:cubicBezTo>
                    <a:cubicBezTo>
                      <a:pt x="182" y="337"/>
                      <a:pt x="181" y="337"/>
                      <a:pt x="179" y="334"/>
                    </a:cubicBezTo>
                    <a:cubicBezTo>
                      <a:pt x="175" y="329"/>
                      <a:pt x="178" y="329"/>
                      <a:pt x="184" y="325"/>
                    </a:cubicBezTo>
                    <a:cubicBezTo>
                      <a:pt x="184" y="325"/>
                      <a:pt x="187" y="324"/>
                      <a:pt x="189" y="322"/>
                    </a:cubicBezTo>
                    <a:cubicBezTo>
                      <a:pt x="187" y="321"/>
                      <a:pt x="184" y="320"/>
                      <a:pt x="180" y="318"/>
                    </a:cubicBezTo>
                    <a:cubicBezTo>
                      <a:pt x="180" y="317"/>
                      <a:pt x="177" y="316"/>
                      <a:pt x="177" y="314"/>
                    </a:cubicBezTo>
                    <a:cubicBezTo>
                      <a:pt x="177" y="312"/>
                      <a:pt x="176" y="310"/>
                      <a:pt x="183" y="306"/>
                    </a:cubicBezTo>
                    <a:cubicBezTo>
                      <a:pt x="185" y="305"/>
                      <a:pt x="187" y="304"/>
                      <a:pt x="189" y="303"/>
                    </a:cubicBezTo>
                    <a:cubicBezTo>
                      <a:pt x="184" y="301"/>
                      <a:pt x="180" y="299"/>
                      <a:pt x="178" y="296"/>
                    </a:cubicBezTo>
                    <a:close/>
                    <a:moveTo>
                      <a:pt x="264" y="333"/>
                    </a:moveTo>
                    <a:cubicBezTo>
                      <a:pt x="260" y="334"/>
                      <a:pt x="234" y="335"/>
                      <a:pt x="234" y="335"/>
                    </a:cubicBezTo>
                    <a:cubicBezTo>
                      <a:pt x="231" y="334"/>
                      <a:pt x="231" y="335"/>
                      <a:pt x="231" y="331"/>
                    </a:cubicBezTo>
                    <a:cubicBezTo>
                      <a:pt x="231" y="326"/>
                      <a:pt x="231" y="326"/>
                      <a:pt x="240" y="326"/>
                    </a:cubicBezTo>
                    <a:cubicBezTo>
                      <a:pt x="248" y="326"/>
                      <a:pt x="255" y="327"/>
                      <a:pt x="255" y="322"/>
                    </a:cubicBezTo>
                    <a:cubicBezTo>
                      <a:pt x="255" y="318"/>
                      <a:pt x="254" y="317"/>
                      <a:pt x="240" y="318"/>
                    </a:cubicBezTo>
                    <a:cubicBezTo>
                      <a:pt x="232" y="318"/>
                      <a:pt x="233" y="318"/>
                      <a:pt x="232" y="316"/>
                    </a:cubicBezTo>
                    <a:cubicBezTo>
                      <a:pt x="231" y="311"/>
                      <a:pt x="230" y="309"/>
                      <a:pt x="237" y="308"/>
                    </a:cubicBezTo>
                    <a:cubicBezTo>
                      <a:pt x="247" y="307"/>
                      <a:pt x="255" y="308"/>
                      <a:pt x="255" y="306"/>
                    </a:cubicBezTo>
                    <a:cubicBezTo>
                      <a:pt x="256" y="302"/>
                      <a:pt x="255" y="300"/>
                      <a:pt x="248" y="301"/>
                    </a:cubicBezTo>
                    <a:cubicBezTo>
                      <a:pt x="232" y="302"/>
                      <a:pt x="231" y="303"/>
                      <a:pt x="231" y="298"/>
                    </a:cubicBezTo>
                    <a:cubicBezTo>
                      <a:pt x="231" y="293"/>
                      <a:pt x="229" y="292"/>
                      <a:pt x="241" y="291"/>
                    </a:cubicBezTo>
                    <a:cubicBezTo>
                      <a:pt x="254" y="291"/>
                      <a:pt x="264" y="289"/>
                      <a:pt x="265" y="295"/>
                    </a:cubicBezTo>
                    <a:cubicBezTo>
                      <a:pt x="267" y="302"/>
                      <a:pt x="268" y="311"/>
                      <a:pt x="268" y="324"/>
                    </a:cubicBezTo>
                    <a:cubicBezTo>
                      <a:pt x="268" y="333"/>
                      <a:pt x="268" y="333"/>
                      <a:pt x="264" y="333"/>
                    </a:cubicBezTo>
                    <a:close/>
                    <a:moveTo>
                      <a:pt x="262" y="279"/>
                    </a:moveTo>
                    <a:cubicBezTo>
                      <a:pt x="258" y="281"/>
                      <a:pt x="241" y="259"/>
                      <a:pt x="230" y="244"/>
                    </a:cubicBezTo>
                    <a:cubicBezTo>
                      <a:pt x="226" y="239"/>
                      <a:pt x="212" y="227"/>
                      <a:pt x="199" y="226"/>
                    </a:cubicBezTo>
                    <a:cubicBezTo>
                      <a:pt x="179" y="225"/>
                      <a:pt x="153" y="259"/>
                      <a:pt x="146" y="271"/>
                    </a:cubicBezTo>
                    <a:cubicBezTo>
                      <a:pt x="142" y="276"/>
                      <a:pt x="139" y="282"/>
                      <a:pt x="133" y="279"/>
                    </a:cubicBezTo>
                    <a:cubicBezTo>
                      <a:pt x="128" y="276"/>
                      <a:pt x="128" y="276"/>
                      <a:pt x="131" y="267"/>
                    </a:cubicBezTo>
                    <a:cubicBezTo>
                      <a:pt x="136" y="254"/>
                      <a:pt x="160" y="228"/>
                      <a:pt x="171" y="220"/>
                    </a:cubicBezTo>
                    <a:cubicBezTo>
                      <a:pt x="182" y="210"/>
                      <a:pt x="184" y="209"/>
                      <a:pt x="188" y="197"/>
                    </a:cubicBezTo>
                    <a:cubicBezTo>
                      <a:pt x="190" y="174"/>
                      <a:pt x="189" y="169"/>
                      <a:pt x="183" y="168"/>
                    </a:cubicBezTo>
                    <a:cubicBezTo>
                      <a:pt x="176" y="167"/>
                      <a:pt x="147" y="163"/>
                      <a:pt x="146" y="181"/>
                    </a:cubicBezTo>
                    <a:cubicBezTo>
                      <a:pt x="145" y="196"/>
                      <a:pt x="145" y="203"/>
                      <a:pt x="145" y="209"/>
                    </a:cubicBezTo>
                    <a:cubicBezTo>
                      <a:pt x="145" y="218"/>
                      <a:pt x="145" y="216"/>
                      <a:pt x="136" y="216"/>
                    </a:cubicBezTo>
                    <a:cubicBezTo>
                      <a:pt x="130" y="216"/>
                      <a:pt x="133" y="186"/>
                      <a:pt x="133" y="166"/>
                    </a:cubicBezTo>
                    <a:cubicBezTo>
                      <a:pt x="136" y="153"/>
                      <a:pt x="144" y="155"/>
                      <a:pt x="156" y="154"/>
                    </a:cubicBezTo>
                    <a:cubicBezTo>
                      <a:pt x="162" y="155"/>
                      <a:pt x="171" y="154"/>
                      <a:pt x="175" y="154"/>
                    </a:cubicBezTo>
                    <a:cubicBezTo>
                      <a:pt x="185" y="154"/>
                      <a:pt x="188" y="149"/>
                      <a:pt x="188" y="141"/>
                    </a:cubicBezTo>
                    <a:cubicBezTo>
                      <a:pt x="189" y="132"/>
                      <a:pt x="190" y="132"/>
                      <a:pt x="197" y="131"/>
                    </a:cubicBezTo>
                    <a:cubicBezTo>
                      <a:pt x="204" y="130"/>
                      <a:pt x="203" y="135"/>
                      <a:pt x="204" y="141"/>
                    </a:cubicBezTo>
                    <a:cubicBezTo>
                      <a:pt x="207" y="151"/>
                      <a:pt x="203" y="152"/>
                      <a:pt x="218" y="153"/>
                    </a:cubicBezTo>
                    <a:cubicBezTo>
                      <a:pt x="230" y="153"/>
                      <a:pt x="239" y="153"/>
                      <a:pt x="245" y="154"/>
                    </a:cubicBezTo>
                    <a:cubicBezTo>
                      <a:pt x="257" y="155"/>
                      <a:pt x="263" y="154"/>
                      <a:pt x="264" y="172"/>
                    </a:cubicBezTo>
                    <a:cubicBezTo>
                      <a:pt x="265" y="188"/>
                      <a:pt x="269" y="202"/>
                      <a:pt x="264" y="208"/>
                    </a:cubicBezTo>
                    <a:cubicBezTo>
                      <a:pt x="262" y="210"/>
                      <a:pt x="256" y="213"/>
                      <a:pt x="252" y="213"/>
                    </a:cubicBezTo>
                    <a:cubicBezTo>
                      <a:pt x="247" y="210"/>
                      <a:pt x="258" y="176"/>
                      <a:pt x="245" y="170"/>
                    </a:cubicBezTo>
                    <a:cubicBezTo>
                      <a:pt x="237" y="166"/>
                      <a:pt x="216" y="166"/>
                      <a:pt x="209" y="169"/>
                    </a:cubicBezTo>
                    <a:cubicBezTo>
                      <a:pt x="203" y="172"/>
                      <a:pt x="206" y="184"/>
                      <a:pt x="205" y="193"/>
                    </a:cubicBezTo>
                    <a:cubicBezTo>
                      <a:pt x="205" y="200"/>
                      <a:pt x="205" y="207"/>
                      <a:pt x="219" y="217"/>
                    </a:cubicBezTo>
                    <a:cubicBezTo>
                      <a:pt x="234" y="227"/>
                      <a:pt x="247" y="240"/>
                      <a:pt x="260" y="256"/>
                    </a:cubicBezTo>
                    <a:cubicBezTo>
                      <a:pt x="268" y="264"/>
                      <a:pt x="275" y="275"/>
                      <a:pt x="262" y="279"/>
                    </a:cubicBezTo>
                    <a:close/>
                    <a:moveTo>
                      <a:pt x="270" y="85"/>
                    </a:moveTo>
                    <a:cubicBezTo>
                      <a:pt x="207" y="85"/>
                      <a:pt x="207" y="85"/>
                      <a:pt x="207" y="85"/>
                    </a:cubicBezTo>
                    <a:cubicBezTo>
                      <a:pt x="207" y="76"/>
                      <a:pt x="214" y="69"/>
                      <a:pt x="222" y="69"/>
                    </a:cubicBezTo>
                    <a:cubicBezTo>
                      <a:pt x="262" y="69"/>
                      <a:pt x="262" y="69"/>
                      <a:pt x="262" y="69"/>
                    </a:cubicBezTo>
                    <a:cubicBezTo>
                      <a:pt x="267" y="69"/>
                      <a:pt x="270" y="73"/>
                      <a:pt x="270" y="77"/>
                    </a:cubicBezTo>
                    <a:lnTo>
                      <a:pt x="270" y="85"/>
                    </a:lnTo>
                    <a:close/>
                    <a:moveTo>
                      <a:pt x="331" y="360"/>
                    </a:moveTo>
                    <a:cubicBezTo>
                      <a:pt x="328" y="363"/>
                      <a:pt x="319" y="364"/>
                      <a:pt x="317" y="367"/>
                    </a:cubicBezTo>
                    <a:cubicBezTo>
                      <a:pt x="315" y="370"/>
                      <a:pt x="316" y="391"/>
                      <a:pt x="317" y="392"/>
                    </a:cubicBezTo>
                    <a:cubicBezTo>
                      <a:pt x="319" y="394"/>
                      <a:pt x="323" y="393"/>
                      <a:pt x="330" y="392"/>
                    </a:cubicBezTo>
                    <a:cubicBezTo>
                      <a:pt x="335" y="392"/>
                      <a:pt x="336" y="407"/>
                      <a:pt x="333" y="408"/>
                    </a:cubicBezTo>
                    <a:cubicBezTo>
                      <a:pt x="329" y="409"/>
                      <a:pt x="315" y="410"/>
                      <a:pt x="307" y="411"/>
                    </a:cubicBezTo>
                    <a:cubicBezTo>
                      <a:pt x="300" y="412"/>
                      <a:pt x="295" y="412"/>
                      <a:pt x="287" y="412"/>
                    </a:cubicBezTo>
                    <a:cubicBezTo>
                      <a:pt x="280" y="412"/>
                      <a:pt x="280" y="409"/>
                      <a:pt x="280" y="403"/>
                    </a:cubicBezTo>
                    <a:cubicBezTo>
                      <a:pt x="280" y="397"/>
                      <a:pt x="279" y="395"/>
                      <a:pt x="285" y="396"/>
                    </a:cubicBezTo>
                    <a:cubicBezTo>
                      <a:pt x="291" y="396"/>
                      <a:pt x="294" y="397"/>
                      <a:pt x="300" y="392"/>
                    </a:cubicBezTo>
                    <a:cubicBezTo>
                      <a:pt x="303" y="389"/>
                      <a:pt x="301" y="381"/>
                      <a:pt x="302" y="375"/>
                    </a:cubicBezTo>
                    <a:cubicBezTo>
                      <a:pt x="301" y="370"/>
                      <a:pt x="303" y="365"/>
                      <a:pt x="295" y="367"/>
                    </a:cubicBezTo>
                    <a:cubicBezTo>
                      <a:pt x="285" y="370"/>
                      <a:pt x="284" y="371"/>
                      <a:pt x="284" y="353"/>
                    </a:cubicBezTo>
                    <a:cubicBezTo>
                      <a:pt x="284" y="347"/>
                      <a:pt x="284" y="341"/>
                      <a:pt x="284" y="336"/>
                    </a:cubicBezTo>
                    <a:cubicBezTo>
                      <a:pt x="285" y="328"/>
                      <a:pt x="283" y="323"/>
                      <a:pt x="294" y="321"/>
                    </a:cubicBezTo>
                    <a:cubicBezTo>
                      <a:pt x="299" y="320"/>
                      <a:pt x="296" y="334"/>
                      <a:pt x="296" y="341"/>
                    </a:cubicBezTo>
                    <a:cubicBezTo>
                      <a:pt x="296" y="347"/>
                      <a:pt x="295" y="354"/>
                      <a:pt x="299" y="354"/>
                    </a:cubicBezTo>
                    <a:cubicBezTo>
                      <a:pt x="308" y="355"/>
                      <a:pt x="303" y="334"/>
                      <a:pt x="303" y="317"/>
                    </a:cubicBezTo>
                    <a:cubicBezTo>
                      <a:pt x="304" y="306"/>
                      <a:pt x="301" y="301"/>
                      <a:pt x="310" y="300"/>
                    </a:cubicBezTo>
                    <a:cubicBezTo>
                      <a:pt x="318" y="298"/>
                      <a:pt x="316" y="301"/>
                      <a:pt x="317" y="311"/>
                    </a:cubicBezTo>
                    <a:cubicBezTo>
                      <a:pt x="317" y="319"/>
                      <a:pt x="316" y="350"/>
                      <a:pt x="320" y="350"/>
                    </a:cubicBezTo>
                    <a:cubicBezTo>
                      <a:pt x="328" y="349"/>
                      <a:pt x="326" y="323"/>
                      <a:pt x="326" y="319"/>
                    </a:cubicBezTo>
                    <a:cubicBezTo>
                      <a:pt x="325" y="312"/>
                      <a:pt x="324" y="309"/>
                      <a:pt x="331" y="308"/>
                    </a:cubicBezTo>
                    <a:cubicBezTo>
                      <a:pt x="337" y="308"/>
                      <a:pt x="337" y="308"/>
                      <a:pt x="338" y="314"/>
                    </a:cubicBezTo>
                    <a:cubicBezTo>
                      <a:pt x="339" y="320"/>
                      <a:pt x="339" y="326"/>
                      <a:pt x="339" y="331"/>
                    </a:cubicBezTo>
                    <a:cubicBezTo>
                      <a:pt x="339" y="337"/>
                      <a:pt x="338" y="341"/>
                      <a:pt x="337" y="348"/>
                    </a:cubicBezTo>
                    <a:cubicBezTo>
                      <a:pt x="336" y="355"/>
                      <a:pt x="333" y="358"/>
                      <a:pt x="331" y="360"/>
                    </a:cubicBezTo>
                    <a:close/>
                    <a:moveTo>
                      <a:pt x="364" y="430"/>
                    </a:moveTo>
                    <a:cubicBezTo>
                      <a:pt x="360" y="431"/>
                      <a:pt x="359" y="431"/>
                      <a:pt x="354" y="430"/>
                    </a:cubicBezTo>
                    <a:cubicBezTo>
                      <a:pt x="350" y="429"/>
                      <a:pt x="348" y="425"/>
                      <a:pt x="345" y="416"/>
                    </a:cubicBezTo>
                    <a:cubicBezTo>
                      <a:pt x="344" y="411"/>
                      <a:pt x="343" y="406"/>
                      <a:pt x="340" y="395"/>
                    </a:cubicBezTo>
                    <a:cubicBezTo>
                      <a:pt x="339" y="382"/>
                      <a:pt x="337" y="371"/>
                      <a:pt x="340" y="364"/>
                    </a:cubicBezTo>
                    <a:cubicBezTo>
                      <a:pt x="341" y="359"/>
                      <a:pt x="344" y="352"/>
                      <a:pt x="347" y="346"/>
                    </a:cubicBezTo>
                    <a:cubicBezTo>
                      <a:pt x="349" y="341"/>
                      <a:pt x="351" y="337"/>
                      <a:pt x="354" y="327"/>
                    </a:cubicBezTo>
                    <a:cubicBezTo>
                      <a:pt x="356" y="318"/>
                      <a:pt x="356" y="317"/>
                      <a:pt x="354" y="309"/>
                    </a:cubicBezTo>
                    <a:cubicBezTo>
                      <a:pt x="353" y="305"/>
                      <a:pt x="351" y="301"/>
                      <a:pt x="350" y="297"/>
                    </a:cubicBezTo>
                    <a:cubicBezTo>
                      <a:pt x="347" y="291"/>
                      <a:pt x="345" y="288"/>
                      <a:pt x="352" y="288"/>
                    </a:cubicBezTo>
                    <a:cubicBezTo>
                      <a:pt x="361" y="287"/>
                      <a:pt x="361" y="288"/>
                      <a:pt x="365" y="294"/>
                    </a:cubicBezTo>
                    <a:cubicBezTo>
                      <a:pt x="369" y="305"/>
                      <a:pt x="369" y="309"/>
                      <a:pt x="370" y="312"/>
                    </a:cubicBezTo>
                    <a:cubicBezTo>
                      <a:pt x="371" y="320"/>
                      <a:pt x="370" y="329"/>
                      <a:pt x="363" y="345"/>
                    </a:cubicBezTo>
                    <a:cubicBezTo>
                      <a:pt x="356" y="359"/>
                      <a:pt x="353" y="365"/>
                      <a:pt x="354" y="379"/>
                    </a:cubicBezTo>
                    <a:cubicBezTo>
                      <a:pt x="355" y="394"/>
                      <a:pt x="358" y="410"/>
                      <a:pt x="360" y="416"/>
                    </a:cubicBezTo>
                    <a:cubicBezTo>
                      <a:pt x="362" y="420"/>
                      <a:pt x="367" y="429"/>
                      <a:pt x="364" y="430"/>
                    </a:cubicBezTo>
                    <a:close/>
                    <a:moveTo>
                      <a:pt x="387" y="409"/>
                    </a:moveTo>
                    <a:cubicBezTo>
                      <a:pt x="390" y="419"/>
                      <a:pt x="396" y="428"/>
                      <a:pt x="392" y="429"/>
                    </a:cubicBezTo>
                    <a:cubicBezTo>
                      <a:pt x="389" y="430"/>
                      <a:pt x="383" y="429"/>
                      <a:pt x="381" y="427"/>
                    </a:cubicBezTo>
                    <a:cubicBezTo>
                      <a:pt x="377" y="423"/>
                      <a:pt x="373" y="415"/>
                      <a:pt x="371" y="402"/>
                    </a:cubicBezTo>
                    <a:cubicBezTo>
                      <a:pt x="369" y="388"/>
                      <a:pt x="367" y="379"/>
                      <a:pt x="369" y="366"/>
                    </a:cubicBezTo>
                    <a:cubicBezTo>
                      <a:pt x="373" y="347"/>
                      <a:pt x="383" y="341"/>
                      <a:pt x="385" y="325"/>
                    </a:cubicBezTo>
                    <a:cubicBezTo>
                      <a:pt x="385" y="315"/>
                      <a:pt x="384" y="312"/>
                      <a:pt x="383" y="307"/>
                    </a:cubicBezTo>
                    <a:cubicBezTo>
                      <a:pt x="380" y="300"/>
                      <a:pt x="371" y="288"/>
                      <a:pt x="382" y="288"/>
                    </a:cubicBezTo>
                    <a:cubicBezTo>
                      <a:pt x="388" y="288"/>
                      <a:pt x="388" y="289"/>
                      <a:pt x="391" y="291"/>
                    </a:cubicBezTo>
                    <a:cubicBezTo>
                      <a:pt x="395" y="294"/>
                      <a:pt x="399" y="308"/>
                      <a:pt x="400" y="316"/>
                    </a:cubicBezTo>
                    <a:cubicBezTo>
                      <a:pt x="401" y="327"/>
                      <a:pt x="395" y="339"/>
                      <a:pt x="391" y="349"/>
                    </a:cubicBezTo>
                    <a:cubicBezTo>
                      <a:pt x="387" y="361"/>
                      <a:pt x="382" y="367"/>
                      <a:pt x="382" y="378"/>
                    </a:cubicBezTo>
                    <a:cubicBezTo>
                      <a:pt x="383" y="386"/>
                      <a:pt x="384" y="396"/>
                      <a:pt x="387" y="409"/>
                    </a:cubicBezTo>
                    <a:close/>
                    <a:moveTo>
                      <a:pt x="424" y="337"/>
                    </a:moveTo>
                    <a:cubicBezTo>
                      <a:pt x="419" y="357"/>
                      <a:pt x="414" y="354"/>
                      <a:pt x="410" y="376"/>
                    </a:cubicBezTo>
                    <a:cubicBezTo>
                      <a:pt x="410" y="384"/>
                      <a:pt x="415" y="402"/>
                      <a:pt x="417" y="409"/>
                    </a:cubicBezTo>
                    <a:cubicBezTo>
                      <a:pt x="418" y="415"/>
                      <a:pt x="424" y="428"/>
                      <a:pt x="421" y="429"/>
                    </a:cubicBezTo>
                    <a:cubicBezTo>
                      <a:pt x="418" y="429"/>
                      <a:pt x="411" y="428"/>
                      <a:pt x="409" y="426"/>
                    </a:cubicBezTo>
                    <a:cubicBezTo>
                      <a:pt x="405" y="423"/>
                      <a:pt x="402" y="411"/>
                      <a:pt x="401" y="406"/>
                    </a:cubicBezTo>
                    <a:cubicBezTo>
                      <a:pt x="398" y="394"/>
                      <a:pt x="393" y="373"/>
                      <a:pt x="402" y="355"/>
                    </a:cubicBezTo>
                    <a:cubicBezTo>
                      <a:pt x="405" y="350"/>
                      <a:pt x="409" y="342"/>
                      <a:pt x="411" y="328"/>
                    </a:cubicBezTo>
                    <a:cubicBezTo>
                      <a:pt x="411" y="309"/>
                      <a:pt x="410" y="307"/>
                      <a:pt x="407" y="298"/>
                    </a:cubicBezTo>
                    <a:cubicBezTo>
                      <a:pt x="405" y="293"/>
                      <a:pt x="402" y="289"/>
                      <a:pt x="407" y="289"/>
                    </a:cubicBezTo>
                    <a:cubicBezTo>
                      <a:pt x="421" y="289"/>
                      <a:pt x="420" y="293"/>
                      <a:pt x="424" y="302"/>
                    </a:cubicBezTo>
                    <a:cubicBezTo>
                      <a:pt x="426" y="313"/>
                      <a:pt x="427" y="318"/>
                      <a:pt x="424" y="337"/>
                    </a:cubicBezTo>
                    <a:close/>
                    <a:moveTo>
                      <a:pt x="420" y="272"/>
                    </a:moveTo>
                    <a:cubicBezTo>
                      <a:pt x="413" y="275"/>
                      <a:pt x="413" y="271"/>
                      <a:pt x="413" y="260"/>
                    </a:cubicBezTo>
                    <a:cubicBezTo>
                      <a:pt x="413" y="253"/>
                      <a:pt x="414" y="231"/>
                      <a:pt x="404" y="227"/>
                    </a:cubicBezTo>
                    <a:cubicBezTo>
                      <a:pt x="396" y="223"/>
                      <a:pt x="388" y="223"/>
                      <a:pt x="386" y="226"/>
                    </a:cubicBezTo>
                    <a:cubicBezTo>
                      <a:pt x="385" y="228"/>
                      <a:pt x="385" y="267"/>
                      <a:pt x="385" y="267"/>
                    </a:cubicBezTo>
                    <a:cubicBezTo>
                      <a:pt x="385" y="276"/>
                      <a:pt x="381" y="275"/>
                      <a:pt x="377" y="274"/>
                    </a:cubicBezTo>
                    <a:cubicBezTo>
                      <a:pt x="369" y="272"/>
                      <a:pt x="370" y="267"/>
                      <a:pt x="370" y="260"/>
                    </a:cubicBezTo>
                    <a:cubicBezTo>
                      <a:pt x="370" y="253"/>
                      <a:pt x="370" y="227"/>
                      <a:pt x="369" y="225"/>
                    </a:cubicBezTo>
                    <a:cubicBezTo>
                      <a:pt x="368" y="224"/>
                      <a:pt x="353" y="223"/>
                      <a:pt x="350" y="239"/>
                    </a:cubicBezTo>
                    <a:cubicBezTo>
                      <a:pt x="348" y="254"/>
                      <a:pt x="346" y="264"/>
                      <a:pt x="346" y="267"/>
                    </a:cubicBezTo>
                    <a:cubicBezTo>
                      <a:pt x="345" y="269"/>
                      <a:pt x="345" y="271"/>
                      <a:pt x="344" y="272"/>
                    </a:cubicBezTo>
                    <a:cubicBezTo>
                      <a:pt x="341" y="273"/>
                      <a:pt x="335" y="274"/>
                      <a:pt x="334" y="272"/>
                    </a:cubicBezTo>
                    <a:cubicBezTo>
                      <a:pt x="333" y="267"/>
                      <a:pt x="334" y="258"/>
                      <a:pt x="335" y="249"/>
                    </a:cubicBezTo>
                    <a:cubicBezTo>
                      <a:pt x="337" y="239"/>
                      <a:pt x="339" y="232"/>
                      <a:pt x="342" y="223"/>
                    </a:cubicBezTo>
                    <a:cubicBezTo>
                      <a:pt x="343" y="217"/>
                      <a:pt x="359" y="214"/>
                      <a:pt x="367" y="210"/>
                    </a:cubicBezTo>
                    <a:cubicBezTo>
                      <a:pt x="373" y="209"/>
                      <a:pt x="371" y="201"/>
                      <a:pt x="369" y="200"/>
                    </a:cubicBezTo>
                    <a:cubicBezTo>
                      <a:pt x="367" y="200"/>
                      <a:pt x="356" y="201"/>
                      <a:pt x="350" y="202"/>
                    </a:cubicBezTo>
                    <a:cubicBezTo>
                      <a:pt x="346" y="202"/>
                      <a:pt x="342" y="205"/>
                      <a:pt x="338" y="198"/>
                    </a:cubicBezTo>
                    <a:cubicBezTo>
                      <a:pt x="336" y="194"/>
                      <a:pt x="336" y="190"/>
                      <a:pt x="346" y="190"/>
                    </a:cubicBezTo>
                    <a:cubicBezTo>
                      <a:pt x="360" y="189"/>
                      <a:pt x="360" y="189"/>
                      <a:pt x="360" y="189"/>
                    </a:cubicBezTo>
                    <a:cubicBezTo>
                      <a:pt x="360" y="189"/>
                      <a:pt x="370" y="188"/>
                      <a:pt x="371" y="187"/>
                    </a:cubicBezTo>
                    <a:cubicBezTo>
                      <a:pt x="371" y="184"/>
                      <a:pt x="371" y="179"/>
                      <a:pt x="373" y="175"/>
                    </a:cubicBezTo>
                    <a:cubicBezTo>
                      <a:pt x="374" y="174"/>
                      <a:pt x="378" y="175"/>
                      <a:pt x="381" y="175"/>
                    </a:cubicBezTo>
                    <a:cubicBezTo>
                      <a:pt x="386" y="177"/>
                      <a:pt x="384" y="177"/>
                      <a:pt x="385" y="183"/>
                    </a:cubicBezTo>
                    <a:cubicBezTo>
                      <a:pt x="385" y="186"/>
                      <a:pt x="384" y="187"/>
                      <a:pt x="401" y="187"/>
                    </a:cubicBezTo>
                    <a:cubicBezTo>
                      <a:pt x="414" y="186"/>
                      <a:pt x="423" y="185"/>
                      <a:pt x="422" y="190"/>
                    </a:cubicBezTo>
                    <a:cubicBezTo>
                      <a:pt x="422" y="192"/>
                      <a:pt x="422" y="197"/>
                      <a:pt x="421" y="198"/>
                    </a:cubicBezTo>
                    <a:cubicBezTo>
                      <a:pt x="419" y="200"/>
                      <a:pt x="416" y="199"/>
                      <a:pt x="410" y="200"/>
                    </a:cubicBezTo>
                    <a:cubicBezTo>
                      <a:pt x="402" y="200"/>
                      <a:pt x="388" y="200"/>
                      <a:pt x="386" y="201"/>
                    </a:cubicBezTo>
                    <a:cubicBezTo>
                      <a:pt x="384" y="201"/>
                      <a:pt x="385" y="204"/>
                      <a:pt x="385" y="206"/>
                    </a:cubicBezTo>
                    <a:cubicBezTo>
                      <a:pt x="386" y="208"/>
                      <a:pt x="385" y="208"/>
                      <a:pt x="393" y="210"/>
                    </a:cubicBezTo>
                    <a:cubicBezTo>
                      <a:pt x="419" y="218"/>
                      <a:pt x="419" y="217"/>
                      <a:pt x="423" y="234"/>
                    </a:cubicBezTo>
                    <a:cubicBezTo>
                      <a:pt x="426" y="248"/>
                      <a:pt x="426" y="256"/>
                      <a:pt x="426" y="261"/>
                    </a:cubicBezTo>
                    <a:cubicBezTo>
                      <a:pt x="426" y="266"/>
                      <a:pt x="428" y="269"/>
                      <a:pt x="420" y="27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33"/>
              <p:cNvSpPr/>
              <p:nvPr/>
            </p:nvSpPr>
            <p:spPr bwMode="auto">
              <a:xfrm>
                <a:off x="5250222" y="1604574"/>
                <a:ext cx="112866" cy="108062"/>
              </a:xfrm>
              <a:custGeom>
                <a:avLst/>
                <a:gdLst>
                  <a:gd name="T0" fmla="*/ 10 w 20"/>
                  <a:gd name="T1" fmla="*/ 18 h 19"/>
                  <a:gd name="T2" fmla="*/ 17 w 20"/>
                  <a:gd name="T3" fmla="*/ 17 h 19"/>
                  <a:gd name="T4" fmla="*/ 18 w 20"/>
                  <a:gd name="T5" fmla="*/ 5 h 19"/>
                  <a:gd name="T6" fmla="*/ 4 w 20"/>
                  <a:gd name="T7" fmla="*/ 1 h 19"/>
                  <a:gd name="T8" fmla="*/ 0 w 20"/>
                  <a:gd name="T9" fmla="*/ 5 h 19"/>
                  <a:gd name="T10" fmla="*/ 10 w 20"/>
                  <a:gd name="T11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0" h="19">
                    <a:moveTo>
                      <a:pt x="10" y="18"/>
                    </a:moveTo>
                    <a:cubicBezTo>
                      <a:pt x="17" y="17"/>
                      <a:pt x="17" y="17"/>
                      <a:pt x="17" y="17"/>
                    </a:cubicBezTo>
                    <a:cubicBezTo>
                      <a:pt x="20" y="17"/>
                      <a:pt x="20" y="12"/>
                      <a:pt x="18" y="5"/>
                    </a:cubicBezTo>
                    <a:cubicBezTo>
                      <a:pt x="16" y="0"/>
                      <a:pt x="10" y="0"/>
                      <a:pt x="4" y="1"/>
                    </a:cubicBezTo>
                    <a:cubicBezTo>
                      <a:pt x="1" y="1"/>
                      <a:pt x="0" y="1"/>
                      <a:pt x="0" y="5"/>
                    </a:cubicBezTo>
                    <a:cubicBezTo>
                      <a:pt x="3" y="19"/>
                      <a:pt x="3" y="17"/>
                      <a:pt x="10" y="1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34"/>
              <p:cNvSpPr/>
              <p:nvPr/>
            </p:nvSpPr>
            <p:spPr bwMode="auto">
              <a:xfrm>
                <a:off x="4971662" y="1616582"/>
                <a:ext cx="100857" cy="96055"/>
              </a:xfrm>
              <a:custGeom>
                <a:avLst/>
                <a:gdLst>
                  <a:gd name="T0" fmla="*/ 3 w 18"/>
                  <a:gd name="T1" fmla="*/ 17 h 17"/>
                  <a:gd name="T2" fmla="*/ 8 w 18"/>
                  <a:gd name="T3" fmla="*/ 16 h 17"/>
                  <a:gd name="T4" fmla="*/ 18 w 18"/>
                  <a:gd name="T5" fmla="*/ 3 h 17"/>
                  <a:gd name="T6" fmla="*/ 8 w 18"/>
                  <a:gd name="T7" fmla="*/ 1 h 17"/>
                  <a:gd name="T8" fmla="*/ 2 w 18"/>
                  <a:gd name="T9" fmla="*/ 6 h 17"/>
                  <a:gd name="T10" fmla="*/ 3 w 18"/>
                  <a:gd name="T11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7">
                    <a:moveTo>
                      <a:pt x="3" y="17"/>
                    </a:moveTo>
                    <a:cubicBezTo>
                      <a:pt x="8" y="16"/>
                      <a:pt x="8" y="16"/>
                      <a:pt x="8" y="16"/>
                    </a:cubicBezTo>
                    <a:cubicBezTo>
                      <a:pt x="17" y="16"/>
                      <a:pt x="17" y="11"/>
                      <a:pt x="18" y="3"/>
                    </a:cubicBezTo>
                    <a:cubicBezTo>
                      <a:pt x="18" y="0"/>
                      <a:pt x="13" y="0"/>
                      <a:pt x="8" y="1"/>
                    </a:cubicBezTo>
                    <a:cubicBezTo>
                      <a:pt x="3" y="2"/>
                      <a:pt x="3" y="2"/>
                      <a:pt x="2" y="6"/>
                    </a:cubicBezTo>
                    <a:cubicBezTo>
                      <a:pt x="1" y="9"/>
                      <a:pt x="0" y="16"/>
                      <a:pt x="3" y="1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55640" y="764704"/>
            <a:ext cx="6552728" cy="114300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40" name="内容占位符 2"/>
          <p:cNvSpPr>
            <a:spLocks noGrp="1"/>
          </p:cNvSpPr>
          <p:nvPr>
            <p:ph sz="half" idx="1"/>
          </p:nvPr>
        </p:nvSpPr>
        <p:spPr>
          <a:xfrm>
            <a:off x="609600" y="2492896"/>
            <a:ext cx="5384800" cy="363326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1" name="内容占位符 3"/>
          <p:cNvSpPr>
            <a:spLocks noGrp="1"/>
          </p:cNvSpPr>
          <p:nvPr>
            <p:ph sz="half" idx="2"/>
          </p:nvPr>
        </p:nvSpPr>
        <p:spPr>
          <a:xfrm>
            <a:off x="6197600" y="2492896"/>
            <a:ext cx="5384800" cy="363326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内容占位符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000" y="-1913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3284984"/>
            <a:ext cx="10363200" cy="851263"/>
          </a:xfrm>
        </p:spPr>
        <p:txBody>
          <a:bodyPr anchor="t"/>
          <a:lstStyle>
            <a:lvl1pPr algn="ctr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4400" y="918330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935F4044-894B-B74C-BA70-A76DFBF02618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803" y="310787"/>
            <a:ext cx="2594859" cy="741949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700808"/>
            <a:ext cx="5384800" cy="44253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700808"/>
            <a:ext cx="5384800" cy="44253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935F4044-894B-B74C-BA70-A76DFBF0261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749635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405063"/>
            <a:ext cx="5386917" cy="3721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765301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405063"/>
            <a:ext cx="5389033" cy="3721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935F4044-894B-B74C-BA70-A76DFBF0261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842400"/>
            <a:ext cx="10972800" cy="756000"/>
          </a:xfrm>
        </p:spPr>
        <p:txBody>
          <a:bodyPr/>
          <a:lstStyle>
            <a:lvl1pPr algn="l">
              <a:defRPr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935F4044-894B-B74C-BA70-A76DFBF0261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935F4044-894B-B74C-BA70-A76DFBF0261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935F4044-894B-B74C-BA70-A76DFBF0261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935F4044-894B-B74C-BA70-A76DFBF0261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935F4044-894B-B74C-BA70-A76DFBF0261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BU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2359741" y="4657198"/>
            <a:ext cx="9832259" cy="181"/>
          </a:xfrm>
          <a:prstGeom prst="line">
            <a:avLst/>
          </a:prstGeom>
          <a:ln w="1905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836" y="1272797"/>
            <a:ext cx="5341648" cy="685081"/>
          </a:xfrm>
          <a:prstGeom prst="rect">
            <a:avLst/>
          </a:prstGeom>
        </p:spPr>
      </p:pic>
      <p:sp>
        <p:nvSpPr>
          <p:cNvPr id="9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249128" y="4860051"/>
            <a:ext cx="8524568" cy="8185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i="0" baseline="0">
                <a:solidFill>
                  <a:schemeClr val="bg1"/>
                </a:solidFill>
                <a:latin typeface="+mn-lt"/>
                <a:ea typeface="Georgia" panose="02040502050405020303" charset="0"/>
                <a:cs typeface="Georgia" panose="02040502050405020303" charset="0"/>
              </a:defRPr>
            </a:lvl1pPr>
            <a:lvl2pPr>
              <a:defRPr sz="1800">
                <a:solidFill>
                  <a:srgbClr val="C0C0C0"/>
                </a:solidFill>
                <a:latin typeface="Museo Slab 500" charset="0"/>
                <a:ea typeface="Museo Slab 500" charset="0"/>
                <a:cs typeface="Museo Slab 500" charset="0"/>
              </a:defRPr>
            </a:lvl2pPr>
            <a:lvl3pPr>
              <a:defRPr sz="1800">
                <a:solidFill>
                  <a:srgbClr val="C0C0C0"/>
                </a:solidFill>
                <a:latin typeface="Museo Slab 500" charset="0"/>
                <a:ea typeface="Museo Slab 500" charset="0"/>
                <a:cs typeface="Museo Slab 500" charset="0"/>
              </a:defRPr>
            </a:lvl3pPr>
            <a:lvl4pPr>
              <a:defRPr sz="1800">
                <a:solidFill>
                  <a:srgbClr val="C0C0C0"/>
                </a:solidFill>
                <a:latin typeface="Museo Slab 500" charset="0"/>
                <a:ea typeface="Museo Slab 500" charset="0"/>
                <a:cs typeface="Museo Slab 500" charset="0"/>
              </a:defRPr>
            </a:lvl4pPr>
            <a:lvl5pPr>
              <a:defRPr sz="1800">
                <a:solidFill>
                  <a:srgbClr val="C0C0C0"/>
                </a:solidFill>
                <a:latin typeface="Museo Slab 500" charset="0"/>
                <a:ea typeface="Museo Slab 500" charset="0"/>
                <a:cs typeface="Museo Slab 500" charset="0"/>
              </a:defRPr>
            </a:lvl5pPr>
          </a:lstStyle>
          <a:p>
            <a:pPr lvl="0"/>
            <a:r>
              <a:rPr lang="en-US" dirty="0"/>
              <a:t>SUBTITLE OR NAME OF PRESENTATION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249128" y="2160550"/>
            <a:ext cx="8524568" cy="2281032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j-lt"/>
                <a:cs typeface="Aharoni" panose="020B0604020202020204" pitchFamily="2" charset="-79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" name="矩形 1"/>
          <p:cNvSpPr/>
          <p:nvPr userDrawn="1"/>
        </p:nvSpPr>
        <p:spPr>
          <a:xfrm>
            <a:off x="710213" y="6303146"/>
            <a:ext cx="1811045" cy="4705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BU Centered Text-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20800" y="720000"/>
            <a:ext cx="10632000" cy="864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lnSpc>
                <a:spcPct val="80000"/>
              </a:lnSpc>
              <a:defRPr sz="3600" b="0" i="0">
                <a:latin typeface="Verdana" panose="020B0604030504040204" charset="0"/>
                <a:ea typeface="Verdana" panose="020B0604030504040204" charset="0"/>
                <a:cs typeface="Verdana" panose="020B0604030504040204" charset="0"/>
              </a:defRPr>
            </a:lvl1pPr>
          </a:lstStyle>
          <a:p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09712" y="6425176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000" b="1" i="0">
                <a:solidFill>
                  <a:srgbClr val="828383"/>
                </a:solidFill>
                <a:latin typeface="Georgia" panose="02040502050405020303" charset="0"/>
                <a:ea typeface="Georgia" panose="02040502050405020303" charset="0"/>
                <a:cs typeface="Georgia" panose="02040502050405020303" charset="0"/>
              </a:defRPr>
            </a:lvl1pPr>
          </a:lstStyle>
          <a:p>
            <a:fld id="{935F4044-894B-B74C-BA70-A76DFBF0261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20800" y="1767600"/>
            <a:ext cx="5134523" cy="4370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 baseline="0">
                <a:solidFill>
                  <a:srgbClr val="828383"/>
                </a:solidFill>
                <a:latin typeface="Georgia" panose="02040502050405020303" charset="0"/>
                <a:ea typeface="Georgia" panose="02040502050405020303" charset="0"/>
                <a:cs typeface="Georgia" panose="02040502050405020303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 quam, </a:t>
            </a:r>
            <a:r>
              <a:rPr lang="en-US" dirty="0" err="1"/>
              <a:t>pulvinar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vitae,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dui. </a:t>
            </a:r>
            <a:r>
              <a:rPr lang="en-US" dirty="0" err="1"/>
              <a:t>Phasellus</a:t>
            </a:r>
            <a:r>
              <a:rPr lang="en-US" dirty="0"/>
              <a:t> maximus id </a:t>
            </a:r>
            <a:r>
              <a:rPr lang="en-US" dirty="0" err="1"/>
              <a:t>neque</a:t>
            </a:r>
            <a:r>
              <a:rPr lang="en-US" dirty="0"/>
              <a:t> et convallis.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</a:t>
            </a:r>
          </a:p>
          <a:p>
            <a:pPr lvl="0"/>
            <a:endParaRPr lang="en-US" dirty="0"/>
          </a:p>
          <a:p>
            <a:pPr lvl="0"/>
            <a:r>
              <a:rPr lang="en-US" dirty="0" err="1"/>
              <a:t>Ut</a:t>
            </a:r>
            <a:r>
              <a:rPr lang="en-US" dirty="0"/>
              <a:t> at mi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. </a:t>
            </a:r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rutrum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magna, et </a:t>
            </a:r>
            <a:r>
              <a:rPr lang="en-US" dirty="0" err="1"/>
              <a:t>alqiquam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tempus sed. </a:t>
            </a:r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ac nisi ac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blandit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, </a:t>
            </a:r>
            <a:r>
              <a:rPr lang="en-US" dirty="0" err="1"/>
              <a:t>hendrerit</a:t>
            </a:r>
            <a:r>
              <a:rPr lang="en-US" dirty="0"/>
              <a:t> in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, porta </a:t>
            </a:r>
            <a:r>
              <a:rPr lang="en-US" dirty="0" err="1"/>
              <a:t>eget</a:t>
            </a:r>
            <a:r>
              <a:rPr lang="en-US" dirty="0"/>
              <a:t> ipsum. </a:t>
            </a:r>
          </a:p>
          <a:p>
            <a:pPr lvl="0"/>
            <a:endParaRPr lang="en-US" dirty="0"/>
          </a:p>
          <a:p>
            <a:pPr lvl="0"/>
            <a:r>
              <a:rPr lang="en-US" dirty="0" err="1"/>
              <a:t>Curabitur</a:t>
            </a:r>
            <a:r>
              <a:rPr lang="en-US" dirty="0"/>
              <a:t> ac </a:t>
            </a:r>
            <a:r>
              <a:rPr lang="en-US" dirty="0" err="1"/>
              <a:t>porttitor</a:t>
            </a:r>
            <a:r>
              <a:rPr lang="en-US" dirty="0"/>
              <a:t> dolor, a </a:t>
            </a:r>
            <a:r>
              <a:rPr lang="en-US" dirty="0" err="1"/>
              <a:t>euismod</a:t>
            </a:r>
            <a:r>
              <a:rPr lang="en-US" dirty="0"/>
              <a:t> ante.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iaculis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porttitor</a:t>
            </a:r>
            <a:r>
              <a:rPr lang="en-US" dirty="0"/>
              <a:t> ligula </a:t>
            </a:r>
            <a:r>
              <a:rPr lang="en-US" dirty="0" err="1"/>
              <a:t>ornare</a:t>
            </a:r>
            <a:r>
              <a:rPr lang="en-US" dirty="0"/>
              <a:t>, </a:t>
            </a:r>
            <a:r>
              <a:rPr lang="en-US" dirty="0" err="1"/>
              <a:t>rutrum</a:t>
            </a:r>
            <a:r>
              <a:rPr lang="en-US" dirty="0"/>
              <a:t> ipsum at, </a:t>
            </a:r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elementum</a:t>
            </a:r>
            <a:r>
              <a:rPr lang="en-US" dirty="0"/>
              <a:t>. </a:t>
            </a:r>
          </a:p>
          <a:p>
            <a:pPr lvl="0"/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6236680" y="1767600"/>
            <a:ext cx="5216232" cy="4370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 baseline="0">
                <a:solidFill>
                  <a:srgbClr val="828383"/>
                </a:solidFill>
                <a:latin typeface="Georgia" panose="02040502050405020303" charset="0"/>
                <a:ea typeface="Georgia" panose="02040502050405020303" charset="0"/>
                <a:cs typeface="Georgia" panose="02040502050405020303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sapien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porttitor</a:t>
            </a:r>
            <a:r>
              <a:rPr lang="en-US" dirty="0"/>
              <a:t> non lorem vitae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efficitur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. Nam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omare</a:t>
            </a:r>
            <a:r>
              <a:rPr lang="en-US" dirty="0"/>
              <a:t>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. </a:t>
            </a:r>
          </a:p>
          <a:p>
            <a:pPr lvl="0"/>
            <a:endParaRPr lang="en-US" dirty="0"/>
          </a:p>
          <a:p>
            <a:pPr lvl="0"/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potenti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sapien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. </a:t>
            </a:r>
            <a:r>
              <a:rPr lang="en-US" dirty="0" err="1"/>
              <a:t>Vivamus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</a:t>
            </a:r>
            <a:r>
              <a:rPr lang="en-US" dirty="0" err="1"/>
              <a:t>vel</a:t>
            </a:r>
            <a:r>
              <a:rPr lang="en-US" dirty="0"/>
              <a:t> dictum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ac.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ac </a:t>
            </a:r>
            <a:r>
              <a:rPr lang="en-US" dirty="0" err="1"/>
              <a:t>tortor</a:t>
            </a:r>
            <a:r>
              <a:rPr lang="en-US" dirty="0"/>
              <a:t> </a:t>
            </a:r>
            <a:r>
              <a:rPr lang="en-US" dirty="0" err="1"/>
              <a:t>blandit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in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iaculis</a:t>
            </a:r>
            <a:r>
              <a:rPr lang="en-US" dirty="0"/>
              <a:t>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, id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sapien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. Nunc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iaculis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gravida. </a:t>
            </a:r>
            <a:r>
              <a:rPr lang="en-US" dirty="0" err="1"/>
              <a:t>Curabitur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,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vitae,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metus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. In </a:t>
            </a:r>
            <a:r>
              <a:rPr lang="en-US" dirty="0" err="1"/>
              <a:t>hac</a:t>
            </a:r>
            <a:r>
              <a:rPr lang="en-US" dirty="0"/>
              <a:t> </a:t>
            </a:r>
            <a:r>
              <a:rPr lang="en-US" dirty="0" err="1"/>
              <a:t>habitasse</a:t>
            </a:r>
            <a:r>
              <a:rPr lang="en-US" dirty="0"/>
              <a:t> </a:t>
            </a:r>
            <a:r>
              <a:rPr lang="en-US" dirty="0" err="1"/>
              <a:t>platea</a:t>
            </a:r>
            <a:r>
              <a:rPr lang="en-US" dirty="0"/>
              <a:t> </a:t>
            </a:r>
            <a:r>
              <a:rPr lang="en-US" dirty="0" err="1"/>
              <a:t>dictumst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vitae. </a:t>
            </a:r>
          </a:p>
          <a:p>
            <a:pPr lvl="0"/>
            <a:endParaRPr 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710213" y="6303146"/>
            <a:ext cx="1811045" cy="4705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Relationship Id="rId16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内容占位符 4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25953"/>
            <a:ext cx="12191999" cy="685800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831600"/>
            <a:ext cx="10972800" cy="756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806645"/>
            <a:ext cx="10972800" cy="43195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5F4044-894B-B74C-BA70-A76DFBF02618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8" name="组合 7"/>
          <p:cNvGrpSpPr/>
          <p:nvPr/>
        </p:nvGrpSpPr>
        <p:grpSpPr>
          <a:xfrm>
            <a:off x="0" y="-25953"/>
            <a:ext cx="3805536" cy="817821"/>
            <a:chOff x="0" y="522947"/>
            <a:chExt cx="3805536" cy="817821"/>
          </a:xfrm>
        </p:grpSpPr>
        <p:sp>
          <p:nvSpPr>
            <p:cNvPr id="9" name="矩形 8"/>
            <p:cNvSpPr/>
            <p:nvPr/>
          </p:nvSpPr>
          <p:spPr>
            <a:xfrm>
              <a:off x="0" y="522947"/>
              <a:ext cx="468329" cy="817821"/>
            </a:xfrm>
            <a:prstGeom prst="rect">
              <a:avLst/>
            </a:prstGeom>
            <a:solidFill>
              <a:srgbClr val="950040"/>
            </a:solidFill>
            <a:ln cap="flat" cmpd="sng">
              <a:noFill/>
              <a:beve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695400" y="1234519"/>
              <a:ext cx="3110136" cy="0"/>
            </a:xfrm>
            <a:prstGeom prst="line">
              <a:avLst/>
            </a:prstGeom>
            <a:ln w="31750">
              <a:gradFill flip="none" rotWithShape="1">
                <a:gsLst>
                  <a:gs pos="0">
                    <a:srgbClr val="C97E9E"/>
                  </a:gs>
                  <a:gs pos="2000">
                    <a:srgbClr val="950040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图片 11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618" y="58200"/>
            <a:ext cx="1938655" cy="554355"/>
          </a:xfrm>
          <a:prstGeom prst="rect">
            <a:avLst/>
          </a:prstGeom>
        </p:spPr>
      </p:pic>
      <p:cxnSp>
        <p:nvCxnSpPr>
          <p:cNvPr id="16" name="Straight Connector 12"/>
          <p:cNvCxnSpPr/>
          <p:nvPr userDrawn="1"/>
        </p:nvCxnSpPr>
        <p:spPr>
          <a:xfrm>
            <a:off x="838201" y="6248473"/>
            <a:ext cx="10520908" cy="1"/>
          </a:xfrm>
          <a:prstGeom prst="line">
            <a:avLst/>
          </a:prstGeom>
          <a:ln w="19050">
            <a:solidFill>
              <a:srgbClr val="C0C0C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56032"/>
          </a:xfrm>
          <a:prstGeom prst="rect">
            <a:avLst/>
          </a:prstGeom>
          <a:solidFill>
            <a:srgbClr val="14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257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06200" y="644652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773"/>
                </a:solidFill>
                <a:latin typeface="Aptos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14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15184" y="0"/>
            <a:ext cx="128016" cy="6858000"/>
          </a:xfrm>
          <a:prstGeom prst="rect">
            <a:avLst/>
          </a:prstGeom>
          <a:solidFill>
            <a:srgbClr val="257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4680" y="1234440"/>
            <a:ext cx="7589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14394E"/>
                </a:solidFill>
                <a:latin typeface="Microsoft YaHei"/>
              </a:rPr>
              <a:t>基于表格基础模型与集成学习的
PM2.5 浓度预测研究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788920"/>
            <a:ext cx="685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E272E"/>
                </a:solidFill>
                <a:latin typeface="Microsoft YaHei"/>
              </a:defRPr>
            </a:pPr>
            <a:r>
              <a:t>姓名：曹博宇    学号：2022080182</a:t>
            </a:r>
          </a:p>
          <a:p>
            <a:pPr>
              <a:defRPr sz="1500">
                <a:solidFill>
                  <a:srgbClr val="1E272E"/>
                </a:solidFill>
                <a:latin typeface="Microsoft YaHei"/>
              </a:defRPr>
            </a:pPr>
            <a:r>
              <a:t>专业：计算机科学与技术</a:t>
            </a:r>
          </a:p>
          <a:p>
            <a:pPr>
              <a:defRPr sz="1500">
                <a:solidFill>
                  <a:srgbClr val="1E272E"/>
                </a:solidFill>
                <a:latin typeface="Microsoft YaHei"/>
              </a:defRPr>
            </a:pPr>
            <a:r>
              <a:t>指导教师：张昊迪</a:t>
            </a:r>
          </a:p>
          <a:p>
            <a:pPr>
              <a:defRPr sz="1500">
                <a:solidFill>
                  <a:srgbClr val="1E272E"/>
                </a:solidFill>
                <a:latin typeface="Microsoft YaHei"/>
              </a:defRPr>
            </a:pPr>
            <a:r>
              <a:t>答辩时间：2026年6月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005840"/>
            <a:ext cx="18288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Graduation</a:t>
            </a:r>
          </a:p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Defense</a:t>
            </a:r>
          </a:p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PM2.5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56032"/>
          </a:xfrm>
          <a:prstGeom prst="rect">
            <a:avLst/>
          </a:prstGeom>
          <a:solidFill>
            <a:srgbClr val="14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257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01384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C6773"/>
                </a:solidFill>
                <a:latin typeface="Microsoft YaHei"/>
              </a:rPr>
              <a:t>答辩结构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06200" y="644652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773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"/>
            <a:ext cx="1024128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600" b="1">
                <a:solidFill>
                  <a:srgbClr val="14394E"/>
                </a:solidFill>
                <a:latin typeface="Microsoft YaHei"/>
              </a:rPr>
              <a:t>目录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685800" cy="457200"/>
          </a:xfrm>
          <a:prstGeom prst="roundRect">
            <a:avLst/>
          </a:prstGeom>
          <a:solidFill>
            <a:srgbClr val="257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81328"/>
            <a:ext cx="594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01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399032"/>
            <a:ext cx="84124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394E"/>
                </a:solidFill>
                <a:latin typeface="Microsoft YaHei"/>
              </a:rPr>
              <a:t>研究背景与问题定义</a:t>
            </a:r>
          </a:p>
          <a:p>
            <a:pPr>
              <a:defRPr sz="1150">
                <a:solidFill>
                  <a:srgbClr val="5C6773"/>
                </a:solidFill>
                <a:latin typeface="Microsoft YaHei"/>
              </a:defRPr>
            </a:pPr>
            <a:r>
              <a:t>为什么多源 PM2.5 表格预测需要严格地理评估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194560"/>
            <a:ext cx="685800" cy="457200"/>
          </a:xfrm>
          <a:prstGeom prst="roundRect">
            <a:avLst/>
          </a:prstGeom>
          <a:solidFill>
            <a:srgbClr val="257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58568"/>
            <a:ext cx="594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02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176272"/>
            <a:ext cx="84124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394E"/>
                </a:solidFill>
                <a:latin typeface="Microsoft YaHei"/>
              </a:rPr>
              <a:t>数据基础与实验协议</a:t>
            </a:r>
          </a:p>
          <a:p>
            <a:pPr>
              <a:defRPr sz="1150">
                <a:solidFill>
                  <a:srgbClr val="5C6773"/>
                </a:solidFill>
                <a:latin typeface="Microsoft YaHei"/>
              </a:defRPr>
            </a:pPr>
            <a:r>
              <a:t>五个来源、统一字段、三类评估协议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71800"/>
            <a:ext cx="685800" cy="457200"/>
          </a:xfrm>
          <a:prstGeom prst="roundRect">
            <a:avLst/>
          </a:prstGeom>
          <a:solidFill>
            <a:srgbClr val="257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035808"/>
            <a:ext cx="594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03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953512"/>
            <a:ext cx="84124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394E"/>
                </a:solidFill>
                <a:latin typeface="Microsoft YaHei"/>
              </a:rPr>
              <a:t>方法设计</a:t>
            </a:r>
          </a:p>
          <a:p>
            <a:pPr>
              <a:defRPr sz="1150">
                <a:solidFill>
                  <a:srgbClr val="5C6773"/>
                </a:solidFill>
                <a:latin typeface="Microsoft YaHei"/>
              </a:defRPr>
            </a:pPr>
            <a:r>
              <a:t>GeoPFNMix 家族：全局专家、残差校正与异构先验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49039"/>
            <a:ext cx="685800" cy="457200"/>
          </a:xfrm>
          <a:prstGeom prst="roundRect">
            <a:avLst/>
          </a:prstGeom>
          <a:solidFill>
            <a:srgbClr val="C97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813048"/>
            <a:ext cx="594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04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730752"/>
            <a:ext cx="84124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394E"/>
                </a:solidFill>
                <a:latin typeface="Microsoft YaHei"/>
              </a:rPr>
              <a:t>实验结果与鲁棒性验证</a:t>
            </a:r>
          </a:p>
          <a:p>
            <a:pPr>
              <a:defRPr sz="1150">
                <a:solidFill>
                  <a:srgbClr val="5C6773"/>
                </a:solidFill>
                <a:latin typeface="Microsoft YaHei"/>
              </a:defRPr>
            </a:pPr>
            <a:r>
              <a:t>主协议、消融、来源拆分与跨来源外推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526280"/>
            <a:ext cx="685800" cy="457200"/>
          </a:xfrm>
          <a:prstGeom prst="roundRect">
            <a:avLst/>
          </a:prstGeom>
          <a:solidFill>
            <a:srgbClr val="C97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590288"/>
            <a:ext cx="594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05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507992"/>
            <a:ext cx="84124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394E"/>
                </a:solidFill>
                <a:latin typeface="Microsoft YaHei"/>
              </a:rPr>
              <a:t>结论与展望</a:t>
            </a:r>
          </a:p>
          <a:p>
            <a:pPr>
              <a:defRPr sz="1150">
                <a:solidFill>
                  <a:srgbClr val="5C6773"/>
                </a:solidFill>
                <a:latin typeface="Microsoft YaHei"/>
              </a:defRPr>
            </a:pPr>
            <a:r>
              <a:t>本文贡献、边界与后续工作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56032"/>
          </a:xfrm>
          <a:prstGeom prst="rect">
            <a:avLst/>
          </a:prstGeom>
          <a:solidFill>
            <a:srgbClr val="14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257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01384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C6773"/>
                </a:solidFill>
                <a:latin typeface="Microsoft YaHei"/>
              </a:rPr>
              <a:t>研究背景与问题定义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06200" y="644652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773"/>
                </a:solidFill>
                <a:latin typeface="Apto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"/>
            <a:ext cx="1024128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600" b="1">
                <a:solidFill>
                  <a:srgbClr val="14394E"/>
                </a:solidFill>
                <a:latin typeface="Microsoft YaHei"/>
              </a:rPr>
              <a:t>1、研究背景：为什么预测 PM2.5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5577840" cy="1828800"/>
          </a:xfrm>
          <a:prstGeom prst="rect">
            <a:avLst/>
          </a:prstGeom>
          <a:noFill/>
        </p:spPr>
        <p:txBody>
          <a:bodyPr wrap="square" lIns="54864" rIns="45720" tIns="27432" bIns="27432">
            <a:norm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272E"/>
                </a:solidFill>
                <a:latin typeface="Microsoft YaHei"/>
              </a:defRPr>
            </a:pPr>
            <a:r>
              <a:t>PM2.5 是空气污染水平、生态风险与健康暴露的重要指标。</a:t>
            </a:r>
          </a:p>
          <a:p>
            <a:pPr>
              <a:spcAft>
                <a:spcPts val="800"/>
              </a:spcAft>
              <a:defRPr sz="2000">
                <a:solidFill>
                  <a:srgbClr val="1E272E"/>
                </a:solidFill>
                <a:latin typeface="Microsoft YaHei"/>
              </a:defRPr>
            </a:pPr>
            <a:r>
              <a:t>其浓度受污染前体物、气象条件、农业活动和区域环境共同影响。</a:t>
            </a:r>
          </a:p>
          <a:p>
            <a:pPr>
              <a:spcAft>
                <a:spcPts val="800"/>
              </a:spcAft>
              <a:defRPr sz="2000">
                <a:solidFill>
                  <a:srgbClr val="1E272E"/>
                </a:solidFill>
                <a:latin typeface="Microsoft YaHei"/>
              </a:defRPr>
            </a:pPr>
            <a:r>
              <a:t>多源农业环境数据为 PM2.5 区域预测提供了新的表格建模场景。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261872"/>
            <a:ext cx="4389120" cy="1143000"/>
          </a:xfrm>
          <a:prstGeom prst="roundRect">
            <a:avLst/>
          </a:prstGeom>
          <a:solidFill>
            <a:srgbClr val="E0F1F2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92240" y="1261872"/>
            <a:ext cx="73152" cy="1143000"/>
          </a:xfrm>
          <a:prstGeom prst="rect">
            <a:avLst/>
          </a:prstGeom>
          <a:solidFill>
            <a:srgbClr val="257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6831" y="1371600"/>
            <a:ext cx="4069080" cy="9418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4394E"/>
                </a:solidFill>
                <a:latin typeface="Microsoft YaHei"/>
              </a:rPr>
              <a:t>环境机理提示</a:t>
            </a:r>
          </a:p>
          <a:p>
            <a:pPr>
              <a:spcBef>
                <a:spcPts val="400"/>
              </a:spcBef>
              <a:defRPr sz="1200">
                <a:solidFill>
                  <a:srgbClr val="1E272E"/>
                </a:solidFill>
                <a:latin typeface="Microsoft YaHei"/>
              </a:defRPr>
            </a:pPr>
            <a:r>
              <a:t>NOX、SO2 等前体物参与二次颗粒物生成；降水、温度、风速等气象因素影响扩散与沉降。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743200"/>
            <a:ext cx="4389120" cy="1143000"/>
          </a:xfrm>
          <a:prstGeom prst="roundRect">
            <a:avLst/>
          </a:prstGeom>
          <a:solidFill>
            <a:srgbClr val="FFF4E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2743200"/>
            <a:ext cx="73152" cy="1143000"/>
          </a:xfrm>
          <a:prstGeom prst="rect">
            <a:avLst/>
          </a:prstGeom>
          <a:solidFill>
            <a:srgbClr val="C97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56831" y="2852928"/>
            <a:ext cx="4069080" cy="9418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4394E"/>
                </a:solidFill>
                <a:latin typeface="Microsoft YaHei"/>
              </a:rPr>
              <a:t>本文关注</a:t>
            </a:r>
          </a:p>
          <a:p>
            <a:pPr>
              <a:spcBef>
                <a:spcPts val="400"/>
              </a:spcBef>
              <a:defRPr sz="1200">
                <a:solidFill>
                  <a:srgbClr val="1E272E"/>
                </a:solidFill>
                <a:latin typeface="Microsoft YaHei"/>
              </a:defRPr>
            </a:pPr>
            <a:r>
              <a:t>不是站点级时间序列预测，而是多来源静态表格数据下的 PM2.5 回归与泛化评估。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56032"/>
          </a:xfrm>
          <a:prstGeom prst="rect">
            <a:avLst/>
          </a:prstGeom>
          <a:solidFill>
            <a:srgbClr val="14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257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01384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C6773"/>
                </a:solidFill>
                <a:latin typeface="Microsoft YaHei"/>
              </a:rPr>
              <a:t>研究背景与问题定义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06200" y="644652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773"/>
                </a:solidFill>
                <a:latin typeface="Apto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"/>
            <a:ext cx="1024128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600" b="1">
                <a:solidFill>
                  <a:srgbClr val="14394E"/>
                </a:solidFill>
                <a:latin typeface="Microsoft YaHei"/>
              </a:rPr>
              <a:t>1、任务定位：与常见 PM2.5 预测不同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234440"/>
          <a:ext cx="102412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3760"/>
                <a:gridCol w="3413760"/>
                <a:gridCol w="3413760"/>
              </a:tblGrid>
              <a:tr h="57607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对比维度</a:t>
                      </a:r>
                    </a:p>
                  </a:txBody>
                  <a:tcPr marL="27432" marR="27432" marT="18288" marB="18288">
                    <a:solidFill>
                      <a:srgbClr val="1439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常见 PM2.5 预测</a:t>
                      </a:r>
                    </a:p>
                  </a:txBody>
                  <a:tcPr marL="27432" marR="27432" marT="18288" marB="18288">
                    <a:solidFill>
                      <a:srgbClr val="1439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本文任务</a:t>
                      </a:r>
                    </a:p>
                  </a:txBody>
                  <a:tcPr marL="27432" marR="27432" marT="18288" marB="18288">
                    <a:solidFill>
                      <a:srgbClr val="14394E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72E"/>
                          </a:solidFill>
                          <a:latin typeface="Microsoft YaHei"/>
                        </a:rPr>
                        <a:t>数据形态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72E"/>
                          </a:solidFill>
                          <a:latin typeface="Microsoft YaHei"/>
                        </a:rPr>
                        <a:t>站点时间序列 / 遥感栅格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72E"/>
                          </a:solidFill>
                          <a:latin typeface="Microsoft YaHei"/>
                        </a:rPr>
                        <a:t>多源静态表格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72E"/>
                          </a:solidFill>
                          <a:latin typeface="Microsoft YaHei"/>
                        </a:rPr>
                        <a:t>样本粒度</a:t>
                      </a:r>
                    </a:p>
                  </a:txBody>
                  <a:tcPr marL="27432" marR="27432" marT="18288" marB="18288">
                    <a:solidFill>
                      <a:srgbClr val="EC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72E"/>
                          </a:solidFill>
                          <a:latin typeface="Microsoft YaHei"/>
                        </a:rPr>
                        <a:t>城市站点或像元</a:t>
                      </a:r>
                    </a:p>
                  </a:txBody>
                  <a:tcPr marL="27432" marR="27432" marT="18288" marB="18288">
                    <a:solidFill>
                      <a:srgbClr val="EC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72E"/>
                          </a:solidFill>
                          <a:latin typeface="Microsoft YaHei"/>
                        </a:rPr>
                        <a:t>行政区域或区域样本</a:t>
                      </a:r>
                    </a:p>
                  </a:txBody>
                  <a:tcPr marL="27432" marR="27432" marT="18288" marB="18288">
                    <a:solidFill>
                      <a:srgbClr val="ECF4F6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72E"/>
                          </a:solidFill>
                          <a:latin typeface="Microsoft YaHei"/>
                        </a:rPr>
                        <a:t>重点问题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72E"/>
                          </a:solidFill>
                          <a:latin typeface="Microsoft YaHei"/>
                        </a:rPr>
                        <a:t>时间动态、遥感反演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72E"/>
                          </a:solidFill>
                          <a:latin typeface="Microsoft YaHei"/>
                        </a:rPr>
                        <a:t>多源异质、地理泛化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72E"/>
                          </a:solidFill>
                          <a:latin typeface="Microsoft YaHei"/>
                        </a:rPr>
                        <a:t>主要风险</a:t>
                      </a:r>
                    </a:p>
                  </a:txBody>
                  <a:tcPr marL="27432" marR="27432" marT="18288" marB="18288">
                    <a:solidFill>
                      <a:srgbClr val="EC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72E"/>
                          </a:solidFill>
                          <a:latin typeface="Microsoft YaHei"/>
                        </a:rPr>
                        <a:t>时序泄漏、空间相关</a:t>
                      </a:r>
                    </a:p>
                  </a:txBody>
                  <a:tcPr marL="27432" marR="27432" marT="18288" marB="18288">
                    <a:solidFill>
                      <a:srgbClr val="EC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72E"/>
                          </a:solidFill>
                          <a:latin typeface="Microsoft YaHei"/>
                        </a:rPr>
                        <a:t>地理身份泄漏、来源偏移</a:t>
                      </a:r>
                    </a:p>
                  </a:txBody>
                  <a:tcPr marL="27432" marR="27432" marT="18288" marB="18288">
                    <a:solidFill>
                      <a:srgbClr val="ECF4F6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1143000" y="4434840"/>
            <a:ext cx="9326880" cy="685800"/>
          </a:xfrm>
          <a:prstGeom prst="roundRect">
            <a:avLst/>
          </a:prstGeom>
          <a:solidFill>
            <a:srgbClr val="E0F1F2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4434840"/>
            <a:ext cx="73152" cy="685800"/>
          </a:xfrm>
          <a:prstGeom prst="rect">
            <a:avLst/>
          </a:prstGeom>
          <a:solidFill>
            <a:srgbClr val="257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07592" y="4544568"/>
            <a:ext cx="9006840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4394E"/>
                </a:solidFill>
                <a:latin typeface="Microsoft YaHei"/>
              </a:rPr>
              <a:t>核心定位</a:t>
            </a:r>
          </a:p>
          <a:p>
            <a:pPr>
              <a:spcBef>
                <a:spcPts val="400"/>
              </a:spcBef>
              <a:defRPr sz="1200">
                <a:solidFill>
                  <a:srgbClr val="1E272E"/>
                </a:solidFill>
                <a:latin typeface="Microsoft YaHei"/>
              </a:defRPr>
            </a:pPr>
            <a:r>
              <a:t>本文更关注“模型在未见地理组上是否可信”，而不是只追求随机划分下的最高分。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56032"/>
          </a:xfrm>
          <a:prstGeom prst="rect">
            <a:avLst/>
          </a:prstGeom>
          <a:solidFill>
            <a:srgbClr val="14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257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01384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C6773"/>
                </a:solidFill>
                <a:latin typeface="Microsoft YaHei"/>
              </a:rPr>
              <a:t>研究背景与问题定义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06200" y="644652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773"/>
                </a:solidFill>
                <a:latin typeface="Apto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"/>
            <a:ext cx="1024128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600" b="1">
                <a:solidFill>
                  <a:srgbClr val="14394E"/>
                </a:solidFill>
                <a:latin typeface="Microsoft YaHei"/>
              </a:rPr>
              <a:t>1、核心挑战：随机划分可能高估泛化能力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4389120" cy="1417320"/>
          </a:xfrm>
          <a:prstGeom prst="roundRect">
            <a:avLst/>
          </a:prstGeom>
          <a:solidFill>
            <a:srgbClr val="FFF4E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25880"/>
            <a:ext cx="73152" cy="1417320"/>
          </a:xfrm>
          <a:prstGeom prst="rect">
            <a:avLst/>
          </a:prstGeom>
          <a:solidFill>
            <a:srgbClr val="C97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435607"/>
            <a:ext cx="4069080" cy="1216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4394E"/>
                </a:solidFill>
                <a:latin typeface="Microsoft YaHei"/>
              </a:rPr>
              <a:t>RandomKFold</a:t>
            </a:r>
          </a:p>
          <a:p>
            <a:pPr>
              <a:spcBef>
                <a:spcPts val="400"/>
              </a:spcBef>
              <a:defRPr sz="1200">
                <a:solidFill>
                  <a:srgbClr val="1E272E"/>
                </a:solidFill>
                <a:latin typeface="Microsoft YaHei"/>
              </a:defRPr>
            </a:pPr>
            <a:r>
              <a:t>训练集和测试集可能来自相同或相近地区，模型容易利用区域身份和来源相似性。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325880"/>
            <a:ext cx="4389120" cy="1417320"/>
          </a:xfrm>
          <a:prstGeom prst="roundRect">
            <a:avLst/>
          </a:prstGeom>
          <a:solidFill>
            <a:srgbClr val="E0F1F2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0" y="1325880"/>
            <a:ext cx="73152" cy="1417320"/>
          </a:xfrm>
          <a:prstGeom prst="rect">
            <a:avLst/>
          </a:prstGeom>
          <a:solidFill>
            <a:srgbClr val="257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48272" y="1435607"/>
            <a:ext cx="4069080" cy="1216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4394E"/>
                </a:solidFill>
                <a:latin typeface="Microsoft YaHei"/>
              </a:rPr>
              <a:t>GroupKFold</a:t>
            </a:r>
          </a:p>
          <a:p>
            <a:pPr>
              <a:spcBef>
                <a:spcPts val="400"/>
              </a:spcBef>
              <a:defRPr sz="1200">
                <a:solidFill>
                  <a:srgbClr val="1E272E"/>
                </a:solidFill>
                <a:latin typeface="Microsoft YaHei"/>
              </a:defRPr>
            </a:pPr>
            <a:r>
              <a:t>按地理组整体留出，测试样本所在组在训练阶段不可见，更接近跨区域预测。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349240" y="1691640"/>
            <a:ext cx="1005840" cy="530352"/>
          </a:xfrm>
          <a:prstGeom prst="rightArrow">
            <a:avLst/>
          </a:prstGeom>
          <a:solidFill>
            <a:srgbClr val="257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337560"/>
            <a:ext cx="9326880" cy="1280160"/>
          </a:xfrm>
          <a:prstGeom prst="rect">
            <a:avLst/>
          </a:prstGeom>
          <a:noFill/>
        </p:spPr>
        <p:txBody>
          <a:bodyPr wrap="square" lIns="54864" rIns="45720" tIns="27432" bIns="27432">
            <a:norm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272E"/>
                </a:solidFill>
                <a:latin typeface="Microsoft YaHei"/>
              </a:defRPr>
            </a:pPr>
            <a:r>
              <a:t>如果评估协议不严格，模型分数可能虚高。</a:t>
            </a:r>
          </a:p>
          <a:p>
            <a:pPr>
              <a:spcAft>
                <a:spcPts val="800"/>
              </a:spcAft>
              <a:defRPr sz="2000">
                <a:solidFill>
                  <a:srgbClr val="1E272E"/>
                </a:solidFill>
                <a:latin typeface="Microsoft YaHei"/>
              </a:defRPr>
            </a:pPr>
            <a:r>
              <a:t>本文把 GroupKFold(CITY) 作为主协议，RandomKFold 仅用于量化乐观偏差。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56032"/>
          </a:xfrm>
          <a:prstGeom prst="rect">
            <a:avLst/>
          </a:prstGeom>
          <a:solidFill>
            <a:srgbClr val="14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257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01384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C6773"/>
                </a:solidFill>
                <a:latin typeface="Microsoft YaHei"/>
              </a:rPr>
              <a:t>数据基础与实验协议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06200" y="644652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773"/>
                </a:solidFill>
                <a:latin typeface="Aptos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"/>
            <a:ext cx="1024128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600" b="1">
                <a:solidFill>
                  <a:srgbClr val="14394E"/>
                </a:solidFill>
                <a:latin typeface="Microsoft YaHei"/>
              </a:rPr>
              <a:t>2、数据集组成：五个来源的统一建模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097280"/>
          <a:ext cx="5715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52251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数据源</a:t>
                      </a:r>
                    </a:p>
                  </a:txBody>
                  <a:tcPr marL="27432" marR="27432" marT="18288" marB="18288">
                    <a:solidFill>
                      <a:srgbClr val="1439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样本数</a:t>
                      </a:r>
                    </a:p>
                  </a:txBody>
                  <a:tcPr marL="27432" marR="27432" marT="18288" marB="18288">
                    <a:solidFill>
                      <a:srgbClr val="1439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一级组</a:t>
                      </a:r>
                    </a:p>
                  </a:txBody>
                  <a:tcPr marL="27432" marR="27432" marT="18288" marB="18288">
                    <a:solidFill>
                      <a:srgbClr val="1439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二级组</a:t>
                      </a:r>
                    </a:p>
                  </a:txBody>
                  <a:tcPr marL="27432" marR="27432" marT="18288" marB="18288">
                    <a:solidFill>
                      <a:srgbClr val="14394E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272E"/>
                          </a:solidFill>
                          <a:latin typeface="Microsoft YaHei"/>
                        </a:rPr>
                        <a:t>Australia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72E"/>
                          </a:solidFill>
                          <a:latin typeface="Microsoft YaHei"/>
                        </a:rPr>
                        <a:t>1124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72E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72E"/>
                          </a:solidFill>
                          <a:latin typeface="Microsoft YaHei"/>
                        </a:rPr>
                        <a:t>86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272E"/>
                          </a:solidFill>
                          <a:latin typeface="Microsoft YaHei"/>
                        </a:rPr>
                        <a:t>Brazil</a:t>
                      </a:r>
                    </a:p>
                  </a:txBody>
                  <a:tcPr marL="27432" marR="27432" marT="18288" marB="18288">
                    <a:solidFill>
                      <a:srgbClr val="EC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72E"/>
                          </a:solidFill>
                          <a:latin typeface="Microsoft YaHei"/>
                        </a:rPr>
                        <a:t>5303</a:t>
                      </a:r>
                    </a:p>
                  </a:txBody>
                  <a:tcPr marL="27432" marR="27432" marT="18288" marB="18288">
                    <a:solidFill>
                      <a:srgbClr val="EC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72E"/>
                          </a:solidFill>
                          <a:latin typeface="Microsoft YaHei"/>
                        </a:rPr>
                        <a:t>27</a:t>
                      </a:r>
                    </a:p>
                  </a:txBody>
                  <a:tcPr marL="27432" marR="27432" marT="18288" marB="18288">
                    <a:solidFill>
                      <a:srgbClr val="EC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72E"/>
                          </a:solidFill>
                          <a:latin typeface="Microsoft YaHei"/>
                        </a:rPr>
                        <a:t>446</a:t>
                      </a:r>
                    </a:p>
                  </a:txBody>
                  <a:tcPr marL="27432" marR="27432" marT="18288" marB="18288">
                    <a:solidFill>
                      <a:srgbClr val="ECF4F6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272E"/>
                          </a:solidFill>
                          <a:latin typeface="Microsoft YaHei"/>
                        </a:rPr>
                        <a:t>China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72E"/>
                          </a:solidFill>
                          <a:latin typeface="Microsoft YaHei"/>
                        </a:rPr>
                        <a:t>2676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72E"/>
                          </a:solidFill>
                          <a:latin typeface="Microsoft YaHei"/>
                        </a:rPr>
                        <a:t>31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72E"/>
                          </a:solidFill>
                          <a:latin typeface="Microsoft YaHei"/>
                        </a:rPr>
                        <a:t>345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272E"/>
                          </a:solidFill>
                          <a:latin typeface="Microsoft YaHei"/>
                        </a:rPr>
                        <a:t>EU</a:t>
                      </a:r>
                    </a:p>
                  </a:txBody>
                  <a:tcPr marL="27432" marR="27432" marT="18288" marB="18288">
                    <a:solidFill>
                      <a:srgbClr val="EC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72E"/>
                          </a:solidFill>
                          <a:latin typeface="Microsoft YaHei"/>
                        </a:rPr>
                        <a:t>276</a:t>
                      </a:r>
                    </a:p>
                  </a:txBody>
                  <a:tcPr marL="27432" marR="27432" marT="18288" marB="18288">
                    <a:solidFill>
                      <a:srgbClr val="EC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72E"/>
                          </a:solidFill>
                          <a:latin typeface="Microsoft YaHei"/>
                        </a:rPr>
                        <a:t>28</a:t>
                      </a:r>
                    </a:p>
                  </a:txBody>
                  <a:tcPr marL="27432" marR="27432" marT="18288" marB="18288">
                    <a:solidFill>
                      <a:srgbClr val="EC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72E"/>
                          </a:solidFill>
                          <a:latin typeface="Microsoft YaHei"/>
                        </a:rPr>
                        <a:t>98</a:t>
                      </a:r>
                    </a:p>
                  </a:txBody>
                  <a:tcPr marL="27432" marR="27432" marT="18288" marB="18288">
                    <a:solidFill>
                      <a:srgbClr val="ECF4F6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272E"/>
                          </a:solidFill>
                          <a:latin typeface="Microsoft YaHei"/>
                        </a:rPr>
                        <a:t>USA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72E"/>
                          </a:solidFill>
                          <a:latin typeface="Microsoft YaHei"/>
                        </a:rPr>
                        <a:t>3066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72E"/>
                          </a:solidFill>
                          <a:latin typeface="Microsoft YaHei"/>
                        </a:rPr>
                        <a:t>50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72E"/>
                          </a:solidFill>
                          <a:latin typeface="Microsoft YaHei"/>
                        </a:rPr>
                        <a:t>50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272E"/>
                          </a:solidFill>
                          <a:latin typeface="Microsoft YaHei"/>
                        </a:rPr>
                        <a:t>合计</a:t>
                      </a:r>
                    </a:p>
                  </a:txBody>
                  <a:tcPr marL="27432" marR="27432" marT="18288" marB="18288">
                    <a:solidFill>
                      <a:srgbClr val="EC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72E"/>
                          </a:solidFill>
                          <a:latin typeface="Microsoft YaHei"/>
                        </a:rPr>
                        <a:t>12445</a:t>
                      </a:r>
                    </a:p>
                  </a:txBody>
                  <a:tcPr marL="27432" marR="27432" marT="18288" marB="18288">
                    <a:solidFill>
                      <a:srgbClr val="EC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72E"/>
                          </a:solidFill>
                          <a:latin typeface="Microsoft YaHei"/>
                        </a:rPr>
                        <a:t>144</a:t>
                      </a:r>
                    </a:p>
                  </a:txBody>
                  <a:tcPr marL="27432" marR="27432" marT="18288" marB="18288">
                    <a:solidFill>
                      <a:srgbClr val="EC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72E"/>
                          </a:solidFill>
                          <a:latin typeface="Microsoft YaHei"/>
                        </a:rPr>
                        <a:t>1025</a:t>
                      </a:r>
                    </a:p>
                  </a:txBody>
                  <a:tcPr marL="27432" marR="27432" marT="18288" marB="18288">
                    <a:solidFill>
                      <a:srgbClr val="ECF4F6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903720" y="1188720"/>
            <a:ext cx="1600200" cy="621792"/>
          </a:xfrm>
          <a:prstGeom prst="roundRect">
            <a:avLst/>
          </a:prstGeom>
          <a:solidFill>
            <a:srgbClr val="257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252728"/>
            <a:ext cx="150876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12445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Microsoft YaHei"/>
              </a:rPr>
              <a:t>样本数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1188720"/>
            <a:ext cx="1600200" cy="621792"/>
          </a:xfrm>
          <a:prstGeom prst="roundRect">
            <a:avLst/>
          </a:prstGeom>
          <a:solidFill>
            <a:srgbClr val="257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252728"/>
            <a:ext cx="150876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5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Microsoft YaHei"/>
              </a:rPr>
              <a:t>国家/区域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2148840"/>
            <a:ext cx="1600200" cy="621792"/>
          </a:xfrm>
          <a:prstGeom prst="roundRect">
            <a:avLst/>
          </a:prstGeom>
          <a:solidFill>
            <a:srgbClr val="C97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2212848"/>
            <a:ext cx="150876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144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Microsoft YaHei"/>
              </a:rPr>
              <a:t>一级地理组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2148840"/>
            <a:ext cx="1600200" cy="621792"/>
          </a:xfrm>
          <a:prstGeom prst="roundRect">
            <a:avLst/>
          </a:prstGeom>
          <a:solidFill>
            <a:srgbClr val="C97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2212848"/>
            <a:ext cx="150876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1025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Microsoft YaHei"/>
              </a:rPr>
              <a:t>二级地理组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3246120"/>
            <a:ext cx="3931920" cy="1097280"/>
          </a:xfrm>
          <a:prstGeom prst="roundRect">
            <a:avLst/>
          </a:prstGeom>
          <a:solidFill>
            <a:srgbClr val="F2F5F7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20840" y="3246120"/>
            <a:ext cx="73152" cy="1097280"/>
          </a:xfrm>
          <a:prstGeom prst="rect">
            <a:avLst/>
          </a:prstGeom>
          <a:solidFill>
            <a:srgbClr val="14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85431" y="3355848"/>
            <a:ext cx="3611879" cy="8961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4394E"/>
                </a:solidFill>
                <a:latin typeface="Microsoft YaHei"/>
              </a:rPr>
              <a:t>数据意义</a:t>
            </a:r>
          </a:p>
          <a:p>
            <a:pPr>
              <a:spcBef>
                <a:spcPts val="400"/>
              </a:spcBef>
              <a:defRPr sz="1200">
                <a:solidFill>
                  <a:srgbClr val="1E272E"/>
                </a:solidFill>
                <a:latin typeface="Microsoft YaHei"/>
              </a:defRPr>
            </a:pPr>
            <a:r>
              <a:t>多源统一提升了样本覆盖范围，同时也带来了更强的来源异质性和地理层级不均衡。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56032"/>
          </a:xfrm>
          <a:prstGeom prst="rect">
            <a:avLst/>
          </a:prstGeom>
          <a:solidFill>
            <a:srgbClr val="14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257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01384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C6773"/>
                </a:solidFill>
                <a:latin typeface="Microsoft YaHei"/>
              </a:rPr>
              <a:t>数据基础与实验协议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06200" y="644652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773"/>
                </a:solidFill>
                <a:latin typeface="Apto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"/>
            <a:ext cx="1024128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600" b="1">
                <a:solidFill>
                  <a:srgbClr val="14394E"/>
                </a:solidFill>
                <a:latin typeface="Microsoft YaHei"/>
              </a:rPr>
              <a:t>2、字段标准化与数据审计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078992"/>
          <a:ext cx="475488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</a:tblGrid>
              <a:tr h="4648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类型</a:t>
                      </a:r>
                    </a:p>
                  </a:txBody>
                  <a:tcPr marL="27432" marR="27432" marT="18288" marB="18288">
                    <a:solidFill>
                      <a:srgbClr val="1439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代表字段</a:t>
                      </a:r>
                    </a:p>
                  </a:txBody>
                  <a:tcPr marL="27432" marR="27432" marT="18288" marB="18288">
                    <a:solidFill>
                      <a:srgbClr val="14394E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72E"/>
                          </a:solidFill>
                          <a:latin typeface="Microsoft YaHei"/>
                        </a:rPr>
                        <a:t>地理层级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72E"/>
                          </a:solidFill>
                          <a:latin typeface="Microsoft YaHei"/>
                        </a:rPr>
                        <a:t>COUNTRY / PROVINCE / CITY / COUNTY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72E"/>
                          </a:solidFill>
                          <a:latin typeface="Microsoft YaHei"/>
                        </a:rPr>
                        <a:t>气象变量</a:t>
                      </a:r>
                    </a:p>
                  </a:txBody>
                  <a:tcPr marL="27432" marR="27432" marT="18288" marB="18288">
                    <a:solidFill>
                      <a:srgbClr val="EC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72E"/>
                          </a:solidFill>
                          <a:latin typeface="Microsoft YaHei"/>
                        </a:rPr>
                        <a:t>AET / ppt / tem / wind</a:t>
                      </a:r>
                    </a:p>
                  </a:txBody>
                  <a:tcPr marL="27432" marR="27432" marT="18288" marB="18288">
                    <a:solidFill>
                      <a:srgbClr val="ECF4F6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72E"/>
                          </a:solidFill>
                          <a:latin typeface="Microsoft YaHei"/>
                        </a:rPr>
                        <a:t>污染变量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72E"/>
                          </a:solidFill>
                          <a:latin typeface="Microsoft YaHei"/>
                        </a:rPr>
                        <a:t>NOX / SO2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72E"/>
                          </a:solidFill>
                          <a:latin typeface="Microsoft YaHei"/>
                        </a:rPr>
                        <a:t>农业投入</a:t>
                      </a:r>
                    </a:p>
                  </a:txBody>
                  <a:tcPr marL="27432" marR="27432" marT="18288" marB="18288">
                    <a:solidFill>
                      <a:srgbClr val="EC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72E"/>
                          </a:solidFill>
                          <a:latin typeface="Microsoft YaHei"/>
                        </a:rPr>
                        <a:t>fertilzier / manure</a:t>
                      </a:r>
                    </a:p>
                  </a:txBody>
                  <a:tcPr marL="27432" marR="27432" marT="18288" marB="18288">
                    <a:solidFill>
                      <a:srgbClr val="ECF4F6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72E"/>
                          </a:solidFill>
                          <a:latin typeface="Microsoft YaHei"/>
                        </a:rPr>
                        <a:t>目标变量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72E"/>
                          </a:solidFill>
                          <a:latin typeface="Microsoft YaHei"/>
                        </a:rPr>
                        <a:t>PM2.5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pm25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5130" y="1005840"/>
            <a:ext cx="3086100" cy="20574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669280" y="1005840"/>
            <a:ext cx="5257800" cy="2057400"/>
          </a:xfrm>
          <a:prstGeom prst="rect">
            <a:avLst/>
          </a:prstGeom>
          <a:noFill/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ity_group_siz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3246120"/>
            <a:ext cx="2606039" cy="17373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669280" y="3246120"/>
            <a:ext cx="5257800" cy="1737360"/>
          </a:xfrm>
          <a:prstGeom prst="rect">
            <a:avLst/>
          </a:prstGeom>
          <a:noFill/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4160520"/>
            <a:ext cx="4297680" cy="777240"/>
          </a:xfrm>
          <a:prstGeom prst="roundRect">
            <a:avLst/>
          </a:prstGeom>
          <a:solidFill>
            <a:srgbClr val="E0F1F2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4160520"/>
            <a:ext cx="73152" cy="777240"/>
          </a:xfrm>
          <a:prstGeom prst="rect">
            <a:avLst/>
          </a:prstGeom>
          <a:solidFill>
            <a:srgbClr val="257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4270248"/>
            <a:ext cx="3977640" cy="5760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4394E"/>
                </a:solidFill>
                <a:latin typeface="Microsoft YaHei"/>
              </a:rPr>
              <a:t>审计结论</a:t>
            </a:r>
          </a:p>
          <a:p>
            <a:pPr>
              <a:spcBef>
                <a:spcPts val="400"/>
              </a:spcBef>
              <a:defRPr sz="1200">
                <a:solidFill>
                  <a:srgbClr val="1E272E"/>
                </a:solidFill>
                <a:latin typeface="Microsoft YaHei"/>
              </a:defRPr>
            </a:pPr>
            <a:r>
              <a:t>目标分布存在长尾，二级地理组样本规模不均衡，因此需要稳健特征工程和严格评估协议。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56032"/>
          </a:xfrm>
          <a:prstGeom prst="rect">
            <a:avLst/>
          </a:prstGeom>
          <a:solidFill>
            <a:srgbClr val="14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257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01384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C6773"/>
                </a:solidFill>
                <a:latin typeface="Microsoft YaHei"/>
              </a:rPr>
              <a:t>数据基础与实验协议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06200" y="644652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773"/>
                </a:solidFill>
                <a:latin typeface="Apto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"/>
            <a:ext cx="1024128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600" b="1">
                <a:solidFill>
                  <a:srgbClr val="14394E"/>
                </a:solidFill>
                <a:latin typeface="Microsoft YaHei"/>
              </a:rPr>
              <a:t>2、实验协议设计：从随机划分到地理分组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234440"/>
          <a:ext cx="101498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3383280"/>
                <a:gridCol w="338328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协议</a:t>
                      </a:r>
                    </a:p>
                  </a:txBody>
                  <a:tcPr marL="27432" marR="27432" marT="18288" marB="18288">
                    <a:solidFill>
                      <a:srgbClr val="1439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作用</a:t>
                      </a:r>
                    </a:p>
                  </a:txBody>
                  <a:tcPr marL="27432" marR="27432" marT="18288" marB="18288">
                    <a:solidFill>
                      <a:srgbClr val="1439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解释</a:t>
                      </a:r>
                    </a:p>
                  </a:txBody>
                  <a:tcPr marL="27432" marR="27432" marT="18288" marB="18288">
                    <a:solidFill>
                      <a:srgbClr val="14394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72E"/>
                          </a:solidFill>
                          <a:latin typeface="Microsoft YaHei"/>
                        </a:rPr>
                        <a:t>RandomKFold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72E"/>
                          </a:solidFill>
                          <a:latin typeface="Microsoft YaHei"/>
                        </a:rPr>
                        <a:t>理想化随机划分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72E"/>
                          </a:solidFill>
                          <a:latin typeface="Microsoft YaHei"/>
                        </a:rPr>
                        <a:t>观察可能的性能高估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72E"/>
                          </a:solidFill>
                          <a:latin typeface="Microsoft YaHei"/>
                        </a:rPr>
                        <a:t>GroupKFold(CITY)</a:t>
                      </a:r>
                    </a:p>
                  </a:txBody>
                  <a:tcPr marL="27432" marR="27432" marT="18288" marB="18288">
                    <a:solidFill>
                      <a:srgbClr val="EC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72E"/>
                          </a:solidFill>
                          <a:latin typeface="Microsoft YaHei"/>
                        </a:rPr>
                        <a:t>主协议</a:t>
                      </a:r>
                    </a:p>
                  </a:txBody>
                  <a:tcPr marL="27432" marR="27432" marT="18288" marB="18288">
                    <a:solidFill>
                      <a:srgbClr val="EC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72E"/>
                          </a:solidFill>
                          <a:latin typeface="Microsoft YaHei"/>
                        </a:rPr>
                        <a:t>测试跨二级地理组泛化</a:t>
                      </a:r>
                    </a:p>
                  </a:txBody>
                  <a:tcPr marL="27432" marR="27432" marT="18288" marB="18288">
                    <a:solidFill>
                      <a:srgbClr val="EC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72E"/>
                          </a:solidFill>
                          <a:latin typeface="Microsoft YaHei"/>
                        </a:rPr>
                        <a:t>GroupKFold(PROVINCE)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72E"/>
                          </a:solidFill>
                          <a:latin typeface="Microsoft YaHei"/>
                        </a:rPr>
                        <a:t>更严格协议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72E"/>
                          </a:solidFill>
                          <a:latin typeface="Microsoft YaHei"/>
                        </a:rPr>
                        <a:t>测试跨一级地理组泛化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1005840" y="3886200"/>
            <a:ext cx="2834640" cy="822960"/>
          </a:xfrm>
          <a:prstGeom prst="roundRect">
            <a:avLst/>
          </a:prstGeom>
          <a:solidFill>
            <a:srgbClr val="F2F5F7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0" y="3886200"/>
            <a:ext cx="73152" cy="822960"/>
          </a:xfrm>
          <a:prstGeom prst="rect">
            <a:avLst/>
          </a:prstGeom>
          <a:solidFill>
            <a:srgbClr val="14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95928"/>
            <a:ext cx="2514600" cy="6217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4394E"/>
                </a:solidFill>
                <a:latin typeface="Microsoft YaHei"/>
              </a:rPr>
              <a:t>评价指标</a:t>
            </a:r>
          </a:p>
          <a:p>
            <a:pPr>
              <a:spcBef>
                <a:spcPts val="400"/>
              </a:spcBef>
              <a:defRPr sz="1600">
                <a:solidFill>
                  <a:srgbClr val="1E272E"/>
                </a:solidFill>
                <a:latin typeface="Microsoft YaHei"/>
              </a:defRPr>
            </a:pPr>
            <a:r>
              <a:t>RMSE、MAE、R²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3886200"/>
            <a:ext cx="6217920" cy="822960"/>
          </a:xfrm>
          <a:prstGeom prst="roundRect">
            <a:avLst/>
          </a:prstGeom>
          <a:solidFill>
            <a:srgbClr val="E0F1F2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3886200"/>
            <a:ext cx="73152" cy="822960"/>
          </a:xfrm>
          <a:prstGeom prst="rect">
            <a:avLst/>
          </a:prstGeom>
          <a:solidFill>
            <a:srgbClr val="257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3995928"/>
            <a:ext cx="5897880" cy="6217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4394E"/>
                </a:solidFill>
                <a:latin typeface="Microsoft YaHei"/>
              </a:rPr>
              <a:t>正式口径</a:t>
            </a:r>
          </a:p>
          <a:p>
            <a:pPr>
              <a:spcBef>
                <a:spcPts val="400"/>
              </a:spcBef>
              <a:defRPr sz="1200">
                <a:solidFill>
                  <a:srgbClr val="1E272E"/>
                </a:solidFill>
                <a:latin typeface="Microsoft YaHei"/>
              </a:defRPr>
            </a:pPr>
            <a:r>
              <a:t>论文结论以 GroupKFold(CITY) 为主，GroupKFold(PROVINCE) 与 RandomKFold 用作对照。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56032"/>
          </a:xfrm>
          <a:prstGeom prst="rect">
            <a:avLst/>
          </a:prstGeom>
          <a:solidFill>
            <a:srgbClr val="14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257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01384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C6773"/>
                </a:solidFill>
                <a:latin typeface="Microsoft YaHei"/>
              </a:rPr>
              <a:t>方法设计与基线比较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06200" y="644652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773"/>
                </a:solidFill>
                <a:latin typeface="Apto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"/>
            <a:ext cx="1024128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600" b="1">
                <a:solidFill>
                  <a:srgbClr val="14394E"/>
                </a:solidFill>
                <a:latin typeface="Microsoft YaHei"/>
              </a:rPr>
              <a:t>3、强基线体系：避免只战胜弱模型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234440"/>
            <a:ext cx="4572000" cy="804672"/>
          </a:xfrm>
          <a:prstGeom prst="roundRect">
            <a:avLst/>
          </a:prstGeom>
          <a:solidFill>
            <a:srgbClr val="F2F5F7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234440"/>
            <a:ext cx="73152" cy="804672"/>
          </a:xfrm>
          <a:prstGeom prst="rect">
            <a:avLst/>
          </a:prstGeom>
          <a:solidFill>
            <a:srgbClr val="257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344168"/>
            <a:ext cx="4251960" cy="6035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4394E"/>
                </a:solidFill>
                <a:latin typeface="Microsoft YaHei"/>
              </a:rPr>
              <a:t>Ridge</a:t>
            </a:r>
          </a:p>
          <a:p>
            <a:pPr>
              <a:spcBef>
                <a:spcPts val="400"/>
              </a:spcBef>
              <a:defRPr sz="1200">
                <a:solidFill>
                  <a:srgbClr val="1E272E"/>
                </a:solidFill>
                <a:latin typeface="Microsoft YaHei"/>
              </a:defRPr>
            </a:pPr>
            <a:r>
              <a:t>线性基线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234440"/>
            <a:ext cx="4572000" cy="804672"/>
          </a:xfrm>
          <a:prstGeom prst="roundRect">
            <a:avLst/>
          </a:prstGeom>
          <a:solidFill>
            <a:srgbClr val="F2F5F7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0" y="1234440"/>
            <a:ext cx="73152" cy="804672"/>
          </a:xfrm>
          <a:prstGeom prst="rect">
            <a:avLst/>
          </a:prstGeom>
          <a:solidFill>
            <a:srgbClr val="257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08192" y="1344168"/>
            <a:ext cx="4251960" cy="6035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4394E"/>
                </a:solidFill>
                <a:latin typeface="Microsoft YaHei"/>
              </a:rPr>
              <a:t>RandomForest</a:t>
            </a:r>
          </a:p>
          <a:p>
            <a:pPr>
              <a:spcBef>
                <a:spcPts val="400"/>
              </a:spcBef>
              <a:defRPr sz="1200">
                <a:solidFill>
                  <a:srgbClr val="1E272E"/>
                </a:solidFill>
                <a:latin typeface="Microsoft YaHei"/>
              </a:defRPr>
            </a:pPr>
            <a:r>
              <a:t>Bagging 树模型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350008"/>
            <a:ext cx="4572000" cy="804672"/>
          </a:xfrm>
          <a:prstGeom prst="roundRect">
            <a:avLst/>
          </a:prstGeom>
          <a:solidFill>
            <a:srgbClr val="F2F5F7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2350008"/>
            <a:ext cx="73152" cy="804672"/>
          </a:xfrm>
          <a:prstGeom prst="rect">
            <a:avLst/>
          </a:prstGeom>
          <a:solidFill>
            <a:srgbClr val="257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2459736"/>
            <a:ext cx="4251960" cy="6035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4394E"/>
                </a:solidFill>
                <a:latin typeface="Microsoft YaHei"/>
              </a:rPr>
              <a:t>HGBT / XGBoost / LightGBM</a:t>
            </a:r>
          </a:p>
          <a:p>
            <a:pPr>
              <a:spcBef>
                <a:spcPts val="400"/>
              </a:spcBef>
              <a:defRPr sz="1200">
                <a:solidFill>
                  <a:srgbClr val="1E272E"/>
                </a:solidFill>
                <a:latin typeface="Microsoft YaHei"/>
              </a:defRPr>
            </a:pPr>
            <a:r>
              <a:t>Boosting 树模型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2350008"/>
            <a:ext cx="4572000" cy="804672"/>
          </a:xfrm>
          <a:prstGeom prst="roundRect">
            <a:avLst/>
          </a:prstGeom>
          <a:solidFill>
            <a:srgbClr val="F2F5F7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0" y="2350008"/>
            <a:ext cx="73152" cy="804672"/>
          </a:xfrm>
          <a:prstGeom prst="rect">
            <a:avLst/>
          </a:prstGeom>
          <a:solidFill>
            <a:srgbClr val="257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08192" y="2459736"/>
            <a:ext cx="4251960" cy="6035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4394E"/>
                </a:solidFill>
                <a:latin typeface="Microsoft YaHei"/>
              </a:rPr>
              <a:t>CatBoost</a:t>
            </a:r>
          </a:p>
          <a:p>
            <a:pPr>
              <a:spcBef>
                <a:spcPts val="400"/>
              </a:spcBef>
              <a:defRPr sz="1200">
                <a:solidFill>
                  <a:srgbClr val="1E272E"/>
                </a:solidFill>
                <a:latin typeface="Microsoft YaHei"/>
              </a:defRPr>
            </a:pPr>
            <a:r>
              <a:t>擅长类别特征处理的强表格模型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465576"/>
            <a:ext cx="4572000" cy="804672"/>
          </a:xfrm>
          <a:prstGeom prst="roundRect">
            <a:avLst/>
          </a:prstGeom>
          <a:solidFill>
            <a:srgbClr val="E0F1F2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3465576"/>
            <a:ext cx="73152" cy="804672"/>
          </a:xfrm>
          <a:prstGeom prst="rect">
            <a:avLst/>
          </a:prstGeom>
          <a:solidFill>
            <a:srgbClr val="C97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3575304"/>
            <a:ext cx="4251960" cy="6035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4394E"/>
                </a:solidFill>
                <a:latin typeface="Microsoft YaHei"/>
              </a:rPr>
              <a:t>TabPFN</a:t>
            </a:r>
          </a:p>
          <a:p>
            <a:pPr>
              <a:spcBef>
                <a:spcPts val="400"/>
              </a:spcBef>
              <a:defRPr sz="1200">
                <a:solidFill>
                  <a:srgbClr val="1E272E"/>
                </a:solidFill>
                <a:latin typeface="Microsoft YaHei"/>
              </a:defRPr>
            </a:pPr>
            <a:r>
              <a:t>表格基础模型风格方法，提供不同先验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4526280"/>
            <a:ext cx="9418320" cy="594360"/>
          </a:xfrm>
          <a:prstGeom prst="roundRect">
            <a:avLst/>
          </a:prstGeom>
          <a:solidFill>
            <a:srgbClr val="FFF4E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4526280"/>
            <a:ext cx="73152" cy="594360"/>
          </a:xfrm>
          <a:prstGeom prst="rect">
            <a:avLst/>
          </a:prstGeom>
          <a:solidFill>
            <a:srgbClr val="C97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07592" y="4636008"/>
            <a:ext cx="9098280" cy="3931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4394E"/>
                </a:solidFill>
                <a:latin typeface="Microsoft YaHei"/>
              </a:rPr>
              <a:t>比较原则</a:t>
            </a:r>
          </a:p>
          <a:p>
            <a:pPr>
              <a:spcBef>
                <a:spcPts val="400"/>
              </a:spcBef>
              <a:defRPr sz="1150">
                <a:solidFill>
                  <a:srgbClr val="1E272E"/>
                </a:solidFill>
                <a:latin typeface="Microsoft YaHei"/>
              </a:defRPr>
            </a:pPr>
            <a:r>
              <a:t>所有模型在统一特征工程和相同评估协议下比较，保证后续融合结构的结论更有说服力。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56032"/>
          </a:xfrm>
          <a:prstGeom prst="rect">
            <a:avLst/>
          </a:prstGeom>
          <a:solidFill>
            <a:srgbClr val="14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257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01384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C6773"/>
                </a:solidFill>
                <a:latin typeface="Microsoft YaHei"/>
              </a:rPr>
              <a:t>方法设计与基线比较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06200" y="644652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773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"/>
            <a:ext cx="1024128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600" b="1">
                <a:solidFill>
                  <a:srgbClr val="14394E"/>
                </a:solidFill>
                <a:latin typeface="Microsoft YaHei"/>
              </a:rPr>
              <a:t>3、基线结果：协议会改变模型排序</a:t>
            </a:r>
          </a:p>
        </p:txBody>
      </p:sp>
      <p:pic>
        <p:nvPicPr>
          <p:cNvPr id="8" name="Picture 7" descr="baseline_protocol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34566"/>
            <a:ext cx="5897880" cy="34207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94360" y="1078992"/>
            <a:ext cx="5897880" cy="3931920"/>
          </a:xfrm>
          <a:prstGeom prst="rect">
            <a:avLst/>
          </a:prstGeom>
          <a:noFill/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720840" y="1261872"/>
          <a:ext cx="4206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080"/>
                <a:gridCol w="1402080"/>
                <a:gridCol w="140208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协议</a:t>
                      </a:r>
                    </a:p>
                  </a:txBody>
                  <a:tcPr marL="27432" marR="27432" marT="18288" marB="18288">
                    <a:solidFill>
                      <a:srgbClr val="1439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最优单模型</a:t>
                      </a:r>
                    </a:p>
                  </a:txBody>
                  <a:tcPr marL="27432" marR="27432" marT="18288" marB="18288">
                    <a:solidFill>
                      <a:srgbClr val="1439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RMSE</a:t>
                      </a:r>
                    </a:p>
                  </a:txBody>
                  <a:tcPr marL="27432" marR="27432" marT="18288" marB="18288">
                    <a:solidFill>
                      <a:srgbClr val="1439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72E"/>
                          </a:solidFill>
                          <a:latin typeface="Microsoft YaHei"/>
                        </a:rPr>
                        <a:t>RandomKFold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72E"/>
                          </a:solidFill>
                          <a:latin typeface="Microsoft YaHei"/>
                        </a:rPr>
                        <a:t>TabPFN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72E"/>
                          </a:solidFill>
                          <a:latin typeface="Microsoft YaHei"/>
                        </a:rPr>
                        <a:t>4.8426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72E"/>
                          </a:solidFill>
                          <a:latin typeface="Microsoft YaHei"/>
                        </a:rPr>
                        <a:t>GroupKFold(CITY)</a:t>
                      </a:r>
                    </a:p>
                  </a:txBody>
                  <a:tcPr marL="27432" marR="27432" marT="18288" marB="18288">
                    <a:solidFill>
                      <a:srgbClr val="EC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72E"/>
                          </a:solidFill>
                          <a:latin typeface="Microsoft YaHei"/>
                        </a:rPr>
                        <a:t>CatBoost</a:t>
                      </a:r>
                    </a:p>
                  </a:txBody>
                  <a:tcPr marL="27432" marR="27432" marT="18288" marB="18288">
                    <a:solidFill>
                      <a:srgbClr val="EC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72E"/>
                          </a:solidFill>
                          <a:latin typeface="Microsoft YaHei"/>
                        </a:rPr>
                        <a:t>6.0229</a:t>
                      </a:r>
                    </a:p>
                  </a:txBody>
                  <a:tcPr marL="27432" marR="27432" marT="18288" marB="18288">
                    <a:solidFill>
                      <a:srgbClr val="EC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72E"/>
                          </a:solidFill>
                          <a:latin typeface="Microsoft YaHei"/>
                        </a:rPr>
                        <a:t>GroupKFold(PROVINCE)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72E"/>
                          </a:solidFill>
                          <a:latin typeface="Microsoft YaHei"/>
                        </a:rPr>
                        <a:t>CatBoost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72E"/>
                          </a:solidFill>
                          <a:latin typeface="Microsoft YaHei"/>
                        </a:rPr>
                        <a:t>6.8052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720840" y="3703320"/>
            <a:ext cx="4206240" cy="1005840"/>
          </a:xfrm>
          <a:prstGeom prst="roundRect">
            <a:avLst/>
          </a:prstGeom>
          <a:solidFill>
            <a:srgbClr val="E0F1F2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20840" y="3703320"/>
            <a:ext cx="73152" cy="1005840"/>
          </a:xfrm>
          <a:prstGeom prst="rect">
            <a:avLst/>
          </a:prstGeom>
          <a:solidFill>
            <a:srgbClr val="257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85431" y="3813048"/>
            <a:ext cx="3886200" cy="8046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4394E"/>
                </a:solidFill>
                <a:latin typeface="Microsoft YaHei"/>
              </a:rPr>
              <a:t>关键结论</a:t>
            </a:r>
          </a:p>
          <a:p>
            <a:pPr>
              <a:spcBef>
                <a:spcPts val="400"/>
              </a:spcBef>
              <a:defRPr sz="1200">
                <a:solidFill>
                  <a:srgbClr val="1E272E"/>
                </a:solidFill>
                <a:latin typeface="Microsoft YaHei"/>
              </a:defRPr>
            </a:pPr>
            <a:r>
              <a:t>随机划分下 TabPFN 最强；进入地理分组协议后，CatBoost 更稳健。评价协议直接影响模型排序。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56032"/>
          </a:xfrm>
          <a:prstGeom prst="rect">
            <a:avLst/>
          </a:prstGeom>
          <a:solidFill>
            <a:srgbClr val="14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257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01384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C6773"/>
                </a:solidFill>
                <a:latin typeface="Microsoft YaHei"/>
              </a:rPr>
              <a:t>GeoPFNMix 方法设计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06200" y="644652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773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"/>
            <a:ext cx="1024128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600" b="1">
                <a:solidFill>
                  <a:srgbClr val="14394E"/>
                </a:solidFill>
                <a:latin typeface="Microsoft YaHei"/>
              </a:rPr>
              <a:t>4、方法动机：为什么提出 GeoPFNMix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234440"/>
            <a:ext cx="3063240" cy="1005840"/>
          </a:xfrm>
          <a:prstGeom prst="roundRect">
            <a:avLst/>
          </a:prstGeom>
          <a:solidFill>
            <a:srgbClr val="F2F5F7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234440"/>
            <a:ext cx="73152" cy="1005840"/>
          </a:xfrm>
          <a:prstGeom prst="rect">
            <a:avLst/>
          </a:prstGeom>
          <a:solidFill>
            <a:srgbClr val="257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344168"/>
            <a:ext cx="2743200" cy="8046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4394E"/>
                </a:solidFill>
                <a:latin typeface="Microsoft YaHei"/>
              </a:rPr>
              <a:t>全局规律</a:t>
            </a:r>
          </a:p>
          <a:p>
            <a:pPr>
              <a:spcBef>
                <a:spcPts val="400"/>
              </a:spcBef>
              <a:defRPr sz="1200">
                <a:solidFill>
                  <a:srgbClr val="1E272E"/>
                </a:solidFill>
                <a:latin typeface="Microsoft YaHei"/>
              </a:defRPr>
            </a:pPr>
            <a:r>
              <a:t>污染、气象、农业变量之间存在复杂非线性关系。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234440"/>
            <a:ext cx="3063240" cy="1005840"/>
          </a:xfrm>
          <a:prstGeom prst="roundRect">
            <a:avLst/>
          </a:prstGeom>
          <a:solidFill>
            <a:srgbClr val="F2F5F7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234440"/>
            <a:ext cx="73152" cy="1005840"/>
          </a:xfrm>
          <a:prstGeom prst="rect">
            <a:avLst/>
          </a:prstGeom>
          <a:solidFill>
            <a:srgbClr val="C97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344168"/>
            <a:ext cx="2743200" cy="8046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4394E"/>
                </a:solidFill>
                <a:latin typeface="Microsoft YaHei"/>
              </a:rPr>
              <a:t>地理偏差</a:t>
            </a:r>
          </a:p>
          <a:p>
            <a:pPr>
              <a:spcBef>
                <a:spcPts val="400"/>
              </a:spcBef>
              <a:defRPr sz="1200">
                <a:solidFill>
                  <a:srgbClr val="1E272E"/>
                </a:solidFill>
                <a:latin typeface="Microsoft YaHei"/>
              </a:defRPr>
            </a:pPr>
            <a:r>
              <a:t>不同区域可能相对全局预测存在系统性偏高或偏低。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1234440"/>
            <a:ext cx="3063240" cy="1005840"/>
          </a:xfrm>
          <a:prstGeom prst="roundRect">
            <a:avLst/>
          </a:prstGeom>
          <a:solidFill>
            <a:srgbClr val="F2F5F7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09560" y="1234440"/>
            <a:ext cx="73152" cy="1005840"/>
          </a:xfrm>
          <a:prstGeom prst="rect">
            <a:avLst/>
          </a:prstGeom>
          <a:solidFill>
            <a:srgbClr val="14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74152" y="1344168"/>
            <a:ext cx="2743200" cy="8046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4394E"/>
                </a:solidFill>
                <a:latin typeface="Microsoft YaHei"/>
              </a:rPr>
              <a:t>异构先验</a:t>
            </a:r>
          </a:p>
          <a:p>
            <a:pPr>
              <a:spcBef>
                <a:spcPts val="400"/>
              </a:spcBef>
              <a:defRPr sz="1200">
                <a:solidFill>
                  <a:srgbClr val="1E272E"/>
                </a:solidFill>
                <a:latin typeface="Microsoft YaHei"/>
              </a:defRPr>
            </a:pPr>
            <a:r>
              <a:t>树模型与 PFN 风格模型的归纳偏置不同，可能互补。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971800"/>
            <a:ext cx="9875520" cy="1234440"/>
          </a:xfrm>
          <a:prstGeom prst="rect">
            <a:avLst/>
          </a:prstGeom>
          <a:noFill/>
        </p:spPr>
        <p:txBody>
          <a:bodyPr wrap="square" lIns="54864" rIns="45720" tIns="27432" bIns="27432">
            <a:norm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72E"/>
                </a:solidFill>
                <a:latin typeface="Microsoft YaHei"/>
              </a:defRPr>
            </a:pPr>
            <a:r>
              <a:t>GeoPFNMix 不是简单堆叠模型，而是将任务拆成多个功能明确的模块。</a:t>
            </a:r>
          </a:p>
          <a:p>
            <a:pPr>
              <a:spcAft>
                <a:spcPts val="1000"/>
              </a:spcAft>
              <a:defRPr sz="2000">
                <a:solidFill>
                  <a:srgbClr val="1E272E"/>
                </a:solidFill>
                <a:latin typeface="Microsoft YaHei"/>
              </a:defRPr>
            </a:pPr>
            <a:r>
              <a:t>目标是在强单模型基础上进一步利用地理结构和异构专家信息。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56032"/>
          </a:xfrm>
          <a:prstGeom prst="rect">
            <a:avLst/>
          </a:prstGeom>
          <a:solidFill>
            <a:srgbClr val="14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257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01384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C6773"/>
                </a:solidFill>
                <a:latin typeface="Microsoft YaHei"/>
              </a:rPr>
              <a:t>GeoPFNMix 方法设计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06200" y="644652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773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"/>
            <a:ext cx="1024128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600" b="1">
                <a:solidFill>
                  <a:srgbClr val="14394E"/>
                </a:solidFill>
                <a:latin typeface="Microsoft YaHei"/>
              </a:rPr>
              <a:t>4、GeoPFNMix 框架</a:t>
            </a:r>
          </a:p>
        </p:txBody>
      </p:sp>
      <p:pic>
        <p:nvPicPr>
          <p:cNvPr id="8" name="Picture 7" descr="geopfnmix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463" y="1005840"/>
            <a:ext cx="7690552" cy="44348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94360" y="1005840"/>
            <a:ext cx="10652760" cy="4434840"/>
          </a:xfrm>
          <a:prstGeom prst="rect">
            <a:avLst/>
          </a:prstGeom>
          <a:noFill/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56032"/>
          </a:xfrm>
          <a:prstGeom prst="rect">
            <a:avLst/>
          </a:prstGeom>
          <a:solidFill>
            <a:srgbClr val="14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257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01384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C6773"/>
                </a:solidFill>
                <a:latin typeface="Microsoft YaHei"/>
              </a:rPr>
              <a:t>GeoPFNMix 方法设计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06200" y="644652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773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"/>
            <a:ext cx="1024128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600" b="1">
                <a:solidFill>
                  <a:srgbClr val="14394E"/>
                </a:solidFill>
                <a:latin typeface="Microsoft YaHei"/>
              </a:rPr>
              <a:t>4、训练流程与模型变体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4663440" cy="2011680"/>
          </a:xfrm>
          <a:prstGeom prst="rect">
            <a:avLst/>
          </a:prstGeom>
          <a:noFill/>
        </p:spPr>
        <p:txBody>
          <a:bodyPr wrap="square" lIns="54864" rIns="45720" tIns="27432" bIns="27432">
            <a:norm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E272E"/>
                </a:solidFill>
                <a:latin typeface="Microsoft YaHei"/>
              </a:defRPr>
            </a:pPr>
            <a:r>
              <a:t>1. 全局专家给出基础预测；</a:t>
            </a:r>
          </a:p>
          <a:p>
            <a:pPr>
              <a:spcAft>
                <a:spcPts val="500"/>
              </a:spcAft>
              <a:defRPr sz="1700">
                <a:solidFill>
                  <a:srgbClr val="1E272E"/>
                </a:solidFill>
                <a:latin typeface="Microsoft YaHei"/>
              </a:defRPr>
            </a:pPr>
            <a:r>
              <a:t>2. 在训练折内计算残差并估计地理组偏差；</a:t>
            </a:r>
          </a:p>
          <a:p>
            <a:pPr>
              <a:spcAft>
                <a:spcPts val="500"/>
              </a:spcAft>
              <a:defRPr sz="1700">
                <a:solidFill>
                  <a:srgbClr val="1E272E"/>
                </a:solidFill>
                <a:latin typeface="Microsoft YaHei"/>
              </a:defRPr>
            </a:pPr>
            <a:r>
              <a:t>3. 先验专家给出另一种预测视角；</a:t>
            </a:r>
          </a:p>
          <a:p>
            <a:pPr>
              <a:spcAft>
                <a:spcPts val="500"/>
              </a:spcAft>
              <a:defRPr sz="1700">
                <a:solidFill>
                  <a:srgbClr val="1E272E"/>
                </a:solidFill>
                <a:latin typeface="Microsoft YaHei"/>
              </a:defRPr>
            </a:pPr>
            <a:r>
              <a:t>4. 使用低容量线性 stacking 融合。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577840" y="1143000"/>
          <a:ext cx="5349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310"/>
                <a:gridCol w="1337310"/>
                <a:gridCol w="1337310"/>
                <a:gridCol w="1337310"/>
              </a:tblGrid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模型</a:t>
                      </a:r>
                    </a:p>
                  </a:txBody>
                  <a:tcPr marL="27432" marR="27432" marT="18288" marB="18288">
                    <a:solidFill>
                      <a:srgbClr val="1439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全局专家</a:t>
                      </a:r>
                    </a:p>
                  </a:txBody>
                  <a:tcPr marL="27432" marR="27432" marT="18288" marB="18288">
                    <a:solidFill>
                      <a:srgbClr val="1439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残差</a:t>
                      </a:r>
                    </a:p>
                  </a:txBody>
                  <a:tcPr marL="27432" marR="27432" marT="18288" marB="18288">
                    <a:solidFill>
                      <a:srgbClr val="1439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先验</a:t>
                      </a:r>
                    </a:p>
                  </a:txBody>
                  <a:tcPr marL="27432" marR="27432" marT="18288" marB="18288">
                    <a:solidFill>
                      <a:srgbClr val="14394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72E"/>
                          </a:solidFill>
                          <a:latin typeface="Microsoft YaHei"/>
                        </a:rPr>
                        <a:t>GeoPFNMix-Lite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72E"/>
                          </a:solidFill>
                          <a:latin typeface="Microsoft YaHei"/>
                        </a:rPr>
                        <a:t>RF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72E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72E"/>
                          </a:solidFill>
                          <a:latin typeface="Microsoft YaHei"/>
                        </a:rPr>
                        <a:t>LightGBM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72E"/>
                          </a:solidFill>
                          <a:latin typeface="Microsoft YaHei"/>
                        </a:rPr>
                        <a:t>GeoPFNMix</a:t>
                      </a:r>
                    </a:p>
                  </a:txBody>
                  <a:tcPr marL="27432" marR="27432" marT="18288" marB="18288">
                    <a:solidFill>
                      <a:srgbClr val="EC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72E"/>
                          </a:solidFill>
                          <a:latin typeface="Microsoft YaHei"/>
                        </a:rPr>
                        <a:t>RF</a:t>
                      </a:r>
                    </a:p>
                  </a:txBody>
                  <a:tcPr marL="27432" marR="27432" marT="18288" marB="18288">
                    <a:solidFill>
                      <a:srgbClr val="EC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72E"/>
                          </a:solidFill>
                          <a:latin typeface="Microsoft YaHei"/>
                        </a:rPr>
                        <a:t>是</a:t>
                      </a:r>
                    </a:p>
                  </a:txBody>
                  <a:tcPr marL="27432" marR="27432" marT="18288" marB="18288">
                    <a:solidFill>
                      <a:srgbClr val="EC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72E"/>
                          </a:solidFill>
                          <a:latin typeface="Microsoft YaHei"/>
                        </a:rPr>
                        <a:t>LightGBM</a:t>
                      </a:r>
                    </a:p>
                  </a:txBody>
                  <a:tcPr marL="27432" marR="27432" marT="18288" marB="18288">
                    <a:solidFill>
                      <a:srgbClr val="ECF4F6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72E"/>
                          </a:solidFill>
                          <a:latin typeface="Microsoft YaHei"/>
                        </a:rPr>
                        <a:t>Lite-CatBoost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72E"/>
                          </a:solidFill>
                          <a:latin typeface="Microsoft YaHei"/>
                        </a:rPr>
                        <a:t>CatBoost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72E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72E"/>
                          </a:solidFill>
                          <a:latin typeface="Microsoft YaHei"/>
                        </a:rPr>
                        <a:t>LightGBM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72E"/>
                          </a:solidFill>
                          <a:latin typeface="Microsoft YaHei"/>
                        </a:rPr>
                        <a:t>CatBoost-TabPFN</a:t>
                      </a:r>
                    </a:p>
                  </a:txBody>
                  <a:tcPr marL="27432" marR="27432" marT="18288" marB="18288">
                    <a:solidFill>
                      <a:srgbClr val="EC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72E"/>
                          </a:solidFill>
                          <a:latin typeface="Microsoft YaHei"/>
                        </a:rPr>
                        <a:t>CatBoost</a:t>
                      </a:r>
                    </a:p>
                  </a:txBody>
                  <a:tcPr marL="27432" marR="27432" marT="18288" marB="18288">
                    <a:solidFill>
                      <a:srgbClr val="EC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72E"/>
                          </a:solidFill>
                          <a:latin typeface="Microsoft YaHei"/>
                        </a:rPr>
                        <a:t>是</a:t>
                      </a:r>
                    </a:p>
                  </a:txBody>
                  <a:tcPr marL="27432" marR="27432" marT="18288" marB="18288">
                    <a:solidFill>
                      <a:srgbClr val="EC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72E"/>
                          </a:solidFill>
                          <a:latin typeface="Microsoft YaHei"/>
                        </a:rPr>
                        <a:t>TabPFN</a:t>
                      </a:r>
                    </a:p>
                  </a:txBody>
                  <a:tcPr marL="27432" marR="27432" marT="18288" marB="18288">
                    <a:solidFill>
                      <a:srgbClr val="ECF4F6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914400" y="4251960"/>
            <a:ext cx="9875520" cy="731520"/>
          </a:xfrm>
          <a:prstGeom prst="roundRect">
            <a:avLst/>
          </a:prstGeom>
          <a:solidFill>
            <a:srgbClr val="E0F1F2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4251960"/>
            <a:ext cx="73152" cy="731520"/>
          </a:xfrm>
          <a:prstGeom prst="rect">
            <a:avLst/>
          </a:prstGeom>
          <a:solidFill>
            <a:srgbClr val="257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361688"/>
            <a:ext cx="9555480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4394E"/>
                </a:solidFill>
                <a:latin typeface="Microsoft YaHei"/>
              </a:rPr>
              <a:t>消融逻辑</a:t>
            </a:r>
          </a:p>
          <a:p>
            <a:pPr>
              <a:spcBef>
                <a:spcPts val="400"/>
              </a:spcBef>
              <a:defRPr sz="1100">
                <a:solidFill>
                  <a:srgbClr val="1E272E"/>
                </a:solidFill>
                <a:latin typeface="Microsoft YaHei"/>
              </a:defRPr>
            </a:pPr>
            <a:r>
              <a:t>Lite vs Full 检验残差分支；LightGBM vs TabPFN 检验先验专家；RF vs CatBoost 检验全局专家强度。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56032"/>
          </a:xfrm>
          <a:prstGeom prst="rect">
            <a:avLst/>
          </a:prstGeom>
          <a:solidFill>
            <a:srgbClr val="14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257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01384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C6773"/>
                </a:solidFill>
                <a:latin typeface="Microsoft YaHei"/>
              </a:rPr>
              <a:t>实验结果与分析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06200" y="644652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773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"/>
            <a:ext cx="1024128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600" b="1">
                <a:solidFill>
                  <a:srgbClr val="14394E"/>
                </a:solidFill>
                <a:latin typeface="Microsoft YaHei"/>
              </a:rPr>
              <a:t>5、主实验结果：GeoPFNMix 家族表现</a:t>
            </a:r>
          </a:p>
        </p:txBody>
      </p:sp>
      <p:pic>
        <p:nvPicPr>
          <p:cNvPr id="8" name="Picture 7" descr="group_city_model_comparison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442"/>
            <a:ext cx="6537960" cy="38856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960120"/>
            <a:ext cx="6537960" cy="4526280"/>
          </a:xfrm>
          <a:prstGeom prst="rect">
            <a:avLst/>
          </a:prstGeom>
          <a:noFill/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52360" y="1143000"/>
            <a:ext cx="1600200" cy="621792"/>
          </a:xfrm>
          <a:prstGeom prst="roundRect">
            <a:avLst/>
          </a:prstGeom>
          <a:solidFill>
            <a:srgbClr val="257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0" y="1207008"/>
            <a:ext cx="150876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5.9225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Microsoft YaHei"/>
              </a:rPr>
              <a:t>RMSE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1143000"/>
            <a:ext cx="1600200" cy="621792"/>
          </a:xfrm>
          <a:prstGeom prst="roundRect">
            <a:avLst/>
          </a:prstGeom>
          <a:solidFill>
            <a:srgbClr val="257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20" y="1207008"/>
            <a:ext cx="150876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3.1078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Microsoft YaHei"/>
              </a:rPr>
              <a:t>MAE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965960"/>
            <a:ext cx="1600200" cy="621792"/>
          </a:xfrm>
          <a:prstGeom prst="roundRect">
            <a:avLst/>
          </a:prstGeom>
          <a:solidFill>
            <a:srgbClr val="C97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029967"/>
            <a:ext cx="150876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0.7622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Microsoft YaHei"/>
              </a:rPr>
              <a:t>R²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2971800"/>
            <a:ext cx="3429000" cy="914400"/>
          </a:xfrm>
          <a:prstGeom prst="roundRect">
            <a:avLst/>
          </a:prstGeom>
          <a:solidFill>
            <a:srgbClr val="E0F1F2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60920" y="2971800"/>
            <a:ext cx="73152" cy="914400"/>
          </a:xfrm>
          <a:prstGeom prst="rect">
            <a:avLst/>
          </a:prstGeom>
          <a:solidFill>
            <a:srgbClr val="257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5512" y="3081528"/>
            <a:ext cx="310896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4394E"/>
                </a:solidFill>
                <a:latin typeface="Microsoft YaHei"/>
              </a:rPr>
              <a:t>最优模型</a:t>
            </a:r>
          </a:p>
          <a:p>
            <a:pPr>
              <a:spcBef>
                <a:spcPts val="400"/>
              </a:spcBef>
              <a:defRPr sz="1200">
                <a:solidFill>
                  <a:srgbClr val="1E272E"/>
                </a:solidFill>
                <a:latin typeface="Microsoft YaHei"/>
              </a:defRPr>
            </a:pPr>
            <a:r>
              <a:t>GeoPFNMix-CatBoost-TabPFN 在 GroupKFold(CITY) 下取得当前最佳均值结果。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4160520"/>
            <a:ext cx="3429000" cy="749808"/>
          </a:xfrm>
          <a:prstGeom prst="roundRect">
            <a:avLst/>
          </a:prstGeom>
          <a:solidFill>
            <a:srgbClr val="FFF4E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60920" y="4160520"/>
            <a:ext cx="73152" cy="749808"/>
          </a:xfrm>
          <a:prstGeom prst="rect">
            <a:avLst/>
          </a:prstGeom>
          <a:solidFill>
            <a:srgbClr val="C97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25512" y="4270248"/>
            <a:ext cx="310896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4394E"/>
                </a:solidFill>
                <a:latin typeface="Microsoft YaHei"/>
              </a:rPr>
              <a:t>表述边界</a:t>
            </a:r>
          </a:p>
          <a:p>
            <a:pPr>
              <a:spcBef>
                <a:spcPts val="400"/>
              </a:spcBef>
              <a:defRPr sz="1200">
                <a:solidFill>
                  <a:srgbClr val="1E272E"/>
                </a:solidFill>
                <a:latin typeface="Microsoft YaHei"/>
              </a:defRPr>
            </a:pPr>
            <a:r>
              <a:t>这是强 CatBoost 基线上的进一步改善，而不是数量级上的性能跨越。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56032"/>
          </a:xfrm>
          <a:prstGeom prst="rect">
            <a:avLst/>
          </a:prstGeom>
          <a:solidFill>
            <a:srgbClr val="14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257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01384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C6773"/>
                </a:solidFill>
                <a:latin typeface="Microsoft YaHei"/>
              </a:rPr>
              <a:t>实验结果与分析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06200" y="644652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773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"/>
            <a:ext cx="1024128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600" b="1">
                <a:solidFill>
                  <a:srgbClr val="14394E"/>
                </a:solidFill>
                <a:latin typeface="Microsoft YaHei"/>
              </a:rPr>
              <a:t>5、消融与显著性：模块不是越多越好</a:t>
            </a:r>
          </a:p>
        </p:txBody>
      </p:sp>
      <p:pic>
        <p:nvPicPr>
          <p:cNvPr id="8" name="Picture 7" descr="geopfnmix_ablation_metrics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51298"/>
            <a:ext cx="6583680" cy="309820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960120"/>
            <a:ext cx="6583680" cy="4480560"/>
          </a:xfrm>
          <a:prstGeom prst="rect">
            <a:avLst/>
          </a:prstGeom>
          <a:noFill/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1234440"/>
            <a:ext cx="3520440" cy="3017520"/>
          </a:xfrm>
          <a:prstGeom prst="rect">
            <a:avLst/>
          </a:prstGeom>
          <a:noFill/>
        </p:spPr>
        <p:txBody>
          <a:bodyPr wrap="square" lIns="54864" rIns="45720" tIns="27432" bIns="27432">
            <a:normAutofit/>
          </a:bodyPr>
          <a:lstStyle/>
          <a:p>
            <a:pPr>
              <a:spcAft>
                <a:spcPts val="400"/>
              </a:spcAft>
              <a:defRPr sz="1550">
                <a:solidFill>
                  <a:srgbClr val="1E272E"/>
                </a:solidFill>
                <a:latin typeface="Microsoft YaHei"/>
              </a:defRPr>
            </a:pPr>
            <a:r>
              <a:t>RF 骨干下，Lite 与 Full 无显著差异。</a:t>
            </a:r>
          </a:p>
          <a:p>
            <a:pPr>
              <a:spcAft>
                <a:spcPts val="400"/>
              </a:spcAft>
              <a:defRPr sz="1550">
                <a:solidFill>
                  <a:srgbClr val="1E272E"/>
                </a:solidFill>
                <a:latin typeface="Microsoft YaHei"/>
              </a:defRPr>
            </a:pPr>
            <a:r>
              <a:t>CatBoost + TabPFN 下，残差分支仍显著有效。</a:t>
            </a:r>
          </a:p>
          <a:p>
            <a:pPr>
              <a:spcAft>
                <a:spcPts val="400"/>
              </a:spcAft>
              <a:defRPr sz="1550">
                <a:solidFill>
                  <a:srgbClr val="1E272E"/>
                </a:solidFill>
                <a:latin typeface="Microsoft YaHei"/>
              </a:defRPr>
            </a:pPr>
            <a:r>
              <a:t>Lite-CatBoost 接入 TabPFN 后误差进一步降低。</a:t>
            </a:r>
          </a:p>
          <a:p>
            <a:pPr>
              <a:spcAft>
                <a:spcPts val="400"/>
              </a:spcAft>
              <a:defRPr sz="1550">
                <a:solidFill>
                  <a:srgbClr val="1E272E"/>
                </a:solidFill>
                <a:latin typeface="Microsoft YaHei"/>
              </a:defRPr>
            </a:pPr>
            <a:r>
              <a:t>TabPFN 是有条件互补，不是全面替代树模型。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4343400"/>
            <a:ext cx="3520440" cy="685800"/>
          </a:xfrm>
          <a:prstGeom prst="roundRect">
            <a:avLst/>
          </a:prstGeom>
          <a:solidFill>
            <a:srgbClr val="E0F1F2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60920" y="4343400"/>
            <a:ext cx="73152" cy="685800"/>
          </a:xfrm>
          <a:prstGeom prst="rect">
            <a:avLst/>
          </a:prstGeom>
          <a:solidFill>
            <a:srgbClr val="257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25512" y="4453128"/>
            <a:ext cx="3200400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4394E"/>
                </a:solidFill>
                <a:latin typeface="Microsoft YaHei"/>
              </a:rPr>
              <a:t>解释重点</a:t>
            </a:r>
          </a:p>
          <a:p>
            <a:pPr>
              <a:spcBef>
                <a:spcPts val="400"/>
              </a:spcBef>
              <a:defRPr sz="1000">
                <a:solidFill>
                  <a:srgbClr val="1E272E"/>
                </a:solidFill>
                <a:latin typeface="Microsoft YaHei"/>
              </a:defRPr>
            </a:pPr>
            <a:r>
              <a:t>各模块的作用依赖其所在结构位置，GeoPFNMix 的价值在于受控融合和可解释消融。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56032"/>
          </a:xfrm>
          <a:prstGeom prst="rect">
            <a:avLst/>
          </a:prstGeom>
          <a:solidFill>
            <a:srgbClr val="14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257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01384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C6773"/>
                </a:solidFill>
                <a:latin typeface="Microsoft YaHei"/>
              </a:rPr>
              <a:t>实验结果与分析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06200" y="644652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773"/>
                </a:solidFill>
                <a:latin typeface="Apto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"/>
            <a:ext cx="1024128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600" b="1">
                <a:solidFill>
                  <a:srgbClr val="14394E"/>
                </a:solidFill>
                <a:latin typeface="Microsoft YaHei"/>
              </a:rPr>
              <a:t>5、误差结构：高污染尾部仍是难点</a:t>
            </a:r>
          </a:p>
        </p:txBody>
      </p:sp>
      <p:pic>
        <p:nvPicPr>
          <p:cNvPr id="8" name="Picture 7" descr="geopfnmix_error_by_target_b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00150"/>
            <a:ext cx="5486400" cy="37719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94360" y="1005840"/>
            <a:ext cx="5486400" cy="4160520"/>
          </a:xfrm>
          <a:prstGeom prst="rect">
            <a:avLst/>
          </a:prstGeom>
          <a:noFill/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est_geopfnmix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0" y="1097280"/>
            <a:ext cx="3154680" cy="31546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355080" y="1097280"/>
            <a:ext cx="4389120" cy="3154680"/>
          </a:xfrm>
          <a:prstGeom prst="rect">
            <a:avLst/>
          </a:prstGeom>
          <a:noFill/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55080" y="4434840"/>
            <a:ext cx="4389120" cy="749808"/>
          </a:xfrm>
          <a:prstGeom prst="roundRect">
            <a:avLst/>
          </a:prstGeom>
          <a:solidFill>
            <a:srgbClr val="FFF4E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4434840"/>
            <a:ext cx="73152" cy="749808"/>
          </a:xfrm>
          <a:prstGeom prst="rect">
            <a:avLst/>
          </a:prstGeom>
          <a:solidFill>
            <a:srgbClr val="C97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4544568"/>
            <a:ext cx="406908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4394E"/>
                </a:solidFill>
                <a:latin typeface="Microsoft YaHei"/>
              </a:rPr>
              <a:t>结论</a:t>
            </a:r>
          </a:p>
          <a:p>
            <a:pPr>
              <a:spcBef>
                <a:spcPts val="400"/>
              </a:spcBef>
              <a:defRPr sz="1100">
                <a:solidFill>
                  <a:srgbClr val="1E272E"/>
                </a:solidFill>
                <a:latin typeface="Microsoft YaHei"/>
              </a:defRPr>
            </a:pPr>
            <a:r>
              <a:t>模型在主体分布区间表现较好，但在 PM2.5 高值尾部误差明显增大。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56032"/>
          </a:xfrm>
          <a:prstGeom prst="rect">
            <a:avLst/>
          </a:prstGeom>
          <a:solidFill>
            <a:srgbClr val="14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257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01384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C6773"/>
                </a:solidFill>
                <a:latin typeface="Microsoft YaHei"/>
              </a:rPr>
              <a:t>实验结果与分析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06200" y="644652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773"/>
                </a:solidFill>
                <a:latin typeface="Aptos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"/>
            <a:ext cx="1024128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600" b="1">
                <a:solidFill>
                  <a:srgbClr val="14394E"/>
                </a:solidFill>
                <a:latin typeface="Microsoft YaHei"/>
              </a:rPr>
              <a:t>5、来源拆分：全球冠军不等于所有来源最优</a:t>
            </a:r>
          </a:p>
        </p:txBody>
      </p:sp>
      <p:pic>
        <p:nvPicPr>
          <p:cNvPr id="8" name="Picture 7" descr="selected_models_country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70922"/>
            <a:ext cx="6629400" cy="24132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960120"/>
            <a:ext cx="6629400" cy="4434840"/>
          </a:xfrm>
          <a:prstGeom prst="rect">
            <a:avLst/>
          </a:prstGeom>
          <a:noFill/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1143000"/>
            <a:ext cx="3520440" cy="3429000"/>
          </a:xfrm>
          <a:prstGeom prst="rect">
            <a:avLst/>
          </a:prstGeom>
          <a:noFill/>
        </p:spPr>
        <p:txBody>
          <a:bodyPr wrap="square" lIns="54864" rIns="45720" tIns="27432" bIns="27432">
            <a:normAutofit/>
          </a:bodyPr>
          <a:lstStyle/>
          <a:p>
            <a:pPr>
              <a:spcAft>
                <a:spcPts val="300"/>
              </a:spcAft>
              <a:defRPr sz="1550">
                <a:solidFill>
                  <a:srgbClr val="1E272E"/>
                </a:solidFill>
                <a:latin typeface="Microsoft YaHei"/>
              </a:defRPr>
            </a:pPr>
            <a:r>
              <a:t>China 是当前最难来源，误差明显更高。</a:t>
            </a:r>
          </a:p>
          <a:p>
            <a:pPr>
              <a:spcAft>
                <a:spcPts val="300"/>
              </a:spcAft>
              <a:defRPr sz="1550">
                <a:solidFill>
                  <a:srgbClr val="1E272E"/>
                </a:solidFill>
                <a:latin typeface="Microsoft YaHei"/>
              </a:defRPr>
            </a:pPr>
            <a:r>
              <a:t>Brazil、Australia、EU 的绝对误差相对较低。</a:t>
            </a:r>
          </a:p>
          <a:p>
            <a:pPr>
              <a:spcAft>
                <a:spcPts val="300"/>
              </a:spcAft>
              <a:defRPr sz="1550">
                <a:solidFill>
                  <a:srgbClr val="1E272E"/>
                </a:solidFill>
                <a:latin typeface="Microsoft YaHei"/>
              </a:defRPr>
            </a:pPr>
            <a:r>
              <a:t>USA 的 RMSE/MAE 低但 R² 为负，说明目标波动范围较小。</a:t>
            </a:r>
          </a:p>
          <a:p>
            <a:pPr>
              <a:spcAft>
                <a:spcPts val="300"/>
              </a:spcAft>
              <a:defRPr sz="1550">
                <a:solidFill>
                  <a:srgbClr val="1E272E"/>
                </a:solidFill>
                <a:latin typeface="Microsoft YaHei"/>
              </a:defRPr>
            </a:pPr>
            <a:r>
              <a:t>整体优势主要来自若干关键来源上的改善。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56032"/>
          </a:xfrm>
          <a:prstGeom prst="rect">
            <a:avLst/>
          </a:prstGeom>
          <a:solidFill>
            <a:srgbClr val="14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257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01384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C6773"/>
                </a:solidFill>
                <a:latin typeface="Microsoft YaHei"/>
              </a:rPr>
              <a:t>实验结果与分析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06200" y="644652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773"/>
                </a:solidFill>
                <a:latin typeface="Aptos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"/>
            <a:ext cx="1024128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600" b="1">
                <a:solidFill>
                  <a:srgbClr val="14394E"/>
                </a:solidFill>
                <a:latin typeface="Microsoft YaHei"/>
              </a:rPr>
              <a:t>5、鲁棒性验证：跨来源外推仍然困难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143000"/>
          <a:ext cx="51206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</a:tblGrid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leave-one-country-out</a:t>
                      </a:r>
                    </a:p>
                  </a:txBody>
                  <a:tcPr marL="27432" marR="27432" marT="18288" marB="18288">
                    <a:solidFill>
                      <a:srgbClr val="1439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RMSE</a:t>
                      </a:r>
                    </a:p>
                  </a:txBody>
                  <a:tcPr marL="27432" marR="27432" marT="18288" marB="18288">
                    <a:solidFill>
                      <a:srgbClr val="1439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MAE</a:t>
                      </a:r>
                    </a:p>
                  </a:txBody>
                  <a:tcPr marL="27432" marR="27432" marT="18288" marB="18288">
                    <a:solidFill>
                      <a:srgbClr val="1439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R²</a:t>
                      </a:r>
                    </a:p>
                  </a:txBody>
                  <a:tcPr marL="27432" marR="27432" marT="18288" marB="18288">
                    <a:solidFill>
                      <a:srgbClr val="14394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72E"/>
                          </a:solidFill>
                          <a:latin typeface="Microsoft YaHei"/>
                        </a:rPr>
                        <a:t>CatBoost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72E"/>
                          </a:solidFill>
                          <a:latin typeface="Microsoft YaHei"/>
                        </a:rPr>
                        <a:t>10.4097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72E"/>
                          </a:solidFill>
                          <a:latin typeface="Microsoft YaHei"/>
                        </a:rPr>
                        <a:t>9.0307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72E"/>
                          </a:solidFill>
                          <a:latin typeface="Microsoft YaHei"/>
                        </a:rPr>
                        <a:t>-7.0608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72E"/>
                          </a:solidFill>
                          <a:latin typeface="Microsoft YaHei"/>
                        </a:rPr>
                        <a:t>Lite-CatBoost</a:t>
                      </a:r>
                    </a:p>
                  </a:txBody>
                  <a:tcPr marL="27432" marR="27432" marT="18288" marB="18288">
                    <a:solidFill>
                      <a:srgbClr val="EC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72E"/>
                          </a:solidFill>
                          <a:latin typeface="Microsoft YaHei"/>
                        </a:rPr>
                        <a:t>9.5264</a:t>
                      </a:r>
                    </a:p>
                  </a:txBody>
                  <a:tcPr marL="27432" marR="27432" marT="18288" marB="18288">
                    <a:solidFill>
                      <a:srgbClr val="EC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72E"/>
                          </a:solidFill>
                          <a:latin typeface="Microsoft YaHei"/>
                        </a:rPr>
                        <a:t>8.0430</a:t>
                      </a:r>
                    </a:p>
                  </a:txBody>
                  <a:tcPr marL="27432" marR="27432" marT="18288" marB="18288">
                    <a:solidFill>
                      <a:srgbClr val="EC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72E"/>
                          </a:solidFill>
                          <a:latin typeface="Microsoft YaHei"/>
                        </a:rPr>
                        <a:t>-3.1767</a:t>
                      </a:r>
                    </a:p>
                  </a:txBody>
                  <a:tcPr marL="27432" marR="27432" marT="18288" marB="18288">
                    <a:solidFill>
                      <a:srgbClr val="ECF4F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72E"/>
                          </a:solidFill>
                          <a:latin typeface="Microsoft YaHei"/>
                        </a:rPr>
                        <a:t>CatBoost-TabPFN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72E"/>
                          </a:solidFill>
                          <a:latin typeface="Microsoft YaHei"/>
                        </a:rPr>
                        <a:t>9.7775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72E"/>
                          </a:solidFill>
                          <a:latin typeface="Microsoft YaHei"/>
                        </a:rPr>
                        <a:t>8.2700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72E"/>
                          </a:solidFill>
                          <a:latin typeface="Microsoft YaHei"/>
                        </a:rPr>
                        <a:t>-3.3080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080760" y="1143000"/>
          <a:ext cx="498348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5870"/>
                <a:gridCol w="1245870"/>
                <a:gridCol w="1245870"/>
                <a:gridCol w="1245870"/>
              </a:tblGrid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去除 COUNTRY</a:t>
                      </a:r>
                    </a:p>
                  </a:txBody>
                  <a:tcPr marL="27432" marR="27432" marT="18288" marB="18288">
                    <a:solidFill>
                      <a:srgbClr val="C970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含 COUNTRY</a:t>
                      </a:r>
                    </a:p>
                  </a:txBody>
                  <a:tcPr marL="27432" marR="27432" marT="18288" marB="18288">
                    <a:solidFill>
                      <a:srgbClr val="C970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去除后</a:t>
                      </a:r>
                    </a:p>
                  </a:txBody>
                  <a:tcPr marL="27432" marR="27432" marT="18288" marB="18288">
                    <a:solidFill>
                      <a:srgbClr val="C970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差值</a:t>
                      </a:r>
                    </a:p>
                  </a:txBody>
                  <a:tcPr marL="27432" marR="27432" marT="18288" marB="18288">
                    <a:solidFill>
                      <a:srgbClr val="C9703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72E"/>
                          </a:solidFill>
                          <a:latin typeface="Microsoft YaHei"/>
                        </a:rPr>
                        <a:t>CatBoost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72E"/>
                          </a:solidFill>
                          <a:latin typeface="Microsoft YaHei"/>
                        </a:rPr>
                        <a:t>6.0296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72E"/>
                          </a:solidFill>
                          <a:latin typeface="Microsoft YaHei"/>
                        </a:rPr>
                        <a:t>6.3863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72E"/>
                          </a:solidFill>
                          <a:latin typeface="Microsoft YaHei"/>
                        </a:rPr>
                        <a:t>+0.3567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72E"/>
                          </a:solidFill>
                          <a:latin typeface="Microsoft YaHei"/>
                        </a:rPr>
                        <a:t>Lite-CatBoost</a:t>
                      </a:r>
                    </a:p>
                  </a:txBody>
                  <a:tcPr marL="27432" marR="27432" marT="18288" marB="18288">
                    <a:solidFill>
                      <a:srgbClr val="EC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72E"/>
                          </a:solidFill>
                          <a:latin typeface="Microsoft YaHei"/>
                        </a:rPr>
                        <a:t>5.9599</a:t>
                      </a:r>
                    </a:p>
                  </a:txBody>
                  <a:tcPr marL="27432" marR="27432" marT="18288" marB="18288">
                    <a:solidFill>
                      <a:srgbClr val="EC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72E"/>
                          </a:solidFill>
                          <a:latin typeface="Microsoft YaHei"/>
                        </a:rPr>
                        <a:t>6.1381</a:t>
                      </a:r>
                    </a:p>
                  </a:txBody>
                  <a:tcPr marL="27432" marR="27432" marT="18288" marB="18288">
                    <a:solidFill>
                      <a:srgbClr val="EC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72E"/>
                          </a:solidFill>
                          <a:latin typeface="Microsoft YaHei"/>
                        </a:rPr>
                        <a:t>+0.1782</a:t>
                      </a:r>
                    </a:p>
                  </a:txBody>
                  <a:tcPr marL="27432" marR="27432" marT="18288" marB="18288">
                    <a:solidFill>
                      <a:srgbClr val="ECF4F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72E"/>
                          </a:solidFill>
                          <a:latin typeface="Microsoft YaHei"/>
                        </a:rPr>
                        <a:t>CatBoost-TabPFN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72E"/>
                          </a:solidFill>
                          <a:latin typeface="Microsoft YaHei"/>
                        </a:rPr>
                        <a:t>5.9192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72E"/>
                          </a:solidFill>
                          <a:latin typeface="Microsoft YaHei"/>
                        </a:rPr>
                        <a:t>6.1496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72E"/>
                          </a:solidFill>
                          <a:latin typeface="Microsoft YaHei"/>
                        </a:rPr>
                        <a:t>+0.2304</a:t>
                      </a:r>
                    </a:p>
                  </a:txBody>
                  <a:tcPr marL="27432" marR="27432" marT="18288" marB="18288">
                    <a:solidFill>
                      <a:srgbClr val="F9FBFC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22960" y="3657600"/>
            <a:ext cx="4754880" cy="1005840"/>
          </a:xfrm>
          <a:prstGeom prst="roundRect">
            <a:avLst/>
          </a:prstGeom>
          <a:solidFill>
            <a:srgbClr val="FFF4E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657600"/>
            <a:ext cx="73152" cy="1005840"/>
          </a:xfrm>
          <a:prstGeom prst="rect">
            <a:avLst/>
          </a:prstGeom>
          <a:solidFill>
            <a:srgbClr val="C97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767328"/>
            <a:ext cx="4434840" cy="8046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4394E"/>
                </a:solidFill>
                <a:latin typeface="Microsoft YaHei"/>
              </a:rPr>
              <a:t>关键边界</a:t>
            </a:r>
          </a:p>
          <a:p>
            <a:pPr>
              <a:spcBef>
                <a:spcPts val="400"/>
              </a:spcBef>
              <a:defRPr sz="1200">
                <a:solidFill>
                  <a:srgbClr val="1E272E"/>
                </a:solidFill>
                <a:latin typeface="Microsoft YaHei"/>
              </a:defRPr>
            </a:pPr>
            <a:r>
              <a:t>完全留出一个来源时，所有模型平均 R² 均为负；去除 COUNTRY 后所有模型 RMSE 上升。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657600"/>
            <a:ext cx="4480560" cy="1005840"/>
          </a:xfrm>
          <a:prstGeom prst="roundRect">
            <a:avLst/>
          </a:prstGeom>
          <a:solidFill>
            <a:srgbClr val="E0F1F2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3657600"/>
            <a:ext cx="73152" cy="1005840"/>
          </a:xfrm>
          <a:prstGeom prst="rect">
            <a:avLst/>
          </a:prstGeom>
          <a:solidFill>
            <a:srgbClr val="257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3767328"/>
            <a:ext cx="4160520" cy="8046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4394E"/>
                </a:solidFill>
                <a:latin typeface="Microsoft YaHei"/>
              </a:rPr>
              <a:t>论文结论</a:t>
            </a:r>
          </a:p>
          <a:p>
            <a:pPr>
              <a:spcBef>
                <a:spcPts val="400"/>
              </a:spcBef>
              <a:defRPr sz="1200">
                <a:solidFill>
                  <a:srgbClr val="1E272E"/>
                </a:solidFill>
                <a:latin typeface="Microsoft YaHei"/>
              </a:defRPr>
            </a:pPr>
            <a:r>
              <a:t>GeoPFNMix 改善了严格地理分组下的预测，但尚未彻底解决跨来源外推与来源代理依赖。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56032"/>
          </a:xfrm>
          <a:prstGeom prst="rect">
            <a:avLst/>
          </a:prstGeom>
          <a:solidFill>
            <a:srgbClr val="14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257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01384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C6773"/>
                </a:solidFill>
                <a:latin typeface="Microsoft YaHei"/>
              </a:rPr>
              <a:t>实验结果与分析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06200" y="644652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773"/>
                </a:solidFill>
                <a:latin typeface="Aptos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"/>
            <a:ext cx="1024128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600" b="1">
                <a:solidFill>
                  <a:srgbClr val="14394E"/>
                </a:solidFill>
                <a:latin typeface="Microsoft YaHei"/>
              </a:rPr>
              <a:t>5、解释性分析：模型依赖哪些信息</a:t>
            </a:r>
          </a:p>
        </p:txBody>
      </p:sp>
      <p:pic>
        <p:nvPicPr>
          <p:cNvPr id="8" name="Picture 7" descr="best_global_expert_shap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706" y="1005840"/>
            <a:ext cx="4549507" cy="4251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1005840"/>
            <a:ext cx="6355080" cy="4251960"/>
          </a:xfrm>
          <a:prstGeom prst="rect">
            <a:avLst/>
          </a:prstGeom>
          <a:noFill/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78040" y="1325880"/>
            <a:ext cx="3657600" cy="2194560"/>
          </a:xfrm>
          <a:prstGeom prst="rect">
            <a:avLst/>
          </a:prstGeom>
          <a:noFill/>
        </p:spPr>
        <p:txBody>
          <a:bodyPr wrap="square" lIns="54864" rIns="45720" tIns="27432" bIns="27432">
            <a:norm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E272E"/>
                </a:solidFill>
                <a:latin typeface="Microsoft YaHei"/>
              </a:defRPr>
            </a:pPr>
            <a:r>
              <a:t>`COUNTRY`、`PROVINCE` 表明来源与地理层级非常重要。</a:t>
            </a:r>
          </a:p>
          <a:p>
            <a:pPr>
              <a:spcAft>
                <a:spcPts val="500"/>
              </a:spcAft>
              <a:defRPr sz="1600">
                <a:solidFill>
                  <a:srgbClr val="1E272E"/>
                </a:solidFill>
                <a:latin typeface="Microsoft YaHei"/>
              </a:defRPr>
            </a:pPr>
            <a:r>
              <a:t>`NOX`、`SO2` 及其协同特征符合 PM2.5 形成机理。</a:t>
            </a:r>
          </a:p>
          <a:p>
            <a:pPr>
              <a:spcAft>
                <a:spcPts val="500"/>
              </a:spcAft>
              <a:defRPr sz="1600">
                <a:solidFill>
                  <a:srgbClr val="1E272E"/>
                </a:solidFill>
                <a:latin typeface="Microsoft YaHei"/>
              </a:defRPr>
            </a:pPr>
            <a:r>
              <a:t>解释性结果支持模型同时利用来源差异与环境变量。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78040" y="3886200"/>
            <a:ext cx="3657600" cy="822960"/>
          </a:xfrm>
          <a:prstGeom prst="roundRect">
            <a:avLst/>
          </a:prstGeom>
          <a:solidFill>
            <a:srgbClr val="FFF4E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78040" y="3886200"/>
            <a:ext cx="73152" cy="822960"/>
          </a:xfrm>
          <a:prstGeom prst="rect">
            <a:avLst/>
          </a:prstGeom>
          <a:solidFill>
            <a:srgbClr val="C97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42631" y="3995928"/>
            <a:ext cx="3337560" cy="6217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4394E"/>
                </a:solidFill>
                <a:latin typeface="Microsoft YaHei"/>
              </a:rPr>
              <a:t>注意</a:t>
            </a:r>
          </a:p>
          <a:p>
            <a:pPr>
              <a:spcBef>
                <a:spcPts val="400"/>
              </a:spcBef>
              <a:defRPr sz="1200">
                <a:solidFill>
                  <a:srgbClr val="1E272E"/>
                </a:solidFill>
                <a:latin typeface="Microsoft YaHei"/>
              </a:defRPr>
            </a:pPr>
            <a:r>
              <a:t>COUNTRY 重要性高也提醒我们：当前任务仍受跨来源域偏移限制。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56032"/>
          </a:xfrm>
          <a:prstGeom prst="rect">
            <a:avLst/>
          </a:prstGeom>
          <a:solidFill>
            <a:srgbClr val="14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257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01384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C6773"/>
                </a:solidFill>
                <a:latin typeface="Microsoft YaHei"/>
              </a:rPr>
              <a:t>总结与展望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06200" y="644652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773"/>
                </a:solidFill>
                <a:latin typeface="Aptos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"/>
            <a:ext cx="1024128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600" b="1">
                <a:solidFill>
                  <a:srgbClr val="14394E"/>
                </a:solidFill>
                <a:latin typeface="Microsoft YaHei"/>
              </a:rPr>
              <a:t>6、总结与展望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4983480" cy="1234440"/>
          </a:xfrm>
          <a:prstGeom prst="roundRect">
            <a:avLst/>
          </a:prstGeom>
          <a:solidFill>
            <a:srgbClr val="E0F1F2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234440"/>
            <a:ext cx="73152" cy="1234440"/>
          </a:xfrm>
          <a:prstGeom prst="rect">
            <a:avLst/>
          </a:prstGeom>
          <a:solidFill>
            <a:srgbClr val="257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344168"/>
            <a:ext cx="4663440" cy="10332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4394E"/>
                </a:solidFill>
                <a:latin typeface="Microsoft YaHei"/>
              </a:rPr>
              <a:t>主要结论</a:t>
            </a:r>
          </a:p>
          <a:p>
            <a:pPr>
              <a:spcBef>
                <a:spcPts val="400"/>
              </a:spcBef>
              <a:defRPr sz="1200">
                <a:solidFill>
                  <a:srgbClr val="1E272E"/>
                </a:solidFill>
                <a:latin typeface="Microsoft YaHei"/>
              </a:defRPr>
            </a:pPr>
            <a:r>
              <a:t>严格地理协议显著提高任务难度；CatBoost 是分组协议下最强单模型；GeoPFNMix-CatBoost-TabPFN 在主协议下取得最佳结果。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234440"/>
            <a:ext cx="4983480" cy="1234440"/>
          </a:xfrm>
          <a:prstGeom prst="roundRect">
            <a:avLst/>
          </a:prstGeom>
          <a:solidFill>
            <a:srgbClr val="F2F5F7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89320" y="1234440"/>
            <a:ext cx="73152" cy="1234440"/>
          </a:xfrm>
          <a:prstGeom prst="rect">
            <a:avLst/>
          </a:prstGeom>
          <a:solidFill>
            <a:srgbClr val="14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53912" y="1344168"/>
            <a:ext cx="4663440" cy="10332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4394E"/>
                </a:solidFill>
                <a:latin typeface="Microsoft YaHei"/>
              </a:rPr>
              <a:t>研究价值</a:t>
            </a:r>
          </a:p>
          <a:p>
            <a:pPr>
              <a:spcBef>
                <a:spcPts val="400"/>
              </a:spcBef>
              <a:defRPr sz="1200">
                <a:solidFill>
                  <a:srgbClr val="1E272E"/>
                </a:solidFill>
                <a:latin typeface="Microsoft YaHei"/>
              </a:defRPr>
            </a:pPr>
            <a:r>
              <a:t>建立了多源 PM2.5 表格预测中“数据统一 - 严格评估 - 强基线 - 融合消融 - 鲁棒性验证”的完整证据链。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788920"/>
            <a:ext cx="4983480" cy="1143000"/>
          </a:xfrm>
          <a:prstGeom prst="roundRect">
            <a:avLst/>
          </a:prstGeom>
          <a:solidFill>
            <a:srgbClr val="FFF4E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788920"/>
            <a:ext cx="73152" cy="1143000"/>
          </a:xfrm>
          <a:prstGeom prst="rect">
            <a:avLst/>
          </a:prstGeom>
          <a:solidFill>
            <a:srgbClr val="C97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898648"/>
            <a:ext cx="4663440" cy="9418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4394E"/>
                </a:solidFill>
                <a:latin typeface="Microsoft YaHei"/>
              </a:rPr>
              <a:t>不足与后续</a:t>
            </a:r>
          </a:p>
          <a:p>
            <a:pPr>
              <a:spcBef>
                <a:spcPts val="400"/>
              </a:spcBef>
              <a:defRPr sz="1200">
                <a:solidFill>
                  <a:srgbClr val="1E272E"/>
                </a:solidFill>
                <a:latin typeface="Microsoft YaHei"/>
              </a:defRPr>
            </a:pPr>
            <a:r>
              <a:t>跨来源外推仍然困难；后续可引入经纬度、遥感、土地利用、域泛化和不确定性估计。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971800"/>
            <a:ext cx="4572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4394E"/>
                </a:solidFill>
                <a:latin typeface="Microsoft YaHei"/>
              </a:rPr>
              <a:t>感谢各位老师
恳请批评指正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2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ICDCS20222.0</Template>
  <TotalTime>13</TotalTime>
  <Words>1612</Words>
  <Application>Microsoft Office PowerPoint</Application>
  <PresentationFormat>宽屏</PresentationFormat>
  <Paragraphs>274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等线</vt:lpstr>
      <vt:lpstr>微软雅黑</vt:lpstr>
      <vt:lpstr>Museo Slab 500</vt:lpstr>
      <vt:lpstr>华文楷体</vt:lpstr>
      <vt:lpstr>Arial</vt:lpstr>
      <vt:lpstr>Calibri</vt:lpstr>
      <vt:lpstr>Georgia</vt:lpstr>
      <vt:lpstr>Verdana</vt:lpstr>
      <vt:lpstr>Office 主题</vt:lpstr>
      <vt:lpstr>基于表格基础模型与集成学习的 PM2.5 浓度预测研究</vt:lpstr>
      <vt:lpstr>PowerPoint 演示文稿</vt:lpstr>
      <vt:lpstr>1、研究背景: 为什么预测 PM 2.5</vt:lpstr>
      <vt:lpstr>1、研究背景与意义</vt:lpstr>
      <vt:lpstr>2、系统架构设计</vt:lpstr>
      <vt:lpstr>3、关键方法设计</vt:lpstr>
      <vt:lpstr>3、关键方法设计</vt:lpstr>
      <vt:lpstr>3、关键方法设计</vt:lpstr>
      <vt:lpstr>4、实验结果分析</vt:lpstr>
      <vt:lpstr>4、实验结果分析</vt:lpstr>
      <vt:lpstr>4、实验结果分析</vt:lpstr>
      <vt:lpstr>4、实验结果分析</vt:lpstr>
      <vt:lpstr>4、实验结果分析</vt:lpstr>
      <vt:lpstr>5、总结与展望</vt:lpstr>
      <vt:lpstr>5、总结与展望</vt:lpstr>
      <vt:lpstr>感谢各位老师 恳请批评指正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Boyu Cao</cp:lastModifiedBy>
  <cp:revision>193</cp:revision>
  <dcterms:created xsi:type="dcterms:W3CDTF">2023-04-29T07:36:00Z</dcterms:created>
  <dcterms:modified xsi:type="dcterms:W3CDTF">2026-05-29T18:32:34Z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2052-12.1.0.25865</vt:lpwstr>
  </property>
</Properties>
</file>